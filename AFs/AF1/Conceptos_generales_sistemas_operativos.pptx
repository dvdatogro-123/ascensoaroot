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Abra planteando que la presentación responderá los diez reactivos mediante una sola visión integrada del sistema operativo.</a:t>
            </a:r>
          </a:p>
          <a:p>
            <a:endParaRPr/>
          </a:p>
          <a:p>
            <a:r>
              <a:t>[Sources]</a:t>
            </a:r>
          </a:p>
          <a:p>
            <a:r>
              <a:t>- Silberschatz, Galvin y Gagne, Operating System Concepts, 10a ed., caps. 1-2.</a:t>
            </a:r>
          </a:p>
          <a:p>
            <a:r>
              <a:t>- Arpaci-Dusseau y Arpaci-Dusseau, Operating Systems: Three Easy Pieces, v0.80, prefacio y cap. 2.</a:t>
            </a:r>
          </a:p>
          <a:p>
            <a:r>
              <a:t>- Stallings, Sistemas operativos, 5a ed., cap. 2.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Defina el sistema operativo desde dos perspectivas compatibles: interfaz para programas y gestor/controlador de recursos.</a:t>
            </a:r>
          </a:p>
          <a:p>
            <a:endParaRPr/>
          </a:p>
          <a:p>
            <a:r>
              <a:t>[Sources]</a:t>
            </a:r>
          </a:p>
          <a:p>
            <a:r>
              <a:t>- Stallings, 5a ed., cap. 2, sec. 2.1, pp. 54-57.</a:t>
            </a:r>
          </a:p>
          <a:p>
            <a:r>
              <a:t>- Silberschatz et al., 10a ed., cap. 1, sec. 1.1, pp. 5-6.</a:t>
            </a:r>
          </a:p>
          <a:p>
            <a:r>
              <a:t>- OSTEP, v0.80, cap. 2, pp. 3-4.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Enumere los componentes funcionales sin presentarlos como programas aislados: son áreas de responsabilidad dentro del sistema.</a:t>
            </a:r>
          </a:p>
          <a:p>
            <a:endParaRPr/>
          </a:p>
          <a:p>
            <a:r>
              <a:t>[Sources]</a:t>
            </a:r>
          </a:p>
          <a:p>
            <a:r>
              <a:t>- Silberschatz et al., 10a ed., cap. 1, secs. 1.5-1.6, pp. 27-34.</a:t>
            </a:r>
          </a:p>
          <a:p>
            <a:r>
              <a:t>- Stallings, 5a ed., organización del libro y caps. 3, 7-8, 11-12 y 16.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que la multiprogramación necesita dos administraciones simultáneas: tiempo de procesador y espacio de memoria.</a:t>
            </a:r>
          </a:p>
          <a:p>
            <a:endParaRPr/>
          </a:p>
          <a:p>
            <a:r>
              <a:t>[Sources]</a:t>
            </a:r>
          </a:p>
          <a:p>
            <a:r>
              <a:t>- Silberschatz et al., 10a ed., cap. 1, secs. 1.5.1-1.5.2, pp. 27-29; caps. 3, 5, 9 y 10.</a:t>
            </a:r>
          </a:p>
          <a:p>
            <a:r>
              <a:t>- Stallings, 5a ed., caps. 3, 7, 8 y 9.</a:t>
            </a:r>
          </a:p>
          <a:p>
            <a:r>
              <a:t>- OSTEP, v0.80, cap. 2, secs. 2.1-2.2.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Siga una petición de E/S para relacionar interfaz, controlador, dispositivo, archivo y reglas de acceso.</a:t>
            </a:r>
          </a:p>
          <a:p>
            <a:endParaRPr/>
          </a:p>
          <a:p>
            <a:r>
              <a:t>[Sources]</a:t>
            </a:r>
          </a:p>
          <a:p>
            <a:r>
              <a:t>- Silberschatz et al., 10a ed., cap. 1, secs. 1.5.3-1.6; caps. 12-17.</a:t>
            </a:r>
          </a:p>
          <a:p>
            <a:r>
              <a:t>- Stallings, 5a ed., caps. 11, 12 y 16.</a:t>
            </a:r>
          </a:p>
          <a:p>
            <a:r>
              <a:t>- OSTEP, v0.80, cap. 2, sec. 2.4, pp. 11-12; parte de persistencia.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 al sistema operativo como árbitro de solicitudes concurrentes sobre recursos finitos.</a:t>
            </a:r>
          </a:p>
          <a:p>
            <a:endParaRPr/>
          </a:p>
          <a:p>
            <a:r>
              <a:t>[Sources]</a:t>
            </a:r>
          </a:p>
          <a:p>
            <a:r>
              <a:t>- Stallings, 5a ed., cap. 2, sec. 2.1, pp. 56-57.</a:t>
            </a:r>
          </a:p>
          <a:p>
            <a:r>
              <a:t>- Silberschatz et al., 10a ed., cap. 1, secs. 1.1.2 y 1.5.</a:t>
            </a:r>
          </a:p>
          <a:p>
            <a:r>
              <a:t>- OSTEP, v0.80, cap. 2, p. 4.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los cuatro ejemplos para mostrar que una responsabilidad común no obliga a una sola estructura interna.</a:t>
            </a:r>
          </a:p>
          <a:p>
            <a:endParaRPr/>
          </a:p>
          <a:p>
            <a:r>
              <a:t>[Sources]</a:t>
            </a:r>
          </a:p>
          <a:p>
            <a:r>
              <a:t>- Silberschatz et al., 10a ed., cap. 2, secs. 2.8.4-2.8.5, pp. 86-91; caps. 20-21.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Aclare la diferencia entre número de usuarios y número de tareas; son clasificaciones distintas.</a:t>
            </a:r>
          </a:p>
          <a:p>
            <a:endParaRPr/>
          </a:p>
          <a:p>
            <a:r>
              <a:t>[Sources]</a:t>
            </a:r>
          </a:p>
          <a:p>
            <a:r>
              <a:t>- Stallings, 5a ed., cap. 2, apartado 'Multitarea monousuario' y descripción de UNIX multiusuario.</a:t>
            </a:r>
          </a:p>
          <a:p>
            <a:r>
              <a:t>- Silberschatz et al., 10a ed., cap. 2, sec. 2.1; cap. 3, sec. 3.1.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Defina cada término en relación con el anterior, evitando tratar el glosario como una lista aislada.</a:t>
            </a:r>
          </a:p>
          <a:p>
            <a:endParaRPr/>
          </a:p>
          <a:p>
            <a:r>
              <a:t>[Sources]</a:t>
            </a:r>
          </a:p>
          <a:p>
            <a:r>
              <a:t>- Silberschatz et al., 10a ed., caps. 1, 3, 4 y 5.</a:t>
            </a:r>
          </a:p>
          <a:p>
            <a:r>
              <a:t>- OSTEP, v0.80, caps. 2, 4 y 26.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Relacione memoria, E/S y persistencia como etapas de un mismo recorrido de la información.</a:t>
            </a:r>
          </a:p>
          <a:p>
            <a:endParaRPr/>
          </a:p>
          <a:p>
            <a:r>
              <a:t>[Sources]</a:t>
            </a:r>
          </a:p>
          <a:p>
            <a:r>
              <a:t>- Silberschatz et al., 10a ed., caps. 9-17.</a:t>
            </a:r>
          </a:p>
          <a:p>
            <a:r>
              <a:t>- OSTEP, v0.80, cap. 2, sec. 2.2 y parte de persistencia.</a:t>
            </a:r>
          </a:p>
          <a:p>
            <a:r>
              <a:t>- Stallings, 5a ed., caps. 7, 8, 11, 12 y 16.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Diferencie el núcleo de los programas de sistema y del middleware. La frontera de llamadas al sistema conecta software de alto nivel con funciones del núcleo.</a:t>
            </a:r>
          </a:p>
          <a:p>
            <a:endParaRPr/>
          </a:p>
          <a:p>
            <a:r>
              <a:t>[Sources]</a:t>
            </a:r>
          </a:p>
          <a:p>
            <a:r>
              <a:t>- Silberschatz et al., 10a ed., cap. 1, sec. 1.1.3, pp. 6-7; cap. 2, secs. 2.1-2.4.</a:t>
            </a:r>
          </a:p>
          <a:p>
            <a:r>
              <a:t>- Stallings, 5a ed., cap. 2, arquitectura general de UNIX, p. 92.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Compare las estructuras por la ubicación de servicios y la forma en que se comunican, no como una lista de productos.</a:t>
            </a:r>
          </a:p>
          <a:p>
            <a:endParaRPr/>
          </a:p>
          <a:p>
            <a:r>
              <a:t>[Sources]</a:t>
            </a:r>
          </a:p>
          <a:p>
            <a:r>
              <a:t>- Silberschatz et al., 10a ed., cap. 2, sec. 2.8, pp. 81-91.</a:t>
            </a:r>
          </a:p>
          <a:p>
            <a:r>
              <a:t>- Stallings, 5a ed., cap. 4, sec. 4.3, y ejemplos estructurales del cap. 2.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las áreas de gestión a partir de verbos operativos: observar el estado, decidir, ejecutar y aplicar límites.</a:t>
            </a:r>
          </a:p>
          <a:p>
            <a:endParaRPr/>
          </a:p>
          <a:p>
            <a:r>
              <a:t>[Sources]</a:t>
            </a:r>
          </a:p>
          <a:p>
            <a:r>
              <a:t>- Silberschatz et al., 10a ed., cap. 1, sec. 1.5; caps. 3-17.</a:t>
            </a:r>
          </a:p>
          <a:p>
            <a:r>
              <a:t>- Stallings, 5a ed., caps. 3-12 y 16.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Compare Linux, Windows 10 y macOS solo con las características descritas por la décima edición de Silberschatz.</a:t>
            </a:r>
          </a:p>
          <a:p>
            <a:endParaRPr/>
          </a:p>
          <a:p>
            <a:r>
              <a:t>[Sources]</a:t>
            </a:r>
          </a:p>
          <a:p>
            <a:r>
              <a:t>- Silberschatz et al., 10a ed., cap. 20 (Linux), cap. 21 (Windows 10) y sec. 2.8.5.1 (macOS/Darwin).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las arquitecturas móviles tal como se describen en la edición de 2018, sin convertirlas en afirmaciones sobre versiones actuales.</a:t>
            </a:r>
          </a:p>
          <a:p>
            <a:endParaRPr/>
          </a:p>
          <a:p>
            <a:r>
              <a:t>[Sources]</a:t>
            </a:r>
          </a:p>
          <a:p>
            <a:r>
              <a:t>- Silberschatz et al., 10a ed., cap. 1, sec. 1.10.2, pp. 40-42; cap. 2, sec. 2.8.5, pp. 87-91.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Cierre rechazando una jerarquía universal: cada categoría es importante cuando responde al objetivo de su entorno. Recupere la misión común del sistema operativo.</a:t>
            </a:r>
          </a:p>
          <a:p>
            <a:endParaRPr/>
          </a:p>
          <a:p>
            <a:r>
              <a:t>[Sources]</a:t>
            </a:r>
          </a:p>
          <a:p>
            <a:r>
              <a:t>- Stallings, 5a ed., cap. 2: procesamiento por lotes y tiempo compartido; cap. 10: tiempo real; cap. 14: procesamiento distribuido.</a:t>
            </a:r>
          </a:p>
          <a:p>
            <a:r>
              <a:t>- Silberschatz et al., 10a ed., cap. 1, sec. 1.10: entornos tradicionales, móviles, cliente-servidor, P2P, nube y tiempo real embebido.</a:t>
            </a:r>
          </a:p>
          <a:p>
            <a:r>
              <a:t>- Visuales: diagramas originales elaborados con formas nativas de PowerPoint; sin recursos visuales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2502D8E-7E29-40F6-A1F0-2E218FF82D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30B9753-F539-4B04-9DEE-F53397783BB4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FUNDAMENTOS DE SISTEMAS OPERATIVOS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D25E8D6-938D-4547-BE63-07E2E01CE05F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68580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495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495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El sistema operativo</a:t>
            </a:r>
          </a:p>
          <a:p>
            <a:pPr algn="l">
              <a:lnSpc>
                <a:spcPct val="92000"/>
              </a:lnSpc>
              <a:buNone/>
              <a:defRPr sz="495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495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organiza todo el computador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FB71D3-1894-4A75-A664-F0C78B9A21E3}"/>
              </a:ext>
            </a:extLst>
          </p:cNvPr>
          <p:cNvSpPr>
            <a:spLocks noGrp="1"/>
          </p:cNvSpPr>
          <p:nvPr/>
        </p:nvSpPr>
        <p:spPr>
          <a:xfrm>
            <a:off x="762000" y="339090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302"/>
          </a:bodyPr>
          <a:lstStyle/>
          <a:p>
            <a:pPr algn="l">
              <a:lnSpc>
                <a:spcPct val="100000"/>
              </a:lnSpc>
              <a:buNone/>
              <a:defRPr sz="2100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Arquitectura, desempeño y tipos de sistemas operativos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C43764C-13D3-46CF-92BC-07BE6F0A74F7}"/>
              </a:ext>
            </a:extLst>
          </p:cNvPr>
          <p:cNvSpPr>
            <a:spLocks noGrp="1"/>
          </p:cNvSpPr>
          <p:nvPr/>
        </p:nvSpPr>
        <p:spPr>
          <a:xfrm>
            <a:off x="8382000" y="2000250"/>
            <a:ext cx="2724150" cy="552450"/>
          </a:xfrm>
          <a:prstGeom prst="rect">
            <a:avLst/>
          </a:prstGeom>
          <a:solidFill>
            <a:srgbClr val="5A9BDC"/>
          </a:solidFill>
          <a:ln w="9525">
            <a:solidFill>
              <a:srgbClr val="27415B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APLICACIONES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C394335-0372-4B6E-90E5-8F59126C3D63}"/>
              </a:ext>
            </a:extLst>
          </p:cNvPr>
          <p:cNvSpPr>
            <a:spLocks noGrp="1"/>
          </p:cNvSpPr>
          <p:nvPr/>
        </p:nvSpPr>
        <p:spPr>
          <a:xfrm>
            <a:off x="8382000" y="2714625"/>
            <a:ext cx="2724150" cy="552450"/>
          </a:xfrm>
          <a:prstGeom prst="rect">
            <a:avLst/>
          </a:prstGeom>
          <a:solidFill>
            <a:srgbClr val="2D6FB7"/>
          </a:solidFill>
          <a:ln w="9525">
            <a:solidFill>
              <a:srgbClr val="27415B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SERVICIOS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43E16E7-4891-4E83-B2F4-CD4D3AD673DB}"/>
              </a:ext>
            </a:extLst>
          </p:cNvPr>
          <p:cNvSpPr>
            <a:spLocks noGrp="1"/>
          </p:cNvSpPr>
          <p:nvPr/>
        </p:nvSpPr>
        <p:spPr>
          <a:xfrm>
            <a:off x="8382000" y="3429000"/>
            <a:ext cx="2724150" cy="552450"/>
          </a:xfrm>
          <a:prstGeom prst="rect">
            <a:avLst/>
          </a:prstGeom>
          <a:solidFill>
            <a:srgbClr val="123A61"/>
          </a:solidFill>
          <a:ln w="9525">
            <a:solidFill>
              <a:srgbClr val="27415B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NÚCLEO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958ABA2-8239-43DF-86BB-A8D4CCAA7343}"/>
              </a:ext>
            </a:extLst>
          </p:cNvPr>
          <p:cNvSpPr>
            <a:spLocks noGrp="1"/>
          </p:cNvSpPr>
          <p:nvPr/>
        </p:nvSpPr>
        <p:spPr>
          <a:xfrm>
            <a:off x="8382000" y="4143375"/>
            <a:ext cx="2724150" cy="552450"/>
          </a:xfrm>
          <a:prstGeom prst="rect">
            <a:avLst/>
          </a:prstGeom>
          <a:solidFill>
            <a:srgbClr val="182738"/>
          </a:solidFill>
          <a:ln w="9525">
            <a:solidFill>
              <a:srgbClr val="27415B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HARDWARE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FB63BBE-01A9-41A0-A1AE-8D8584EB2B2B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10 conceptos · una visión integrada</a:t>
            </a:r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55F4A35C-C1C9-448E-B887-8A84641FF877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45FABA7-D08B-47BE-84B4-8D9A8C852A7C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CONCEPTOS GENERALES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66D8185-2CD1-4007-B69B-DB35F39C768C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6389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F96846EA-D434-45FF-B7C0-7783CF082E1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1 · DEFINICIÓN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A69A3A0-13B4-440F-9C2B-904DADF7029C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Controla programas y media con el hardware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AE81A39C-F0A4-4AE7-A4BF-75CB3B6105A3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C1E01E66-6204-4608-AA03-C78252AACEF7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A012995-689F-4383-94F3-55A88936B79D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1 · DEFINICIÓN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A9E18A5-9BAA-4E38-8897-00C0E3EE62E0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13453C-A594-48D1-9AB7-DBE24472EC7E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5095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339"/>
          </a:bodyPr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Un sistema operativo es el programa que controla la ejecución de aplicaciones y actúa como interfaz entre estas y el hardware.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C1CEAF2-3D6D-4734-955A-D1455A687A76}"/>
              </a:ext>
            </a:extLst>
          </p:cNvPr>
          <p:cNvSpPr>
            <a:spLocks noGrp="1"/>
          </p:cNvSpPr>
          <p:nvPr/>
        </p:nvSpPr>
        <p:spPr>
          <a:xfrm>
            <a:off x="800100" y="32385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También asigna recursos y evita usos incorrectos del computador.</a:t>
            </a: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498D492A-7AB8-42A9-A109-9B138DC6B88F}"/>
              </a:ext>
            </a:extLst>
          </p:cNvPr>
          <p:cNvSpPr>
            <a:spLocks noGrp="1"/>
          </p:cNvSpPr>
          <p:nvPr/>
        </p:nvSpPr>
        <p:spPr>
          <a:xfrm>
            <a:off x="7867650" y="2076450"/>
            <a:ext cx="666750" cy="266700"/>
          </a:xfrm>
          <a:prstGeom prst="rightArrow">
            <a:avLst/>
          </a:prstGeom>
          <a:solidFill>
            <a:srgbClr val="DCEAF7"/>
          </a:solidFill>
          <a:ln w="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59F04EF8-6B5F-4A26-9462-7B06E13B29B2}"/>
              </a:ext>
            </a:extLst>
          </p:cNvPr>
          <p:cNvSpPr>
            <a:spLocks noGrp="1"/>
          </p:cNvSpPr>
          <p:nvPr/>
        </p:nvSpPr>
        <p:spPr>
          <a:xfrm>
            <a:off x="7867650" y="3105150"/>
            <a:ext cx="666750" cy="266700"/>
          </a:xfrm>
          <a:prstGeom prst="rightArrow">
            <a:avLst/>
          </a:prstGeom>
          <a:solidFill>
            <a:srgbClr val="DCEAF7"/>
          </a:solidFill>
          <a:ln w="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6E92F2-BBAA-4B8E-9ECF-70AD42B52CCC}"/>
              </a:ext>
            </a:extLst>
          </p:cNvPr>
          <p:cNvSpPr>
            <a:spLocks noGrp="1"/>
          </p:cNvSpPr>
          <p:nvPr/>
        </p:nvSpPr>
        <p:spPr>
          <a:xfrm>
            <a:off x="6515100" y="1600200"/>
            <a:ext cx="1676400" cy="876300"/>
          </a:xfrm>
          <a:prstGeom prst="rect">
            <a:avLst/>
          </a:prstGeom>
          <a:solidFill>
            <a:srgbClr val="123A61"/>
          </a:solidFill>
          <a:ln w="0">
            <a:solidFill>
              <a:srgbClr val="123A61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APLICACIONES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9364A00-C9CC-451A-A706-CC3874D262B6}"/>
              </a:ext>
            </a:extLst>
          </p:cNvPr>
          <p:cNvSpPr>
            <a:spLocks noGrp="1"/>
          </p:cNvSpPr>
          <p:nvPr/>
        </p:nvSpPr>
        <p:spPr>
          <a:xfrm>
            <a:off x="6515100" y="2800350"/>
            <a:ext cx="1676400" cy="876300"/>
          </a:xfrm>
          <a:prstGeom prst="rect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SISTEMA</a:t>
            </a:r>
          </a:p>
          <a:p>
            <a:pPr algn="ctr">
              <a:def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OPERATIVO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3CCE7C1-F8A2-4FFC-8F50-7FC86396422C}"/>
              </a:ext>
            </a:extLst>
          </p:cNvPr>
          <p:cNvSpPr>
            <a:spLocks noGrp="1"/>
          </p:cNvSpPr>
          <p:nvPr/>
        </p:nvSpPr>
        <p:spPr>
          <a:xfrm>
            <a:off x="8763000" y="2190750"/>
            <a:ext cx="2095500" cy="87630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HARDWARE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5CBEE6C-764A-40AA-81F6-DEE05B305164}"/>
              </a:ext>
            </a:extLst>
          </p:cNvPr>
          <p:cNvSpPr>
            <a:spLocks noGrp="1"/>
          </p:cNvSpPr>
          <p:nvPr/>
        </p:nvSpPr>
        <p:spPr>
          <a:xfrm>
            <a:off x="800100" y="47815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2D6FB7"/>
                </a:solidFill>
                <a:latin typeface="Arial Black"/>
                <a:ea typeface="Arial Black"/>
                <a:cs typeface="Arial Black"/>
              </a:defRPr>
            </a:pPr>
            <a:r>
              <a:rPr sz="1800" b="0">
                <a:solidFill>
                  <a:srgbClr val="2D6FB7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F3E5DFD-F587-411B-9BFC-9E6796BB205F}"/>
              </a:ext>
            </a:extLst>
          </p:cNvPr>
          <p:cNvSpPr>
            <a:spLocks noGrp="1"/>
          </p:cNvSpPr>
          <p:nvPr/>
        </p:nvSpPr>
        <p:spPr>
          <a:xfrm>
            <a:off x="1352550" y="4733925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FACILIDAD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FE9BA9B-A6B9-478A-B7F5-FC0137AB2A7E}"/>
              </a:ext>
            </a:extLst>
          </p:cNvPr>
          <p:cNvSpPr>
            <a:spLocks noGrp="1"/>
          </p:cNvSpPr>
          <p:nvPr/>
        </p:nvSpPr>
        <p:spPr>
          <a:xfrm>
            <a:off x="1352550" y="50101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hace utilizable el equipo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C924EF7-5FEA-4454-8D45-9A8A5DA5CF4E}"/>
              </a:ext>
            </a:extLst>
          </p:cNvPr>
          <p:cNvSpPr>
            <a:spLocks noGrp="1"/>
          </p:cNvSpPr>
          <p:nvPr/>
        </p:nvSpPr>
        <p:spPr>
          <a:xfrm>
            <a:off x="4276725" y="47815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2D6FB7"/>
                </a:solidFill>
                <a:latin typeface="Arial Black"/>
                <a:ea typeface="Arial Black"/>
                <a:cs typeface="Arial Black"/>
              </a:defRPr>
            </a:pPr>
            <a:r>
              <a:rPr sz="1800" b="0">
                <a:solidFill>
                  <a:srgbClr val="2D6FB7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2E58419-2A59-4059-926B-86FFDCA4994D}"/>
              </a:ext>
            </a:extLst>
          </p:cNvPr>
          <p:cNvSpPr>
            <a:spLocks noGrp="1"/>
          </p:cNvSpPr>
          <p:nvPr/>
        </p:nvSpPr>
        <p:spPr>
          <a:xfrm>
            <a:off x="4829175" y="4733925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EFICIENCIA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DAD1F64-E2CB-4042-B1C9-C8121CB3358F}"/>
              </a:ext>
            </a:extLst>
          </p:cNvPr>
          <p:cNvSpPr>
            <a:spLocks noGrp="1"/>
          </p:cNvSpPr>
          <p:nvPr/>
        </p:nvSpPr>
        <p:spPr>
          <a:xfrm>
            <a:off x="4829175" y="50101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aprovecha sus recursos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C9ADCB1-2041-4E16-8280-44E1A8BBFB08}"/>
              </a:ext>
            </a:extLst>
          </p:cNvPr>
          <p:cNvSpPr>
            <a:spLocks noGrp="1"/>
          </p:cNvSpPr>
          <p:nvPr/>
        </p:nvSpPr>
        <p:spPr>
          <a:xfrm>
            <a:off x="7753350" y="47815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2D6FB7"/>
                </a:solidFill>
                <a:latin typeface="Arial Black"/>
                <a:ea typeface="Arial Black"/>
                <a:cs typeface="Arial Black"/>
              </a:defRPr>
            </a:pPr>
            <a:r>
              <a:rPr sz="1800" b="0">
                <a:solidFill>
                  <a:srgbClr val="2D6FB7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B1EC8F7-35E3-4CB0-8302-970A008FAEAD}"/>
              </a:ext>
            </a:extLst>
          </p:cNvPr>
          <p:cNvSpPr>
            <a:spLocks noGrp="1"/>
          </p:cNvSpPr>
          <p:nvPr/>
        </p:nvSpPr>
        <p:spPr>
          <a:xfrm>
            <a:off x="8305800" y="4733925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EVOLUCIÓN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8996C42-07AC-4C2B-B2F6-B9BB671DDD78}"/>
              </a:ext>
            </a:extLst>
          </p:cNvPr>
          <p:cNvSpPr>
            <a:spLocks noGrp="1"/>
          </p:cNvSpPr>
          <p:nvPr/>
        </p:nvSpPr>
        <p:spPr>
          <a:xfrm>
            <a:off x="8305800" y="50101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admite nuevas funciones</a:t>
            </a:r>
          </a:p>
        </p:txBody>
      </p:sp>
    </p:spTree>
    <p:extLst>
      <p:ext uri="{BB962C8B-B14F-4D97-AF65-F5344CB8AC3E}">
        <p14:creationId xmlns:p14="http://schemas.microsoft.com/office/powerpoint/2010/main" val="1324923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9D4F3C5B-73AD-4638-98D8-497D09F3F6A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2 · COMPONENTES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2764B3F-23B2-4800-B3F3-F80558EDB288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La gestión se divide en subsistemas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C388AC16-DA03-4D41-A897-7843C718CCA9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C68EA683-8F9F-49E9-AE63-211512BCC5E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AA4075F-7F2F-431A-9A4B-2B008247EBE6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2 · COMPONENTES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50C9B49-7EF6-41C7-98B5-BA0C75BE54B6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395DF5A-7E38-459D-9AEF-DB0AE553681F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Cada subsistema responde por un recurso o por una regla de acceso.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A2D1CEEE-6DE2-49AA-ADBB-40F7AC648952}"/>
              </a:ext>
            </a:extLst>
          </p:cNvPr>
          <p:cNvSpPr>
            <a:spLocks noGrp="1"/>
          </p:cNvSpPr>
          <p:nvPr/>
        </p:nvSpPr>
        <p:spPr>
          <a:xfrm>
            <a:off x="2619375" y="2590800"/>
            <a:ext cx="3476625" cy="1219200"/>
          </a:xfrm>
          <a:prstGeom prst="line">
            <a:avLst/>
          </a:prstGeom>
          <a:noFill/>
          <a:ln w="19050">
            <a:solidFill>
              <a:srgbClr val="2B48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8361206C-03CE-432D-BE70-8AF129E53DC8}"/>
              </a:ext>
            </a:extLst>
          </p:cNvPr>
          <p:cNvSpPr>
            <a:spLocks noGrp="1"/>
          </p:cNvSpPr>
          <p:nvPr/>
        </p:nvSpPr>
        <p:spPr>
          <a:xfrm>
            <a:off x="5953125" y="2171700"/>
            <a:ext cx="142875" cy="1638300"/>
          </a:xfrm>
          <a:prstGeom prst="line">
            <a:avLst/>
          </a:prstGeom>
          <a:noFill/>
          <a:ln w="19050">
            <a:solidFill>
              <a:srgbClr val="2B48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D1CD2EAF-5D90-4F1B-B63F-98D275B70EC1}"/>
              </a:ext>
            </a:extLst>
          </p:cNvPr>
          <p:cNvSpPr>
            <a:spLocks noGrp="1"/>
          </p:cNvSpPr>
          <p:nvPr/>
        </p:nvSpPr>
        <p:spPr>
          <a:xfrm flipH="1">
            <a:off x="6096000" y="2590800"/>
            <a:ext cx="3324225" cy="1219200"/>
          </a:xfrm>
          <a:prstGeom prst="line">
            <a:avLst/>
          </a:prstGeom>
          <a:noFill/>
          <a:ln w="19050">
            <a:solidFill>
              <a:srgbClr val="2B48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9555C85F-D6E9-4404-B53A-ABF91E227E99}"/>
              </a:ext>
            </a:extLst>
          </p:cNvPr>
          <p:cNvSpPr>
            <a:spLocks noGrp="1"/>
          </p:cNvSpPr>
          <p:nvPr/>
        </p:nvSpPr>
        <p:spPr>
          <a:xfrm>
            <a:off x="6096000" y="3810000"/>
            <a:ext cx="3714750" cy="1085850"/>
          </a:xfrm>
          <a:prstGeom prst="line">
            <a:avLst/>
          </a:prstGeom>
          <a:noFill/>
          <a:ln w="19050">
            <a:solidFill>
              <a:srgbClr val="2B48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3897BAF0-593A-490D-926F-3F6B9E4B69BB}"/>
              </a:ext>
            </a:extLst>
          </p:cNvPr>
          <p:cNvSpPr>
            <a:spLocks noGrp="1"/>
          </p:cNvSpPr>
          <p:nvPr/>
        </p:nvSpPr>
        <p:spPr>
          <a:xfrm flipH="1">
            <a:off x="5553075" y="3810000"/>
            <a:ext cx="542925" cy="1771650"/>
          </a:xfrm>
          <a:prstGeom prst="line">
            <a:avLst/>
          </a:prstGeom>
          <a:noFill/>
          <a:ln w="19050">
            <a:solidFill>
              <a:srgbClr val="2B48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627A8D04-9D73-463E-8F13-43199641FE58}"/>
              </a:ext>
            </a:extLst>
          </p:cNvPr>
          <p:cNvSpPr>
            <a:spLocks noGrp="1"/>
          </p:cNvSpPr>
          <p:nvPr/>
        </p:nvSpPr>
        <p:spPr>
          <a:xfrm flipH="1">
            <a:off x="2219325" y="3810000"/>
            <a:ext cx="3876675" cy="1085850"/>
          </a:xfrm>
          <a:prstGeom prst="line">
            <a:avLst/>
          </a:prstGeom>
          <a:noFill/>
          <a:ln w="19050">
            <a:solidFill>
              <a:srgbClr val="2B48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FCA11DD-E302-4BBA-A9B9-F61C87834FCB}"/>
              </a:ext>
            </a:extLst>
          </p:cNvPr>
          <p:cNvSpPr>
            <a:spLocks noGrp="1"/>
          </p:cNvSpPr>
          <p:nvPr/>
        </p:nvSpPr>
        <p:spPr>
          <a:xfrm>
            <a:off x="4810125" y="3190875"/>
            <a:ext cx="2571750" cy="1200150"/>
          </a:xfrm>
          <a:prstGeom prst="ellipse">
            <a:avLst/>
          </a:prstGeom>
          <a:solidFill>
            <a:srgbClr val="2D6FB7"/>
          </a:solidFill>
          <a:ln w="19050">
            <a:solidFill>
              <a:srgbClr val="5A9BDC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875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1875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SISTEMA</a:t>
            </a:r>
          </a:p>
          <a:p>
            <a:pPr algn="ctr">
              <a:defRPr sz="1875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1875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OPERATIVO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6E23D15-961D-4031-89CF-98A78165F806}"/>
              </a:ext>
            </a:extLst>
          </p:cNvPr>
          <p:cNvSpPr>
            <a:spLocks noGrp="1"/>
          </p:cNvSpPr>
          <p:nvPr/>
        </p:nvSpPr>
        <p:spPr>
          <a:xfrm>
            <a:off x="1619250" y="2228850"/>
            <a:ext cx="2000250" cy="723900"/>
          </a:xfrm>
          <a:prstGeom prst="rect">
            <a:avLst/>
          </a:prstGeom>
          <a:solidFill>
            <a:srgbClr val="123A61"/>
          </a:solidFill>
          <a:ln w="9525">
            <a:solidFill>
              <a:srgbClr val="365B7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PROCESOS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3599AB8-2560-4A2E-9428-9B97DDF9B18E}"/>
              </a:ext>
            </a:extLst>
          </p:cNvPr>
          <p:cNvSpPr>
            <a:spLocks noGrp="1"/>
          </p:cNvSpPr>
          <p:nvPr/>
        </p:nvSpPr>
        <p:spPr>
          <a:xfrm>
            <a:off x="4953000" y="1809750"/>
            <a:ext cx="2000250" cy="723900"/>
          </a:xfrm>
          <a:prstGeom prst="rect">
            <a:avLst/>
          </a:prstGeom>
          <a:solidFill>
            <a:srgbClr val="0D1824"/>
          </a:solidFill>
          <a:ln w="9525">
            <a:solidFill>
              <a:srgbClr val="365B7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MEMORIA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122C5A8-618B-41AF-9AD0-609C6E2CEC7D}"/>
              </a:ext>
            </a:extLst>
          </p:cNvPr>
          <p:cNvSpPr>
            <a:spLocks noGrp="1"/>
          </p:cNvSpPr>
          <p:nvPr/>
        </p:nvSpPr>
        <p:spPr>
          <a:xfrm>
            <a:off x="8420100" y="2228850"/>
            <a:ext cx="2000250" cy="723900"/>
          </a:xfrm>
          <a:prstGeom prst="rect">
            <a:avLst/>
          </a:prstGeom>
          <a:solidFill>
            <a:srgbClr val="123A61"/>
          </a:solidFill>
          <a:ln w="9525">
            <a:solidFill>
              <a:srgbClr val="365B7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E/S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2BE64CD-D125-4484-B902-6587215F9ACB}"/>
              </a:ext>
            </a:extLst>
          </p:cNvPr>
          <p:cNvSpPr>
            <a:spLocks noGrp="1"/>
          </p:cNvSpPr>
          <p:nvPr/>
        </p:nvSpPr>
        <p:spPr>
          <a:xfrm>
            <a:off x="8810625" y="4533900"/>
            <a:ext cx="2000250" cy="723900"/>
          </a:xfrm>
          <a:prstGeom prst="rect">
            <a:avLst/>
          </a:prstGeom>
          <a:solidFill>
            <a:srgbClr val="0D1824"/>
          </a:solidFill>
          <a:ln w="9525">
            <a:solidFill>
              <a:srgbClr val="365B7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ARCHIVOS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6C900CC-5C85-485D-9956-C2923992AB3D}"/>
              </a:ext>
            </a:extLst>
          </p:cNvPr>
          <p:cNvSpPr>
            <a:spLocks noGrp="1"/>
          </p:cNvSpPr>
          <p:nvPr/>
        </p:nvSpPr>
        <p:spPr>
          <a:xfrm>
            <a:off x="4552950" y="5219700"/>
            <a:ext cx="2762250" cy="723900"/>
          </a:xfrm>
          <a:prstGeom prst="rect">
            <a:avLst/>
          </a:prstGeom>
          <a:solidFill>
            <a:srgbClr val="123A61"/>
          </a:solidFill>
          <a:ln w="9525">
            <a:solidFill>
              <a:srgbClr val="365B7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27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ALMACENAMIENTO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5CBC297-3995-4C4B-A149-68B46F0F36CD}"/>
              </a:ext>
            </a:extLst>
          </p:cNvPr>
          <p:cNvSpPr>
            <a:spLocks noGrp="1"/>
          </p:cNvSpPr>
          <p:nvPr/>
        </p:nvSpPr>
        <p:spPr>
          <a:xfrm>
            <a:off x="1219200" y="4533900"/>
            <a:ext cx="2000250" cy="723900"/>
          </a:xfrm>
          <a:prstGeom prst="rect">
            <a:avLst/>
          </a:prstGeom>
          <a:solidFill>
            <a:srgbClr val="0D1824"/>
          </a:solidFill>
          <a:ln w="9525">
            <a:solidFill>
              <a:srgbClr val="365B7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PROTECCIÓN</a:t>
            </a:r>
          </a:p>
        </p:txBody>
      </p:sp>
    </p:spTree>
    <p:extLst>
      <p:ext uri="{BB962C8B-B14F-4D97-AF65-F5344CB8AC3E}">
        <p14:creationId xmlns:p14="http://schemas.microsoft.com/office/powerpoint/2010/main" val="1945826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1AC469EE-1478-4051-8DDC-F771355C57C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3 · FUNCIONES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206447-3E1A-4218-941B-24D52848C4EC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Procesador y memoria sostienen la ejecución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1B95C503-4244-4160-BA4F-9F1D85844243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03BA3EC0-72F9-4A92-BC3D-18906166651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EE45003-03DF-4A2B-9111-2C17DAAB35E1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3 · FUNCIONES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B7F0654-B569-4705-9369-7BA3B370BBD8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E5E66DDA-544C-4FAE-AB58-D13368F52361}"/>
              </a:ext>
            </a:extLst>
          </p:cNvPr>
          <p:cNvSpPr>
            <a:spLocks noGrp="1"/>
          </p:cNvSpPr>
          <p:nvPr/>
        </p:nvSpPr>
        <p:spPr>
          <a:xfrm>
            <a:off x="6096000" y="1600200"/>
            <a:ext cx="0" cy="409575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1216FA-E8A4-40B5-BBAD-77C286DFCB92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PROCESOS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0CDD45-BCAC-4EA3-9BBE-26BDCD7AC968}"/>
              </a:ext>
            </a:extLst>
          </p:cNvPr>
          <p:cNvSpPr>
            <a:spLocks noGrp="1"/>
          </p:cNvSpPr>
          <p:nvPr/>
        </p:nvSpPr>
        <p:spPr>
          <a:xfrm>
            <a:off x="781050" y="1981200"/>
            <a:ext cx="466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Decide qué trabajo usa la CPU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0D097E1-9604-44F1-A349-390A671A62CC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2D6FB7"/>
                </a:solidFill>
                <a:latin typeface="Arial Black"/>
                <a:ea typeface="Arial Black"/>
                <a:cs typeface="Arial Black"/>
              </a:defRPr>
            </a:pPr>
            <a:r>
              <a:rPr sz="1500" b="0">
                <a:solidFill>
                  <a:srgbClr val="2D6FB7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4620663-CB2F-4BF5-9382-3FB48268C6A0}"/>
              </a:ext>
            </a:extLst>
          </p:cNvPr>
          <p:cNvSpPr>
            <a:spLocks noGrp="1"/>
          </p:cNvSpPr>
          <p:nvPr/>
        </p:nvSpPr>
        <p:spPr>
          <a:xfrm>
            <a:off x="1352550" y="29146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Crear y terminar procesos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C133B0-E18A-4826-83F3-3E4588941210}"/>
              </a:ext>
            </a:extLst>
          </p:cNvPr>
          <p:cNvSpPr>
            <a:spLocks noGrp="1"/>
          </p:cNvSpPr>
          <p:nvPr/>
        </p:nvSpPr>
        <p:spPr>
          <a:xfrm>
            <a:off x="838200" y="36766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2D6FB7"/>
                </a:solidFill>
                <a:latin typeface="Arial Black"/>
                <a:ea typeface="Arial Black"/>
                <a:cs typeface="Arial Black"/>
              </a:defRPr>
            </a:pPr>
            <a:r>
              <a:rPr sz="1500" b="0">
                <a:solidFill>
                  <a:srgbClr val="2D6FB7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89D971D-9667-41AF-9C33-8649F278A68B}"/>
              </a:ext>
            </a:extLst>
          </p:cNvPr>
          <p:cNvSpPr>
            <a:spLocks noGrp="1"/>
          </p:cNvSpPr>
          <p:nvPr/>
        </p:nvSpPr>
        <p:spPr>
          <a:xfrm>
            <a:off x="1352550" y="36385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Planificar procesos e hilos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0C71A06-B76B-4031-8CEF-E2FA1A0E2408}"/>
              </a:ext>
            </a:extLst>
          </p:cNvPr>
          <p:cNvSpPr>
            <a:spLocks noGrp="1"/>
          </p:cNvSpPr>
          <p:nvPr/>
        </p:nvSpPr>
        <p:spPr>
          <a:xfrm>
            <a:off x="838200" y="44005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2D6FB7"/>
                </a:solidFill>
                <a:latin typeface="Arial Black"/>
                <a:ea typeface="Arial Black"/>
                <a:cs typeface="Arial Black"/>
              </a:defRPr>
            </a:pPr>
            <a:r>
              <a:rPr sz="1500" b="0">
                <a:solidFill>
                  <a:srgbClr val="2D6FB7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4172D18-5855-4114-B8B4-D2CD23B52EAF}"/>
              </a:ext>
            </a:extLst>
          </p:cNvPr>
          <p:cNvSpPr>
            <a:spLocks noGrp="1"/>
          </p:cNvSpPr>
          <p:nvPr/>
        </p:nvSpPr>
        <p:spPr>
          <a:xfrm>
            <a:off x="1352550" y="43624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Suspender, reanudar y comunicar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F290E0E-D3C1-4F0A-8B2D-9B634FD6F536}"/>
              </a:ext>
            </a:extLst>
          </p:cNvPr>
          <p:cNvSpPr>
            <a:spLocks noGrp="1"/>
          </p:cNvSpPr>
          <p:nvPr/>
        </p:nvSpPr>
        <p:spPr>
          <a:xfrm>
            <a:off x="6648450" y="1504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MEMORIA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884C5CF-75BB-4197-8962-9392D1585BD5}"/>
              </a:ext>
            </a:extLst>
          </p:cNvPr>
          <p:cNvSpPr>
            <a:spLocks noGrp="1"/>
          </p:cNvSpPr>
          <p:nvPr/>
        </p:nvSpPr>
        <p:spPr>
          <a:xfrm>
            <a:off x="6648450" y="1981200"/>
            <a:ext cx="4667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588"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Mantiene espacios utilizables y separados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48C1CEB-41B7-4BD8-B291-803B5A2E3CBD}"/>
              </a:ext>
            </a:extLst>
          </p:cNvPr>
          <p:cNvSpPr>
            <a:spLocks noGrp="1"/>
          </p:cNvSpPr>
          <p:nvPr/>
        </p:nvSpPr>
        <p:spPr>
          <a:xfrm>
            <a:off x="6705600" y="3028950"/>
            <a:ext cx="152400" cy="266700"/>
          </a:xfrm>
          <a:prstGeom prst="rect">
            <a:avLst/>
          </a:prstGeom>
          <a:solidFill>
            <a:srgbClr val="123A61"/>
          </a:solidFill>
          <a:ln w="0">
            <a:solidFill>
              <a:srgbClr val="123A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F361063-5A09-41B3-A26F-499B1A8E83F8}"/>
              </a:ext>
            </a:extLst>
          </p:cNvPr>
          <p:cNvSpPr>
            <a:spLocks noGrp="1"/>
          </p:cNvSpPr>
          <p:nvPr/>
        </p:nvSpPr>
        <p:spPr>
          <a:xfrm>
            <a:off x="7467600" y="2952750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Registrar qué partes están en uso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D56E97A-563B-4F09-AE6C-337ECCB62836}"/>
              </a:ext>
            </a:extLst>
          </p:cNvPr>
          <p:cNvSpPr>
            <a:spLocks noGrp="1"/>
          </p:cNvSpPr>
          <p:nvPr/>
        </p:nvSpPr>
        <p:spPr>
          <a:xfrm>
            <a:off x="6705600" y="3714750"/>
            <a:ext cx="342900" cy="266700"/>
          </a:xfrm>
          <a:prstGeom prst="rect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B4AD17D-1266-4351-A4CE-32DE2E6F49F2}"/>
              </a:ext>
            </a:extLst>
          </p:cNvPr>
          <p:cNvSpPr>
            <a:spLocks noGrp="1"/>
          </p:cNvSpPr>
          <p:nvPr/>
        </p:nvSpPr>
        <p:spPr>
          <a:xfrm>
            <a:off x="7467600" y="3638550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Asignar y liberar espacio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D24CCE8-45EE-416A-B9C6-05B7A30B0462}"/>
              </a:ext>
            </a:extLst>
          </p:cNvPr>
          <p:cNvSpPr>
            <a:spLocks noGrp="1"/>
          </p:cNvSpPr>
          <p:nvPr/>
        </p:nvSpPr>
        <p:spPr>
          <a:xfrm>
            <a:off x="6705600" y="4400550"/>
            <a:ext cx="533400" cy="266700"/>
          </a:xfrm>
          <a:prstGeom prst="rect">
            <a:avLst/>
          </a:prstGeom>
          <a:solidFill>
            <a:srgbClr val="5A9BDC"/>
          </a:solidFill>
          <a:ln w="0">
            <a:solidFill>
              <a:srgbClr val="5A9B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06AE5C7-AF06-4E2D-8847-EC4A0B8DC256}"/>
              </a:ext>
            </a:extLst>
          </p:cNvPr>
          <p:cNvSpPr>
            <a:spLocks noGrp="1"/>
          </p:cNvSpPr>
          <p:nvPr/>
        </p:nvSpPr>
        <p:spPr>
          <a:xfrm>
            <a:off x="7467600" y="4324350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Mover datos y proteger direcciones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7E43156-A511-4C24-ACD6-4AD04ABE78C4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1019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Juntas permiten que varios trabajos progresen sin compartir el control de forma desordenada.</a:t>
            </a:r>
          </a:p>
        </p:txBody>
      </p:sp>
    </p:spTree>
    <p:extLst>
      <p:ext uri="{BB962C8B-B14F-4D97-AF65-F5344CB8AC3E}">
        <p14:creationId xmlns:p14="http://schemas.microsoft.com/office/powerpoint/2010/main" val="167945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6FC4CA7C-3E73-4FE2-8331-2EBC50F5D43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3 · FUNCIONES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FC32739-92D4-47B9-9F85-4EF263E59D71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E/S, archivos y protección cierran el ciclo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210CEF7F-8038-477D-96A8-8C8144FE89C9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2F62AD96-D304-44C4-9064-3C825A5AD8D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5969C85-082F-41D4-A84E-D7162E5547E4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3 · FUNCIONES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828BDF2-0D77-4A11-92FE-7D466E10226C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940E9DD-2495-4E1F-87D4-DCC3751FA766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Una solicitud atraviesa capas hasta convertirse en una operación sobre un dispositivo o un dato persistente.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CE5020B5-BE25-477C-8757-51D8F5904440}"/>
              </a:ext>
            </a:extLst>
          </p:cNvPr>
          <p:cNvSpPr>
            <a:spLocks noGrp="1"/>
          </p:cNvSpPr>
          <p:nvPr/>
        </p:nvSpPr>
        <p:spPr>
          <a:xfrm>
            <a:off x="3048000" y="3143250"/>
            <a:ext cx="647700" cy="266700"/>
          </a:xfrm>
          <a:prstGeom prst="rightArrow">
            <a:avLst/>
          </a:prstGeom>
          <a:solidFill>
            <a:srgbClr val="284A68"/>
          </a:solidFill>
          <a:ln w="0">
            <a:solidFill>
              <a:srgbClr val="284A6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81B6FCAA-A36E-4720-A9F8-E1E8277688A7}"/>
              </a:ext>
            </a:extLst>
          </p:cNvPr>
          <p:cNvSpPr>
            <a:spLocks noGrp="1"/>
          </p:cNvSpPr>
          <p:nvPr/>
        </p:nvSpPr>
        <p:spPr>
          <a:xfrm>
            <a:off x="5048250" y="3143250"/>
            <a:ext cx="647700" cy="266700"/>
          </a:xfrm>
          <a:prstGeom prst="rightArrow">
            <a:avLst/>
          </a:prstGeom>
          <a:solidFill>
            <a:srgbClr val="284A68"/>
          </a:solidFill>
          <a:ln w="0">
            <a:solidFill>
              <a:srgbClr val="284A6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C95603A0-532D-43D8-9E53-48C98EDF42F4}"/>
              </a:ext>
            </a:extLst>
          </p:cNvPr>
          <p:cNvSpPr>
            <a:spLocks noGrp="1"/>
          </p:cNvSpPr>
          <p:nvPr/>
        </p:nvSpPr>
        <p:spPr>
          <a:xfrm>
            <a:off x="7048500" y="3143250"/>
            <a:ext cx="647700" cy="266700"/>
          </a:xfrm>
          <a:prstGeom prst="rightArrow">
            <a:avLst/>
          </a:prstGeom>
          <a:solidFill>
            <a:srgbClr val="284A68"/>
          </a:solidFill>
          <a:ln w="0">
            <a:solidFill>
              <a:srgbClr val="284A6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49C16BBB-E68E-41B0-AF48-60F8D7B92E99}"/>
              </a:ext>
            </a:extLst>
          </p:cNvPr>
          <p:cNvSpPr>
            <a:spLocks noGrp="1"/>
          </p:cNvSpPr>
          <p:nvPr/>
        </p:nvSpPr>
        <p:spPr>
          <a:xfrm>
            <a:off x="9048750" y="3143250"/>
            <a:ext cx="647700" cy="266700"/>
          </a:xfrm>
          <a:prstGeom prst="rightArrow">
            <a:avLst/>
          </a:prstGeom>
          <a:solidFill>
            <a:srgbClr val="284A68"/>
          </a:solidFill>
          <a:ln w="0">
            <a:solidFill>
              <a:srgbClr val="284A6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14B437D-10E8-4B50-9DEA-F16F8561CFF5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1619250" cy="1028700"/>
          </a:xfrm>
          <a:prstGeom prst="rect">
            <a:avLst/>
          </a:prstGeom>
          <a:solidFill>
            <a:srgbClr val="0D1824"/>
          </a:solidFill>
          <a:ln w="9525">
            <a:solidFill>
              <a:srgbClr val="355D7A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APLICACIÓN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9A8FD92-0DB8-4110-AF9F-746B8D50509F}"/>
              </a:ext>
            </a:extLst>
          </p:cNvPr>
          <p:cNvSpPr>
            <a:spLocks noGrp="1"/>
          </p:cNvSpPr>
          <p:nvPr/>
        </p:nvSpPr>
        <p:spPr>
          <a:xfrm>
            <a:off x="895350" y="38100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solicita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A8DAA9F-C4EF-44C5-8AEB-E76C70C8891B}"/>
              </a:ext>
            </a:extLst>
          </p:cNvPr>
          <p:cNvSpPr>
            <a:spLocks noGrp="1"/>
          </p:cNvSpPr>
          <p:nvPr/>
        </p:nvSpPr>
        <p:spPr>
          <a:xfrm>
            <a:off x="3543300" y="2667000"/>
            <a:ext cx="1619250" cy="1028700"/>
          </a:xfrm>
          <a:prstGeom prst="rect">
            <a:avLst/>
          </a:prstGeom>
          <a:solidFill>
            <a:srgbClr val="123A61"/>
          </a:solidFill>
          <a:ln w="9525">
            <a:solidFill>
              <a:srgbClr val="355D7A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INTERFAZ E/S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CEEE2F8-90C5-4504-A310-EF276460C845}"/>
              </a:ext>
            </a:extLst>
          </p:cNvPr>
          <p:cNvSpPr>
            <a:spLocks noGrp="1"/>
          </p:cNvSpPr>
          <p:nvPr/>
        </p:nvSpPr>
        <p:spPr>
          <a:xfrm>
            <a:off x="3543300" y="38100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uniforma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6C08372-2321-40FA-AA4B-1E6819D8DFFA}"/>
              </a:ext>
            </a:extLst>
          </p:cNvPr>
          <p:cNvSpPr>
            <a:spLocks noGrp="1"/>
          </p:cNvSpPr>
          <p:nvPr/>
        </p:nvSpPr>
        <p:spPr>
          <a:xfrm>
            <a:off x="5543550" y="2667000"/>
            <a:ext cx="1619250" cy="1028700"/>
          </a:xfrm>
          <a:prstGeom prst="rect">
            <a:avLst/>
          </a:prstGeom>
          <a:solidFill>
            <a:srgbClr val="2D6FB7"/>
          </a:solidFill>
          <a:ln w="9525">
            <a:solidFill>
              <a:srgbClr val="355D7A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DRIVER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7000957-157D-4875-8B5A-359F842E1A69}"/>
              </a:ext>
            </a:extLst>
          </p:cNvPr>
          <p:cNvSpPr>
            <a:spLocks noGrp="1"/>
          </p:cNvSpPr>
          <p:nvPr/>
        </p:nvSpPr>
        <p:spPr>
          <a:xfrm>
            <a:off x="5543550" y="38100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traduce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3F36CC2-F949-49D7-9006-C965AB6640C7}"/>
              </a:ext>
            </a:extLst>
          </p:cNvPr>
          <p:cNvSpPr>
            <a:spLocks noGrp="1"/>
          </p:cNvSpPr>
          <p:nvPr/>
        </p:nvSpPr>
        <p:spPr>
          <a:xfrm>
            <a:off x="7543800" y="2667000"/>
            <a:ext cx="1619250" cy="1028700"/>
          </a:xfrm>
          <a:prstGeom prst="rect">
            <a:avLst/>
          </a:prstGeom>
          <a:solidFill>
            <a:srgbClr val="123A61"/>
          </a:solidFill>
          <a:ln w="9525">
            <a:solidFill>
              <a:srgbClr val="355D7A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DISPOSITIVO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3118B66-0CD9-49B6-A97C-C04449CAECB1}"/>
              </a:ext>
            </a:extLst>
          </p:cNvPr>
          <p:cNvSpPr>
            <a:spLocks noGrp="1"/>
          </p:cNvSpPr>
          <p:nvPr/>
        </p:nvSpPr>
        <p:spPr>
          <a:xfrm>
            <a:off x="7543800" y="38100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transfiere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48D542E-C0F1-42C9-A30D-165D5B6E1220}"/>
              </a:ext>
            </a:extLst>
          </p:cNvPr>
          <p:cNvSpPr>
            <a:spLocks noGrp="1"/>
          </p:cNvSpPr>
          <p:nvPr/>
        </p:nvSpPr>
        <p:spPr>
          <a:xfrm>
            <a:off x="9544050" y="2667000"/>
            <a:ext cx="1619250" cy="1028700"/>
          </a:xfrm>
          <a:prstGeom prst="rect">
            <a:avLst/>
          </a:prstGeom>
          <a:solidFill>
            <a:srgbClr val="0D1824"/>
          </a:solidFill>
          <a:ln w="9525">
            <a:solidFill>
              <a:srgbClr val="355D7A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ARCHIVO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3F9C254-2274-47E4-B449-49D7E74D6DF4}"/>
              </a:ext>
            </a:extLst>
          </p:cNvPr>
          <p:cNvSpPr>
            <a:spLocks noGrp="1"/>
          </p:cNvSpPr>
          <p:nvPr/>
        </p:nvSpPr>
        <p:spPr>
          <a:xfrm>
            <a:off x="9544050" y="38100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persiste</a:t>
            </a:r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C8439D13-E83F-4F7E-BEDA-F755ADB3D117}"/>
              </a:ext>
            </a:extLst>
          </p:cNvPr>
          <p:cNvSpPr>
            <a:spLocks noGrp="1"/>
          </p:cNvSpPr>
          <p:nvPr/>
        </p:nvSpPr>
        <p:spPr>
          <a:xfrm>
            <a:off x="838200" y="4781550"/>
            <a:ext cx="10325100" cy="0"/>
          </a:xfrm>
          <a:prstGeom prst="line">
            <a:avLst/>
          </a:prstGeom>
          <a:noFill/>
          <a:ln w="28575">
            <a:solidFill>
              <a:srgbClr val="5A9B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283F777-9520-4939-9B6A-CE5BA3EE9ABD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PROTECCIÓN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0AC5653-E189-483D-8276-36281F46C177}"/>
              </a:ext>
            </a:extLst>
          </p:cNvPr>
          <p:cNvSpPr>
            <a:spLocks noGrp="1"/>
          </p:cNvSpPr>
          <p:nvPr/>
        </p:nvSpPr>
        <p:spPr>
          <a:xfrm>
            <a:off x="2857500" y="48958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Controla quién puede pedir, leer, escribir o modificar cada recurso.</a:t>
            </a:r>
          </a:p>
        </p:txBody>
      </p:sp>
    </p:spTree>
    <p:extLst>
      <p:ext uri="{BB962C8B-B14F-4D97-AF65-F5344CB8AC3E}">
        <p14:creationId xmlns:p14="http://schemas.microsoft.com/office/powerpoint/2010/main" val="78682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26686DA1-5B36-492E-9EDA-986BBEFD27A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4 · MANEJO DE RECURSOS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966A728-CFA0-44CD-BD1A-C89C5F2EF75D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Asigna recursos y controla su uso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3BB462D5-C1EE-4865-86AA-A63053E6335D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7213838B-FE44-4AC7-9E4E-A322DC7C612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BF4559-81E4-47C6-BD77-CDFC87EFC201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4 · MANEJO DE RECURSOS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8A5E60C-A947-4906-94AC-34B1EF20D4F0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4F7BBEC-8437-4474-A8CA-A430EDD7B80B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SOLICITUDES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00918CA-F4B4-4A78-97C7-E8AD1EE27378}"/>
              </a:ext>
            </a:extLst>
          </p:cNvPr>
          <p:cNvSpPr>
            <a:spLocks noGrp="1"/>
          </p:cNvSpPr>
          <p:nvPr/>
        </p:nvSpPr>
        <p:spPr>
          <a:xfrm>
            <a:off x="819150" y="22383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Proceso 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73F5851-B329-4283-A6D6-FC1D6EE8FBF0}"/>
              </a:ext>
            </a:extLst>
          </p:cNvPr>
          <p:cNvSpPr>
            <a:spLocks noGrp="1"/>
          </p:cNvSpPr>
          <p:nvPr/>
        </p:nvSpPr>
        <p:spPr>
          <a:xfrm>
            <a:off x="819150" y="301942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Proceso B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9E3CE86-32C0-4746-9873-010873AB37EF}"/>
              </a:ext>
            </a:extLst>
          </p:cNvPr>
          <p:cNvSpPr>
            <a:spLocks noGrp="1"/>
          </p:cNvSpPr>
          <p:nvPr/>
        </p:nvSpPr>
        <p:spPr>
          <a:xfrm>
            <a:off x="819150" y="38004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Proceso C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34BFF130-489D-44DC-AE19-590F1B1920FD}"/>
              </a:ext>
            </a:extLst>
          </p:cNvPr>
          <p:cNvSpPr>
            <a:spLocks noGrp="1"/>
          </p:cNvSpPr>
          <p:nvPr/>
        </p:nvSpPr>
        <p:spPr>
          <a:xfrm>
            <a:off x="2724150" y="2352675"/>
            <a:ext cx="1238250" cy="228600"/>
          </a:xfrm>
          <a:prstGeom prst="rightArrow">
            <a:avLst/>
          </a:prstGeom>
          <a:solidFill>
            <a:srgbClr val="DCEAF7"/>
          </a:solidFill>
          <a:ln w="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8A28D142-AAA1-47D9-B7A5-6B1A2EA048EC}"/>
              </a:ext>
            </a:extLst>
          </p:cNvPr>
          <p:cNvSpPr>
            <a:spLocks noGrp="1"/>
          </p:cNvSpPr>
          <p:nvPr/>
        </p:nvSpPr>
        <p:spPr>
          <a:xfrm>
            <a:off x="2724150" y="3133725"/>
            <a:ext cx="1238250" cy="228600"/>
          </a:xfrm>
          <a:prstGeom prst="rightArrow">
            <a:avLst/>
          </a:prstGeom>
          <a:solidFill>
            <a:srgbClr val="DCEAF7"/>
          </a:solidFill>
          <a:ln w="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B75504B5-AB43-4CA4-817B-7B4042B55C2C}"/>
              </a:ext>
            </a:extLst>
          </p:cNvPr>
          <p:cNvSpPr>
            <a:spLocks noGrp="1"/>
          </p:cNvSpPr>
          <p:nvPr/>
        </p:nvSpPr>
        <p:spPr>
          <a:xfrm>
            <a:off x="2724150" y="3914775"/>
            <a:ext cx="1238250" cy="228600"/>
          </a:xfrm>
          <a:prstGeom prst="rightArrow">
            <a:avLst/>
          </a:prstGeom>
          <a:solidFill>
            <a:srgbClr val="DCEAF7"/>
          </a:solidFill>
          <a:ln w="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84846E1-AFD1-4D26-BCC6-CD03A37D9BB2}"/>
              </a:ext>
            </a:extLst>
          </p:cNvPr>
          <p:cNvSpPr>
            <a:spLocks noGrp="1"/>
          </p:cNvSpPr>
          <p:nvPr/>
        </p:nvSpPr>
        <p:spPr>
          <a:xfrm>
            <a:off x="4095750" y="2171700"/>
            <a:ext cx="2762250" cy="2095500"/>
          </a:xfrm>
          <a:prstGeom prst="rect">
            <a:avLst/>
          </a:prstGeom>
          <a:solidFill>
            <a:srgbClr val="2D6FB7"/>
          </a:solidFill>
          <a:ln w="19050">
            <a:solidFill>
              <a:srgbClr val="123A61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225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SISTEMA</a:t>
            </a:r>
          </a:p>
          <a:p>
            <a:pPr algn="ctr">
              <a:defRPr sz="225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OPERATIVO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6A2C7B-2D12-4095-B9EF-5FF17728773E}"/>
              </a:ext>
            </a:extLst>
          </p:cNvPr>
          <p:cNvSpPr>
            <a:spLocks noGrp="1"/>
          </p:cNvSpPr>
          <p:nvPr/>
        </p:nvSpPr>
        <p:spPr>
          <a:xfrm>
            <a:off x="4095750" y="447675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decide quién · cuánto · cuándo</a:t>
            </a: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BEA4B897-A80B-402C-9769-1587F3380181}"/>
              </a:ext>
            </a:extLst>
          </p:cNvPr>
          <p:cNvSpPr>
            <a:spLocks noGrp="1"/>
          </p:cNvSpPr>
          <p:nvPr/>
        </p:nvSpPr>
        <p:spPr>
          <a:xfrm>
            <a:off x="7029450" y="2352675"/>
            <a:ext cx="1143000" cy="228600"/>
          </a:xfrm>
          <a:prstGeom prst="rightArrow">
            <a:avLst/>
          </a:prstGeom>
          <a:solidFill>
            <a:srgbClr val="DCEAF7"/>
          </a:solidFill>
          <a:ln w="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FFAD87F-B206-455F-85AF-FB413280E55B}"/>
              </a:ext>
            </a:extLst>
          </p:cNvPr>
          <p:cNvSpPr>
            <a:spLocks noGrp="1"/>
          </p:cNvSpPr>
          <p:nvPr/>
        </p:nvSpPr>
        <p:spPr>
          <a:xfrm>
            <a:off x="7029450" y="3133725"/>
            <a:ext cx="1143000" cy="228600"/>
          </a:xfrm>
          <a:prstGeom prst="rightArrow">
            <a:avLst/>
          </a:prstGeom>
          <a:solidFill>
            <a:srgbClr val="DCEAF7"/>
          </a:solidFill>
          <a:ln w="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3333F6C6-71F4-4A29-B190-888CF4AF6CB4}"/>
              </a:ext>
            </a:extLst>
          </p:cNvPr>
          <p:cNvSpPr>
            <a:spLocks noGrp="1"/>
          </p:cNvSpPr>
          <p:nvPr/>
        </p:nvSpPr>
        <p:spPr>
          <a:xfrm>
            <a:off x="7029450" y="3914775"/>
            <a:ext cx="1143000" cy="228600"/>
          </a:xfrm>
          <a:prstGeom prst="rightArrow">
            <a:avLst/>
          </a:prstGeom>
          <a:solidFill>
            <a:srgbClr val="DCEAF7"/>
          </a:solidFill>
          <a:ln w="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BEFD51E-1B15-477F-B296-0E13B9CF2A66}"/>
              </a:ext>
            </a:extLst>
          </p:cNvPr>
          <p:cNvSpPr>
            <a:spLocks noGrp="1"/>
          </p:cNvSpPr>
          <p:nvPr/>
        </p:nvSpPr>
        <p:spPr>
          <a:xfrm>
            <a:off x="8477250" y="2019300"/>
            <a:ext cx="1428750" cy="57150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CPU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081CB8E-1175-4DFF-8530-9D739D432FE8}"/>
              </a:ext>
            </a:extLst>
          </p:cNvPr>
          <p:cNvSpPr>
            <a:spLocks noGrp="1"/>
          </p:cNvSpPr>
          <p:nvPr/>
        </p:nvSpPr>
        <p:spPr>
          <a:xfrm>
            <a:off x="9620250" y="2857500"/>
            <a:ext cx="1428750" cy="571500"/>
          </a:xfrm>
          <a:prstGeom prst="rect">
            <a:avLst/>
          </a:prstGeom>
          <a:solidFill>
            <a:srgbClr val="123A61"/>
          </a:solidFill>
          <a:ln w="0">
            <a:solidFill>
              <a:srgbClr val="123A61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MEMORIA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7436C94-0451-46BF-9997-89104C04B672}"/>
              </a:ext>
            </a:extLst>
          </p:cNvPr>
          <p:cNvSpPr>
            <a:spLocks noGrp="1"/>
          </p:cNvSpPr>
          <p:nvPr/>
        </p:nvSpPr>
        <p:spPr>
          <a:xfrm>
            <a:off x="8477250" y="3733800"/>
            <a:ext cx="1428750" cy="57150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E/S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F9F0480-55BD-4CD3-80A3-87EE17D0AAA7}"/>
              </a:ext>
            </a:extLst>
          </p:cNvPr>
          <p:cNvSpPr>
            <a:spLocks noGrp="1"/>
          </p:cNvSpPr>
          <p:nvPr/>
        </p:nvSpPr>
        <p:spPr>
          <a:xfrm>
            <a:off x="9620250" y="4572000"/>
            <a:ext cx="1428750" cy="571500"/>
          </a:xfrm>
          <a:prstGeom prst="rect">
            <a:avLst/>
          </a:prstGeom>
          <a:solidFill>
            <a:srgbClr val="123A61"/>
          </a:solidFill>
          <a:ln w="0">
            <a:solidFill>
              <a:srgbClr val="123A61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DISCO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9D4B72C-D636-490E-AFD1-EF205E265A2C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857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La decisión busca eficiencia, reparto razonable y ejecución estable.</a:t>
            </a:r>
          </a:p>
        </p:txBody>
      </p:sp>
    </p:spTree>
    <p:extLst>
      <p:ext uri="{BB962C8B-B14F-4D97-AF65-F5344CB8AC3E}">
        <p14:creationId xmlns:p14="http://schemas.microsoft.com/office/powerpoint/2010/main" val="1083738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8ED4B463-D3B3-4CB2-A502-8B3EFB6375E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4 · MANEJO DE RECURSOS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F91EA91-8BB8-4E7B-BA82-3BBF107F3DB5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La estrategia cambia entre sistemas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5848997C-5E1C-473B-B505-9A3EB9557192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1A5F7A7B-266B-4DBF-8257-26C77EC170F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A32E030-8EC3-4032-92A9-54C1EEB05E32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4 · MANEJO DE RECURSOS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ECD408-D734-484B-949B-E365BC411E6D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6A18B69-919D-402B-AB4A-491C1B457292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875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Mismas responsabilidades; organización interna distinta.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866DE03-4586-4DEF-A75E-4AE299973D66}"/>
              </a:ext>
            </a:extLst>
          </p:cNvPr>
          <p:cNvSpPr>
            <a:spLocks noGrp="1"/>
          </p:cNvSpPr>
          <p:nvPr/>
        </p:nvSpPr>
        <p:spPr>
          <a:xfrm>
            <a:off x="723900" y="22860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LINUX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E325F38-BE9D-4A02-9D9C-590DD357FD51}"/>
              </a:ext>
            </a:extLst>
          </p:cNvPr>
          <p:cNvSpPr>
            <a:spLocks noGrp="1"/>
          </p:cNvSpPr>
          <p:nvPr/>
        </p:nvSpPr>
        <p:spPr>
          <a:xfrm>
            <a:off x="723900" y="2809875"/>
            <a:ext cx="2190750" cy="114300"/>
          </a:xfrm>
          <a:prstGeom prst="rect">
            <a:avLst/>
          </a:prstGeom>
          <a:solidFill>
            <a:srgbClr val="5A9BDC"/>
          </a:solidFill>
          <a:ln w="0">
            <a:solidFill>
              <a:srgbClr val="5A9B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2F6234A-B62D-4EA0-8B0C-0E20CAC651C2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2266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Núcleo monolítico</a:t>
            </a:r>
          </a:p>
          <a:p>
            <a:pPr algn="l">
              <a:lnSpc>
                <a:spcPct val="100000"/>
              </a:lnSpc>
              <a:buNone/>
              <a:def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+ módulos cargables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2F0AEC2-7274-4122-A625-2D2F9B48B600}"/>
              </a:ext>
            </a:extLst>
          </p:cNvPr>
          <p:cNvSpPr>
            <a:spLocks noGrp="1"/>
          </p:cNvSpPr>
          <p:nvPr/>
        </p:nvSpPr>
        <p:spPr>
          <a:xfrm>
            <a:off x="723900" y="4400550"/>
            <a:ext cx="2266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flexibilidad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EB6ACBA5-AD61-4547-8B04-6C0062F20C94}"/>
              </a:ext>
            </a:extLst>
          </p:cNvPr>
          <p:cNvSpPr>
            <a:spLocks noGrp="1"/>
          </p:cNvSpPr>
          <p:nvPr/>
        </p:nvSpPr>
        <p:spPr>
          <a:xfrm>
            <a:off x="3181350" y="2143125"/>
            <a:ext cx="0" cy="295275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314AFA4-8E8E-438F-9CA8-575D0ED3D29A}"/>
              </a:ext>
            </a:extLst>
          </p:cNvPr>
          <p:cNvSpPr>
            <a:spLocks noGrp="1"/>
          </p:cNvSpPr>
          <p:nvPr/>
        </p:nvSpPr>
        <p:spPr>
          <a:xfrm>
            <a:off x="3457575" y="22860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WINDOWS 10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2BA0395-E875-4E67-9CAE-79AD34F56402}"/>
              </a:ext>
            </a:extLst>
          </p:cNvPr>
          <p:cNvSpPr>
            <a:spLocks noGrp="1"/>
          </p:cNvSpPr>
          <p:nvPr/>
        </p:nvSpPr>
        <p:spPr>
          <a:xfrm>
            <a:off x="3457575" y="2809875"/>
            <a:ext cx="2190750" cy="114300"/>
          </a:xfrm>
          <a:prstGeom prst="rect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16FE233-B9D5-4AD5-8B31-96912E3A7ED4}"/>
              </a:ext>
            </a:extLst>
          </p:cNvPr>
          <p:cNvSpPr>
            <a:spLocks noGrp="1"/>
          </p:cNvSpPr>
          <p:nvPr/>
        </p:nvSpPr>
        <p:spPr>
          <a:xfrm>
            <a:off x="3457575" y="3143250"/>
            <a:ext cx="2266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Arquitectura híbrida</a:t>
            </a:r>
          </a:p>
          <a:p>
            <a:pPr algn="l">
              <a:lnSpc>
                <a:spcPct val="100000"/>
              </a:lnSpc>
              <a:buNone/>
              <a:def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+ módulos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7420BD0-9502-458C-B8A8-D48978043C4B}"/>
              </a:ext>
            </a:extLst>
          </p:cNvPr>
          <p:cNvSpPr>
            <a:spLocks noGrp="1"/>
          </p:cNvSpPr>
          <p:nvPr/>
        </p:nvSpPr>
        <p:spPr>
          <a:xfrm>
            <a:off x="3457575" y="4400550"/>
            <a:ext cx="2266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subsistemas</a:t>
            </a:r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474F1DD7-EED5-43AF-B5C5-B48CB538302F}"/>
              </a:ext>
            </a:extLst>
          </p:cNvPr>
          <p:cNvSpPr>
            <a:spLocks noGrp="1"/>
          </p:cNvSpPr>
          <p:nvPr/>
        </p:nvSpPr>
        <p:spPr>
          <a:xfrm>
            <a:off x="5915025" y="2143125"/>
            <a:ext cx="0" cy="295275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8B89447-663C-41B1-8DE8-AAE2204D54CD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macOS / iOS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7385D9C-EACF-4471-8880-5877E7B992E8}"/>
              </a:ext>
            </a:extLst>
          </p:cNvPr>
          <p:cNvSpPr>
            <a:spLocks noGrp="1"/>
          </p:cNvSpPr>
          <p:nvPr/>
        </p:nvSpPr>
        <p:spPr>
          <a:xfrm>
            <a:off x="6191250" y="2809875"/>
            <a:ext cx="2190750" cy="114300"/>
          </a:xfrm>
          <a:prstGeom prst="rect">
            <a:avLst/>
          </a:prstGeom>
          <a:solidFill>
            <a:srgbClr val="25557D"/>
          </a:solidFill>
          <a:ln w="0">
            <a:solidFill>
              <a:srgbClr val="25557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4043EF6-740D-43B3-8026-13DC1311D23A}"/>
              </a:ext>
            </a:extLst>
          </p:cNvPr>
          <p:cNvSpPr>
            <a:spLocks noGrp="1"/>
          </p:cNvSpPr>
          <p:nvPr/>
        </p:nvSpPr>
        <p:spPr>
          <a:xfrm>
            <a:off x="6191250" y="3143250"/>
            <a:ext cx="2266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Darwin = Mach + BSD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DA93C21-098B-4D96-8D04-E165ED48C9C9}"/>
              </a:ext>
            </a:extLst>
          </p:cNvPr>
          <p:cNvSpPr>
            <a:spLocks noGrp="1"/>
          </p:cNvSpPr>
          <p:nvPr/>
        </p:nvSpPr>
        <p:spPr>
          <a:xfrm>
            <a:off x="6191250" y="4400550"/>
            <a:ext cx="2266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capas híbridas</a:t>
            </a:r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E7242F0C-D407-4FAF-A988-F10FB75EA852}"/>
              </a:ext>
            </a:extLst>
          </p:cNvPr>
          <p:cNvSpPr>
            <a:spLocks noGrp="1"/>
          </p:cNvSpPr>
          <p:nvPr/>
        </p:nvSpPr>
        <p:spPr>
          <a:xfrm>
            <a:off x="8648700" y="2143125"/>
            <a:ext cx="0" cy="295275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ED000E6-78E6-4427-9ED7-49CCC849AEC1}"/>
              </a:ext>
            </a:extLst>
          </p:cNvPr>
          <p:cNvSpPr>
            <a:spLocks noGrp="1"/>
          </p:cNvSpPr>
          <p:nvPr/>
        </p:nvSpPr>
        <p:spPr>
          <a:xfrm>
            <a:off x="8924925" y="22860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ANDROID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85B4B2A-F0C6-4525-B523-21B47F1831FF}"/>
              </a:ext>
            </a:extLst>
          </p:cNvPr>
          <p:cNvSpPr>
            <a:spLocks noGrp="1"/>
          </p:cNvSpPr>
          <p:nvPr/>
        </p:nvSpPr>
        <p:spPr>
          <a:xfrm>
            <a:off x="8924925" y="2809875"/>
            <a:ext cx="2190750" cy="114300"/>
          </a:xfrm>
          <a:prstGeom prst="rect">
            <a:avLst/>
          </a:prstGeom>
          <a:solidFill>
            <a:srgbClr val="123A61"/>
          </a:solidFill>
          <a:ln w="0">
            <a:solidFill>
              <a:srgbClr val="123A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C4192B1-279C-4C39-9FDC-3B7A63AECD93}"/>
              </a:ext>
            </a:extLst>
          </p:cNvPr>
          <p:cNvSpPr>
            <a:spLocks noGrp="1"/>
          </p:cNvSpPr>
          <p:nvPr/>
        </p:nvSpPr>
        <p:spPr>
          <a:xfrm>
            <a:off x="8924925" y="3143250"/>
            <a:ext cx="2266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Linux + HAL</a:t>
            </a:r>
          </a:p>
          <a:p>
            <a:pPr algn="l">
              <a:lnSpc>
                <a:spcPct val="100000"/>
              </a:lnSpc>
              <a:buNone/>
              <a:def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+ frameworks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F57DECA-8CB7-47F6-94B1-2C826F637AC2}"/>
              </a:ext>
            </a:extLst>
          </p:cNvPr>
          <p:cNvSpPr>
            <a:spLocks noGrp="1"/>
          </p:cNvSpPr>
          <p:nvPr/>
        </p:nvSpPr>
        <p:spPr>
          <a:xfrm>
            <a:off x="8924925" y="4400550"/>
            <a:ext cx="2266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abstracción de hardware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668FCF0-A46A-4E53-A1C7-5A77B8FDDF5B}"/>
              </a:ext>
            </a:extLst>
          </p:cNvPr>
          <p:cNvSpPr>
            <a:spLocks noGrp="1"/>
          </p:cNvSpPr>
          <p:nvPr/>
        </p:nvSpPr>
        <p:spPr>
          <a:xfrm>
            <a:off x="723900" y="55435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La estructura elegida influye en cómo se incorporan servicios, controladores y políticas de gestión.</a:t>
            </a:r>
          </a:p>
        </p:txBody>
      </p:sp>
    </p:spTree>
    <p:extLst>
      <p:ext uri="{BB962C8B-B14F-4D97-AF65-F5344CB8AC3E}">
        <p14:creationId xmlns:p14="http://schemas.microsoft.com/office/powerpoint/2010/main" val="89177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87B12E67-281C-434C-B2E7-894C3A826C72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5 · CLASIFICACIÓN POR USUARIOS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A99727F-07C7-4A51-9E9C-D6F926321740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El número de usuarios cambia las prioridades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E1C038B2-FE0A-4A10-B5AD-2FC407AF8C5F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D6F5118E-3CCD-452C-AFE3-A26A7F5B5CF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8292F6E-172F-4233-97E8-BBC42433CF81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5 · CLASIFICACIÓN POR USUARIOS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610A739-5549-4584-B9F5-6D787D9EC659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A5A607C5-D23B-4DB4-95AC-C9B298D2806F}"/>
              </a:ext>
            </a:extLst>
          </p:cNvPr>
          <p:cNvSpPr>
            <a:spLocks noGrp="1"/>
          </p:cNvSpPr>
          <p:nvPr/>
        </p:nvSpPr>
        <p:spPr>
          <a:xfrm>
            <a:off x="1143000" y="3333750"/>
            <a:ext cx="9810750" cy="0"/>
          </a:xfrm>
          <a:prstGeom prst="line">
            <a:avLst/>
          </a:prstGeom>
          <a:noFill/>
          <a:ln w="28575">
            <a:solidFill>
              <a:srgbClr val="1018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8B3ACEC-F7D7-49F1-827D-FCE2DC821860}"/>
              </a:ext>
            </a:extLst>
          </p:cNvPr>
          <p:cNvSpPr>
            <a:spLocks noGrp="1"/>
          </p:cNvSpPr>
          <p:nvPr/>
        </p:nvSpPr>
        <p:spPr>
          <a:xfrm>
            <a:off x="1047750" y="3257550"/>
            <a:ext cx="171450" cy="171450"/>
          </a:xfrm>
          <a:prstGeom prst="ellipse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DC7F99C-7A37-4EF3-B485-C7084E7BC75B}"/>
              </a:ext>
            </a:extLst>
          </p:cNvPr>
          <p:cNvSpPr>
            <a:spLocks noGrp="1"/>
          </p:cNvSpPr>
          <p:nvPr/>
        </p:nvSpPr>
        <p:spPr>
          <a:xfrm>
            <a:off x="6000750" y="3257550"/>
            <a:ext cx="171450" cy="171450"/>
          </a:xfrm>
          <a:prstGeom prst="ellipse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F89B927-71DD-4DF5-80E0-45D4AAEB5D83}"/>
              </a:ext>
            </a:extLst>
          </p:cNvPr>
          <p:cNvSpPr>
            <a:spLocks noGrp="1"/>
          </p:cNvSpPr>
          <p:nvPr/>
        </p:nvSpPr>
        <p:spPr>
          <a:xfrm>
            <a:off x="10858500" y="3257550"/>
            <a:ext cx="171450" cy="171450"/>
          </a:xfrm>
          <a:prstGeom prst="ellipse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857D266-F0FE-4563-988D-4678FEFB1F5A}"/>
              </a:ext>
            </a:extLst>
          </p:cNvPr>
          <p:cNvSpPr>
            <a:spLocks noGrp="1"/>
          </p:cNvSpPr>
          <p:nvPr/>
        </p:nvSpPr>
        <p:spPr>
          <a:xfrm>
            <a:off x="895350" y="20002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1950" b="1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MONOUSUARIO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CB0BBE4-2E21-4E37-83FA-549841D90DD7}"/>
              </a:ext>
            </a:extLst>
          </p:cNvPr>
          <p:cNvSpPr>
            <a:spLocks noGrp="1"/>
          </p:cNvSpPr>
          <p:nvPr/>
        </p:nvSpPr>
        <p:spPr>
          <a:xfrm>
            <a:off x="895350" y="245745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Un usuario utiliza el sistema.</a:t>
            </a:r>
          </a:p>
          <a:p>
            <a:pPr algn="l">
              <a:lnSpc>
                <a:spcPct val="100000"/>
              </a:lnSpc>
              <a:buNone/>
              <a:defRPr sz="16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Puede ejecutar varias tareas.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4C30258-C9A9-4E20-A467-C2C261EC9904}"/>
              </a:ext>
            </a:extLst>
          </p:cNvPr>
          <p:cNvSpPr>
            <a:spLocks noGrp="1"/>
          </p:cNvSpPr>
          <p:nvPr/>
        </p:nvSpPr>
        <p:spPr>
          <a:xfrm>
            <a:off x="4524375" y="36195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D6FB7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2D6FB7"/>
                </a:solidFill>
                <a:latin typeface="Arial Black"/>
                <a:ea typeface="Arial Black"/>
                <a:cs typeface="Arial Black"/>
              </a:rPr>
              <a:t>MULTITAREA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2AF0FA6-C039-405E-94DC-E1DA7D06067F}"/>
              </a:ext>
            </a:extLst>
          </p:cNvPr>
          <p:cNvSpPr>
            <a:spLocks noGrp="1"/>
          </p:cNvSpPr>
          <p:nvPr/>
        </p:nvSpPr>
        <p:spPr>
          <a:xfrm>
            <a:off x="4457700" y="4057650"/>
            <a:ext cx="3181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Describe programas simultáneos,</a:t>
            </a:r>
          </a:p>
          <a:p>
            <a:pPr algn="ctr">
              <a:lnSpc>
                <a:spcPct val="100000"/>
              </a:lnSpc>
              <a:buNone/>
              <a:defRPr sz="150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no cantidad de usuarios.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DF327AA-19A9-4891-8074-D00626C8768E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950" b="1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1950" b="1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MULTIUSUARIO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B78DF29-215A-429B-8869-469931DFD8E9}"/>
              </a:ext>
            </a:extLst>
          </p:cNvPr>
          <p:cNvSpPr>
            <a:spLocks noGrp="1"/>
          </p:cNvSpPr>
          <p:nvPr/>
        </p:nvSpPr>
        <p:spPr>
          <a:xfrm>
            <a:off x="7810500" y="2457450"/>
            <a:ext cx="342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6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Varios usuarios comparten recursos.</a:t>
            </a:r>
          </a:p>
          <a:p>
            <a:pPr algn="r">
              <a:lnSpc>
                <a:spcPct val="100000"/>
              </a:lnSpc>
              <a:buNone/>
              <a:defRPr sz="16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Requiere mayor control y protección.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362D3A-4B80-4DEE-A978-AA74C6B78B30}"/>
              </a:ext>
            </a:extLst>
          </p:cNvPr>
          <p:cNvSpPr>
            <a:spLocks noGrp="1"/>
          </p:cNvSpPr>
          <p:nvPr/>
        </p:nvSpPr>
        <p:spPr>
          <a:xfrm>
            <a:off x="1524000" y="5429250"/>
            <a:ext cx="914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0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La misión básica no cambia: asignar recursos y mantener separadas las actividades.</a:t>
            </a:r>
          </a:p>
        </p:txBody>
      </p:sp>
    </p:spTree>
    <p:extLst>
      <p:ext uri="{BB962C8B-B14F-4D97-AF65-F5344CB8AC3E}">
        <p14:creationId xmlns:p14="http://schemas.microsoft.com/office/powerpoint/2010/main" val="1567110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F7D79CAD-5E69-48ED-BA03-13442246D68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6 · GLOSARIO BÁSICO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6F05CF5-63E9-438A-8201-1B05CB07C50F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El vocabulario explica la ejecución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87D3AF60-FB5B-4BB8-9C0D-5FF3776D5C3B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293A2FFE-DD2F-4722-BF57-CB955AC2E31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0982728-F629-4063-AD09-CF1BCA35CA7D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6 · GLOSARIO BÁSICO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F871277-638C-473D-8619-D4496BED82F4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9DF073A-0E8A-47AC-8D44-FD44FDE69E71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0">
                <a:solidFill>
                  <a:srgbClr val="5A9BDC"/>
                </a:solidFill>
                <a:latin typeface="Arial Black"/>
                <a:ea typeface="Arial Black"/>
                <a:cs typeface="Arial Black"/>
              </a:defRPr>
            </a:pPr>
            <a:r>
              <a:rPr sz="2325" b="0">
                <a:solidFill>
                  <a:srgbClr val="5A9BDC"/>
                </a:solidFill>
                <a:latin typeface="Arial Black"/>
                <a:ea typeface="Arial Black"/>
                <a:cs typeface="Arial Black"/>
              </a:rPr>
              <a:t>EJECUCIÓN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44D2823-52F5-405A-A3FD-5D6ECD7005E0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47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38"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Una secuencia de conceptos que conecta la aplicación con el procesador.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42CAF278-29CB-4930-B84E-30F17F951DF8}"/>
              </a:ext>
            </a:extLst>
          </p:cNvPr>
          <p:cNvSpPr>
            <a:spLocks noGrp="1"/>
          </p:cNvSpPr>
          <p:nvPr/>
        </p:nvSpPr>
        <p:spPr>
          <a:xfrm>
            <a:off x="3638550" y="1695450"/>
            <a:ext cx="0" cy="4000500"/>
          </a:xfrm>
          <a:prstGeom prst="line">
            <a:avLst/>
          </a:prstGeom>
          <a:noFill/>
          <a:ln w="1905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B7DB2A3-260A-4AD1-932E-6D9D28BCB9F0}"/>
              </a:ext>
            </a:extLst>
          </p:cNvPr>
          <p:cNvSpPr>
            <a:spLocks noGrp="1"/>
          </p:cNvSpPr>
          <p:nvPr/>
        </p:nvSpPr>
        <p:spPr>
          <a:xfrm>
            <a:off x="4095750" y="15621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KERNEL / NÚCLEO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AF3336E-FC04-48FC-8C1C-66FF38DCEDC8}"/>
              </a:ext>
            </a:extLst>
          </p:cNvPr>
          <p:cNvSpPr>
            <a:spLocks noGrp="1"/>
          </p:cNvSpPr>
          <p:nvPr/>
        </p:nvSpPr>
        <p:spPr>
          <a:xfrm>
            <a:off x="7124700" y="15621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programa central que permanece activo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8F6CE438-DB87-4D5A-8DEA-CEA99CDA92BC}"/>
              </a:ext>
            </a:extLst>
          </p:cNvPr>
          <p:cNvSpPr>
            <a:spLocks noGrp="1"/>
          </p:cNvSpPr>
          <p:nvPr/>
        </p:nvSpPr>
        <p:spPr>
          <a:xfrm>
            <a:off x="4095750" y="2076450"/>
            <a:ext cx="7029450" cy="0"/>
          </a:xfrm>
          <a:prstGeom prst="line">
            <a:avLst/>
          </a:prstGeom>
          <a:noFill/>
          <a:ln w="9525">
            <a:solidFill>
              <a:srgbClr val="2235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E58742A-8BDE-4876-9586-6BC21EA1B416}"/>
              </a:ext>
            </a:extLst>
          </p:cNvPr>
          <p:cNvSpPr>
            <a:spLocks noGrp="1"/>
          </p:cNvSpPr>
          <p:nvPr/>
        </p:nvSpPr>
        <p:spPr>
          <a:xfrm>
            <a:off x="4095750" y="2286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PROCESO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5CAF585-DA13-489E-A97F-19AFAC1959F3}"/>
              </a:ext>
            </a:extLst>
          </p:cNvPr>
          <p:cNvSpPr>
            <a:spLocks noGrp="1"/>
          </p:cNvSpPr>
          <p:nvPr/>
        </p:nvSpPr>
        <p:spPr>
          <a:xfrm>
            <a:off x="7124700" y="22860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programa en ejecución con estado y recursos</a:t>
            </a:r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B628D18A-54EA-4542-88D9-913810722E53}"/>
              </a:ext>
            </a:extLst>
          </p:cNvPr>
          <p:cNvSpPr>
            <a:spLocks noGrp="1"/>
          </p:cNvSpPr>
          <p:nvPr/>
        </p:nvSpPr>
        <p:spPr>
          <a:xfrm>
            <a:off x="4095750" y="2800350"/>
            <a:ext cx="7029450" cy="0"/>
          </a:xfrm>
          <a:prstGeom prst="line">
            <a:avLst/>
          </a:prstGeom>
          <a:noFill/>
          <a:ln w="9525">
            <a:solidFill>
              <a:srgbClr val="2235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6823523-A0DB-421A-8BD6-8482A8978C5E}"/>
              </a:ext>
            </a:extLst>
          </p:cNvPr>
          <p:cNvSpPr>
            <a:spLocks noGrp="1"/>
          </p:cNvSpPr>
          <p:nvPr/>
        </p:nvSpPr>
        <p:spPr>
          <a:xfrm>
            <a:off x="4095750" y="30099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THREAD / HILO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5A5CF2D-4D16-47FE-8ED7-696E16BCF238}"/>
              </a:ext>
            </a:extLst>
          </p:cNvPr>
          <p:cNvSpPr>
            <a:spLocks noGrp="1"/>
          </p:cNvSpPr>
          <p:nvPr/>
        </p:nvSpPr>
        <p:spPr>
          <a:xfrm>
            <a:off x="7124700" y="30099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unidad de ejecución dentro de un proceso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31CBE0B9-8197-4FDF-A35D-9681B83076E7}"/>
              </a:ext>
            </a:extLst>
          </p:cNvPr>
          <p:cNvSpPr>
            <a:spLocks noGrp="1"/>
          </p:cNvSpPr>
          <p:nvPr/>
        </p:nvSpPr>
        <p:spPr>
          <a:xfrm>
            <a:off x="4095750" y="3524250"/>
            <a:ext cx="7029450" cy="0"/>
          </a:xfrm>
          <a:prstGeom prst="line">
            <a:avLst/>
          </a:prstGeom>
          <a:noFill/>
          <a:ln w="9525">
            <a:solidFill>
              <a:srgbClr val="2235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950285F-5D2F-4E8E-AEB7-87845EF98244}"/>
              </a:ext>
            </a:extLst>
          </p:cNvPr>
          <p:cNvSpPr>
            <a:spLocks noGrp="1"/>
          </p:cNvSpPr>
          <p:nvPr/>
        </p:nvSpPr>
        <p:spPr>
          <a:xfrm>
            <a:off x="4095750" y="37338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CPU SCHEDULING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C92869E-2458-4307-BC67-59376C43E680}"/>
              </a:ext>
            </a:extLst>
          </p:cNvPr>
          <p:cNvSpPr>
            <a:spLocks noGrp="1"/>
          </p:cNvSpPr>
          <p:nvPr/>
        </p:nvSpPr>
        <p:spPr>
          <a:xfrm>
            <a:off x="7124700" y="37338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selección del trabajo que usará la CPU</a:t>
            </a:r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5BC4F3F3-70BA-47A4-A9D3-FDD3A9EF133A}"/>
              </a:ext>
            </a:extLst>
          </p:cNvPr>
          <p:cNvSpPr>
            <a:spLocks noGrp="1"/>
          </p:cNvSpPr>
          <p:nvPr/>
        </p:nvSpPr>
        <p:spPr>
          <a:xfrm>
            <a:off x="4095750" y="4248150"/>
            <a:ext cx="7029450" cy="0"/>
          </a:xfrm>
          <a:prstGeom prst="line">
            <a:avLst/>
          </a:prstGeom>
          <a:noFill/>
          <a:ln w="9525">
            <a:solidFill>
              <a:srgbClr val="2235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1F2AA7B-1A52-4C8E-A1E3-15748F271DC6}"/>
              </a:ext>
            </a:extLst>
          </p:cNvPr>
          <p:cNvSpPr>
            <a:spLocks noGrp="1"/>
          </p:cNvSpPr>
          <p:nvPr/>
        </p:nvSpPr>
        <p:spPr>
          <a:xfrm>
            <a:off x="4095750" y="4457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CONTEXT SWITCH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B912F4E-F0DB-40BE-978A-F6B9BB568D4B}"/>
              </a:ext>
            </a:extLst>
          </p:cNvPr>
          <p:cNvSpPr>
            <a:spLocks noGrp="1"/>
          </p:cNvSpPr>
          <p:nvPr/>
        </p:nvSpPr>
        <p:spPr>
          <a:xfrm>
            <a:off x="7124700" y="44577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guardar un estado y restaurar otro</a:t>
            </a:r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5398D7A2-81EC-47E5-8DAE-719F76136D4D}"/>
              </a:ext>
            </a:extLst>
          </p:cNvPr>
          <p:cNvSpPr>
            <a:spLocks noGrp="1"/>
          </p:cNvSpPr>
          <p:nvPr/>
        </p:nvSpPr>
        <p:spPr>
          <a:xfrm>
            <a:off x="4095750" y="4972050"/>
            <a:ext cx="7029450" cy="0"/>
          </a:xfrm>
          <a:prstGeom prst="line">
            <a:avLst/>
          </a:prstGeom>
          <a:noFill/>
          <a:ln w="9525">
            <a:solidFill>
              <a:srgbClr val="2235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9BF298B-81DF-4BE5-AB56-86CC485E38E1}"/>
              </a:ext>
            </a:extLst>
          </p:cNvPr>
          <p:cNvSpPr>
            <a:spLocks noGrp="1"/>
          </p:cNvSpPr>
          <p:nvPr/>
        </p:nvSpPr>
        <p:spPr>
          <a:xfrm>
            <a:off x="4095750" y="51816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SYSTEM CALL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A3FB8BB-46D3-4665-83F9-3A532D6E8BF3}"/>
              </a:ext>
            </a:extLst>
          </p:cNvPr>
          <p:cNvSpPr>
            <a:spLocks noGrp="1"/>
          </p:cNvSpPr>
          <p:nvPr/>
        </p:nvSpPr>
        <p:spPr>
          <a:xfrm>
            <a:off x="7124700" y="51816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petición controlada de un servicio del núcleo</a:t>
            </a:r>
          </a:p>
        </p:txBody>
      </p:sp>
    </p:spTree>
    <p:extLst>
      <p:ext uri="{BB962C8B-B14F-4D97-AF65-F5344CB8AC3E}">
        <p14:creationId xmlns:p14="http://schemas.microsoft.com/office/powerpoint/2010/main" val="185879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B7DC3F4C-C365-4CBF-B398-7D33E0D8A89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6 · GLOSARIO BÁSICO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D4DA447-3044-4FE8-BF13-29879EF46E18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Memoria y almacenamiento tienen otro vocabulario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2285B1C1-2395-444D-B05E-48FF6E952EA6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D36D8E11-1DAE-4B0A-A751-1390BC3B39D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F295A3-56C0-4DBA-ADF4-FBCB69B0C073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6 · GLOSARIO BÁSICO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2211004-56A3-4F9F-849E-853F093499B8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C8F4EA04-29DB-418D-8AA9-BBDFF4310B39}"/>
              </a:ext>
            </a:extLst>
          </p:cNvPr>
          <p:cNvSpPr>
            <a:spLocks noGrp="1"/>
          </p:cNvSpPr>
          <p:nvPr/>
        </p:nvSpPr>
        <p:spPr>
          <a:xfrm>
            <a:off x="1143000" y="2171700"/>
            <a:ext cx="9858375" cy="0"/>
          </a:xfrm>
          <a:prstGeom prst="line">
            <a:avLst/>
          </a:prstGeom>
          <a:noFill/>
          <a:ln w="2857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D7BC553D-1D08-4632-8135-C531BE840C71}"/>
              </a:ext>
            </a:extLst>
          </p:cNvPr>
          <p:cNvSpPr>
            <a:spLocks noGrp="1"/>
          </p:cNvSpPr>
          <p:nvPr/>
        </p:nvSpPr>
        <p:spPr>
          <a:xfrm>
            <a:off x="1123950" y="2057400"/>
            <a:ext cx="209550" cy="209550"/>
          </a:xfrm>
          <a:prstGeom prst="ellipse">
            <a:avLst/>
          </a:prstGeom>
          <a:solidFill>
            <a:srgbClr val="123A61"/>
          </a:solidFill>
          <a:ln w="0">
            <a:solidFill>
              <a:srgbClr val="123A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58705CC-C515-41D1-9E21-1EC8999F811D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1666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ESPACIO DE DIRECCIONES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BD0509B-5D3A-4E34-AAF1-59DCD676E44F}"/>
              </a:ext>
            </a:extLst>
          </p:cNvPr>
          <p:cNvSpPr>
            <a:spLocks noGrp="1"/>
          </p:cNvSpPr>
          <p:nvPr/>
        </p:nvSpPr>
        <p:spPr>
          <a:xfrm>
            <a:off x="857250" y="3295650"/>
            <a:ext cx="16668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vista lógica de la memoria de un proceso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0842EBD-EC6F-480E-8C2A-B3AF61A0C97A}"/>
              </a:ext>
            </a:extLst>
          </p:cNvPr>
          <p:cNvSpPr>
            <a:spLocks noGrp="1"/>
          </p:cNvSpPr>
          <p:nvPr/>
        </p:nvSpPr>
        <p:spPr>
          <a:xfrm>
            <a:off x="2933700" y="2057400"/>
            <a:ext cx="209550" cy="209550"/>
          </a:xfrm>
          <a:prstGeom prst="ellipse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CBF3ABC-9F50-4173-85CD-FC0A922B2ABF}"/>
              </a:ext>
            </a:extLst>
          </p:cNvPr>
          <p:cNvSpPr>
            <a:spLocks noGrp="1"/>
          </p:cNvSpPr>
          <p:nvPr/>
        </p:nvSpPr>
        <p:spPr>
          <a:xfrm>
            <a:off x="2667000" y="2571750"/>
            <a:ext cx="1666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MEMORIA VIRTUAL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83C475-7A86-40F6-AB5E-EE1E0AA24B7E}"/>
              </a:ext>
            </a:extLst>
          </p:cNvPr>
          <p:cNvSpPr>
            <a:spLocks noGrp="1"/>
          </p:cNvSpPr>
          <p:nvPr/>
        </p:nvSpPr>
        <p:spPr>
          <a:xfrm>
            <a:off x="2667000" y="3295650"/>
            <a:ext cx="16668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separa la memoria lógica de la física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F25FE60-2C90-4ADC-8C55-AD1D214E183F}"/>
              </a:ext>
            </a:extLst>
          </p:cNvPr>
          <p:cNvSpPr>
            <a:spLocks noGrp="1"/>
          </p:cNvSpPr>
          <p:nvPr/>
        </p:nvSpPr>
        <p:spPr>
          <a:xfrm>
            <a:off x="4743450" y="2057400"/>
            <a:ext cx="209550" cy="209550"/>
          </a:xfrm>
          <a:prstGeom prst="ellipse">
            <a:avLst/>
          </a:prstGeom>
          <a:solidFill>
            <a:srgbClr val="123A61"/>
          </a:solidFill>
          <a:ln w="0">
            <a:solidFill>
              <a:srgbClr val="123A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EDCC41C-9107-4B81-B307-7459DC76B3D1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1666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E/S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D23780B-C736-4CD4-AECA-0F5A192FB841}"/>
              </a:ext>
            </a:extLst>
          </p:cNvPr>
          <p:cNvSpPr>
            <a:spLocks noGrp="1"/>
          </p:cNvSpPr>
          <p:nvPr/>
        </p:nvSpPr>
        <p:spPr>
          <a:xfrm>
            <a:off x="4476750" y="3295650"/>
            <a:ext cx="16668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intercambio con dispositivos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CABCF30-8F38-4F2F-87E1-F00F07320F8E}"/>
              </a:ext>
            </a:extLst>
          </p:cNvPr>
          <p:cNvSpPr>
            <a:spLocks noGrp="1"/>
          </p:cNvSpPr>
          <p:nvPr/>
        </p:nvSpPr>
        <p:spPr>
          <a:xfrm>
            <a:off x="6553200" y="2057400"/>
            <a:ext cx="209550" cy="209550"/>
          </a:xfrm>
          <a:prstGeom prst="ellipse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03091CE-9638-4B72-BC33-7C200F149464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1666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DEVICE DRIVER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13E3823-EFD4-49C0-AE85-19C5121F1517}"/>
              </a:ext>
            </a:extLst>
          </p:cNvPr>
          <p:cNvSpPr>
            <a:spLocks noGrp="1"/>
          </p:cNvSpPr>
          <p:nvPr/>
        </p:nvSpPr>
        <p:spPr>
          <a:xfrm>
            <a:off x="6286500" y="3295650"/>
            <a:ext cx="16668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traduce una interfaz uniforme al dispositivo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60A3789E-29E1-4AB8-B373-571980D48834}"/>
              </a:ext>
            </a:extLst>
          </p:cNvPr>
          <p:cNvSpPr>
            <a:spLocks noGrp="1"/>
          </p:cNvSpPr>
          <p:nvPr/>
        </p:nvSpPr>
        <p:spPr>
          <a:xfrm>
            <a:off x="8362950" y="2057400"/>
            <a:ext cx="209550" cy="209550"/>
          </a:xfrm>
          <a:prstGeom prst="ellipse">
            <a:avLst/>
          </a:prstGeom>
          <a:solidFill>
            <a:srgbClr val="123A61"/>
          </a:solidFill>
          <a:ln w="0">
            <a:solidFill>
              <a:srgbClr val="123A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38F8298-5558-4327-9E2D-45CD0512D6D9}"/>
              </a:ext>
            </a:extLst>
          </p:cNvPr>
          <p:cNvSpPr>
            <a:spLocks noGrp="1"/>
          </p:cNvSpPr>
          <p:nvPr/>
        </p:nvSpPr>
        <p:spPr>
          <a:xfrm>
            <a:off x="8096250" y="2571750"/>
            <a:ext cx="1666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SISTEMA DE ARCHIVOS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BCCB216-B735-436B-B9A8-61EBAFBDA74C}"/>
              </a:ext>
            </a:extLst>
          </p:cNvPr>
          <p:cNvSpPr>
            <a:spLocks noGrp="1"/>
          </p:cNvSpPr>
          <p:nvPr/>
        </p:nvSpPr>
        <p:spPr>
          <a:xfrm>
            <a:off x="8096250" y="3295650"/>
            <a:ext cx="16668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organiza y recupera datos persistentes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D161CE7-D185-4928-89A8-8C66053F673D}"/>
              </a:ext>
            </a:extLst>
          </p:cNvPr>
          <p:cNvSpPr>
            <a:spLocks noGrp="1"/>
          </p:cNvSpPr>
          <p:nvPr/>
        </p:nvSpPr>
        <p:spPr>
          <a:xfrm>
            <a:off x="10172700" y="2057400"/>
            <a:ext cx="209550" cy="209550"/>
          </a:xfrm>
          <a:prstGeom prst="ellipse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01DD94A-66DD-4A4D-8FDA-14996789A329}"/>
              </a:ext>
            </a:extLst>
          </p:cNvPr>
          <p:cNvSpPr>
            <a:spLocks noGrp="1"/>
          </p:cNvSpPr>
          <p:nvPr/>
        </p:nvSpPr>
        <p:spPr>
          <a:xfrm>
            <a:off x="9906000" y="2571750"/>
            <a:ext cx="1666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PROTECCIÓN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A952BA9-3234-4218-88E8-6519727B9612}"/>
              </a:ext>
            </a:extLst>
          </p:cNvPr>
          <p:cNvSpPr>
            <a:spLocks noGrp="1"/>
          </p:cNvSpPr>
          <p:nvPr/>
        </p:nvSpPr>
        <p:spPr>
          <a:xfrm>
            <a:off x="9906000" y="3295650"/>
            <a:ext cx="16668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controla el acceso a recursos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2C75327-7C82-431D-8D0E-6BBC3CE1F5A0}"/>
              </a:ext>
            </a:extLst>
          </p:cNvPr>
          <p:cNvSpPr>
            <a:spLocks noGrp="1"/>
          </p:cNvSpPr>
          <p:nvPr/>
        </p:nvSpPr>
        <p:spPr>
          <a:xfrm>
            <a:off x="1428750" y="5391150"/>
            <a:ext cx="933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35"/>
          </a:bodyPr>
          <a:lstStyle/>
          <a:p>
            <a:pPr algn="ctr">
              <a:lnSpc>
                <a:spcPct val="100000"/>
              </a:lnSpc>
              <a:buNone/>
              <a:defRPr sz="1800" b="0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Los términos describen cómo el sistema abstrae, conserva y limita el uso de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52656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F3007366-C0F5-44F3-B5A8-1D41085FA3C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7 · PARTES DEL SISTEMA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DB3717E-93CC-4C8A-9B9D-183629061EAC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El núcleo es el centro, pero no es todo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A647C86F-29F2-4436-A8B8-DF8C965EA778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72FE13E1-DDFC-44FE-8C1B-E4399D21955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EB73736-41F0-4B6D-BBCA-E542E9C94E62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7 · PARTES DEL SISTEMA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E44C34-70FF-4EED-8BA4-7F0903DDFB3F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CF14327-C9C1-4E1B-95A7-C05E7BA68693}"/>
              </a:ext>
            </a:extLst>
          </p:cNvPr>
          <p:cNvSpPr>
            <a:spLocks noGrp="1"/>
          </p:cNvSpPr>
          <p:nvPr/>
        </p:nvSpPr>
        <p:spPr>
          <a:xfrm>
            <a:off x="1619250" y="1847850"/>
            <a:ext cx="8953500" cy="590550"/>
          </a:xfrm>
          <a:prstGeom prst="rect">
            <a:avLst/>
          </a:prstGeom>
          <a:solidFill>
            <a:srgbClr val="17283A"/>
          </a:solidFill>
          <a:ln w="9525">
            <a:solidFill>
              <a:srgbClr val="31506C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INTERFACES Y APLICACIONES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0A8DDC-3006-4047-8FC1-8AAE01E39BA1}"/>
              </a:ext>
            </a:extLst>
          </p:cNvPr>
          <p:cNvSpPr>
            <a:spLocks noGrp="1"/>
          </p:cNvSpPr>
          <p:nvPr/>
        </p:nvSpPr>
        <p:spPr>
          <a:xfrm>
            <a:off x="2095500" y="2609850"/>
            <a:ext cx="8001000" cy="666750"/>
          </a:xfrm>
          <a:prstGeom prst="rect">
            <a:avLst/>
          </a:prstGeom>
          <a:solidFill>
            <a:srgbClr val="123A61"/>
          </a:solidFill>
          <a:ln w="9525">
            <a:solidFill>
              <a:srgbClr val="31506C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PROGRAMAS DE SISTEMA + MIDDLEWARE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9951813-54BF-4C3E-85BA-74863B483A76}"/>
              </a:ext>
            </a:extLst>
          </p:cNvPr>
          <p:cNvSpPr>
            <a:spLocks noGrp="1"/>
          </p:cNvSpPr>
          <p:nvPr/>
        </p:nvSpPr>
        <p:spPr>
          <a:xfrm>
            <a:off x="2571750" y="3448050"/>
            <a:ext cx="7048500" cy="590550"/>
          </a:xfrm>
          <a:prstGeom prst="rect">
            <a:avLst/>
          </a:prstGeom>
          <a:solidFill>
            <a:srgbClr val="2D6FB7"/>
          </a:solidFill>
          <a:ln w="9525">
            <a:solidFill>
              <a:srgbClr val="31506C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INTERFAZ DE LLAMADAS AL SISTEMA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8DE501F-6E51-4A64-AB7C-582890E8D003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715000" cy="781050"/>
          </a:xfrm>
          <a:prstGeom prst="rect">
            <a:avLst/>
          </a:prstGeom>
          <a:solidFill>
            <a:srgbClr val="215D92"/>
          </a:solidFill>
          <a:ln w="9525">
            <a:solidFill>
              <a:srgbClr val="31506C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KERNEL / NÚCLEO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454BBB6-97B6-4F8A-A577-8C40BEE92365}"/>
              </a:ext>
            </a:extLst>
          </p:cNvPr>
          <p:cNvSpPr>
            <a:spLocks noGrp="1"/>
          </p:cNvSpPr>
          <p:nvPr/>
        </p:nvSpPr>
        <p:spPr>
          <a:xfrm>
            <a:off x="3905250" y="5162550"/>
            <a:ext cx="4381500" cy="590550"/>
          </a:xfrm>
          <a:prstGeom prst="rect">
            <a:avLst/>
          </a:prstGeom>
          <a:solidFill>
            <a:srgbClr val="101820"/>
          </a:solidFill>
          <a:ln w="9525">
            <a:solidFill>
              <a:srgbClr val="31506C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HARDWARE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EBF8ECA-11AE-44DC-B839-11913169759E}"/>
              </a:ext>
            </a:extLst>
          </p:cNvPr>
          <p:cNvSpPr>
            <a:spLocks noGrp="1"/>
          </p:cNvSpPr>
          <p:nvPr/>
        </p:nvSpPr>
        <p:spPr>
          <a:xfrm>
            <a:off x="9067800" y="44386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siempre activo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09D06A6C-63A0-46F2-B9AF-1283EA0EEB72}"/>
              </a:ext>
            </a:extLst>
          </p:cNvPr>
          <p:cNvSpPr>
            <a:spLocks noGrp="1"/>
          </p:cNvSpPr>
          <p:nvPr/>
        </p:nvSpPr>
        <p:spPr>
          <a:xfrm>
            <a:off x="8877300" y="4581525"/>
            <a:ext cx="171450" cy="0"/>
          </a:xfrm>
          <a:prstGeom prst="line">
            <a:avLst/>
          </a:prstGeom>
          <a:noFill/>
          <a:ln w="19050">
            <a:solidFill>
              <a:srgbClr val="5A9B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0387691-C7F6-4CA2-8F5E-1307C664D282}"/>
              </a:ext>
            </a:extLst>
          </p:cNvPr>
          <p:cNvSpPr>
            <a:spLocks noGrp="1"/>
          </p:cNvSpPr>
          <p:nvPr/>
        </p:nvSpPr>
        <p:spPr>
          <a:xfrm>
            <a:off x="704850" y="5848350"/>
            <a:ext cx="876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Las capas superiores extienden los servicios y ofrecen formas de interacción.</a:t>
            </a:r>
          </a:p>
        </p:txBody>
      </p:sp>
    </p:spTree>
    <p:extLst>
      <p:ext uri="{BB962C8B-B14F-4D97-AF65-F5344CB8AC3E}">
        <p14:creationId xmlns:p14="http://schemas.microsoft.com/office/powerpoint/2010/main" val="865556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77D2740F-3EBC-449B-9E94-C3DF5C7B70A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7 · PARTES DEL SISTEMA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71FF0B6-9689-4CB4-8DCE-0070324262F6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La arquitectura organiza el núcleo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7DFA3757-AC1C-46ED-9BBB-33883D9F2918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B9A47D4A-71B8-4682-BAD3-DBDC18B6111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3B7F0B-6DCB-4341-8090-47AB1247E621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7 · PARTES DEL SISTEMA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F6FEF50-88D1-448D-961B-C9477A82BF64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481D4E9-7DE7-4B2A-9989-879C7EA0A9BE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876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619"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Las funciones pueden concentrarse, separarse por capas o incorporarse mediante módulos.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DDC34D1-DB6D-4BF2-8F30-86F9169618CA}"/>
              </a:ext>
            </a:extLst>
          </p:cNvPr>
          <p:cNvSpPr>
            <a:spLocks noGrp="1"/>
          </p:cNvSpPr>
          <p:nvPr/>
        </p:nvSpPr>
        <p:spPr>
          <a:xfrm>
            <a:off x="647700" y="20574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MONOLÍTICA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415ECF-2A06-4E99-9B87-ABB1B698B26E}"/>
              </a:ext>
            </a:extLst>
          </p:cNvPr>
          <p:cNvSpPr>
            <a:spLocks noGrp="1"/>
          </p:cNvSpPr>
          <p:nvPr/>
        </p:nvSpPr>
        <p:spPr>
          <a:xfrm>
            <a:off x="914400" y="2705100"/>
            <a:ext cx="1276350" cy="2000250"/>
          </a:xfrm>
          <a:prstGeom prst="rect">
            <a:avLst/>
          </a:prstGeom>
          <a:solidFill>
            <a:srgbClr val="123A61"/>
          </a:solidFill>
          <a:ln w="0">
            <a:solidFill>
              <a:srgbClr val="123A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D213ACE-1ABF-4E23-82B6-6CC58A1C404D}"/>
              </a:ext>
            </a:extLst>
          </p:cNvPr>
          <p:cNvSpPr>
            <a:spLocks noGrp="1"/>
          </p:cNvSpPr>
          <p:nvPr/>
        </p:nvSpPr>
        <p:spPr>
          <a:xfrm>
            <a:off x="1009650" y="3295650"/>
            <a:ext cx="1085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servicios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en un espacio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051EA5C-85C3-4B57-9113-AD7129C3A74F}"/>
              </a:ext>
            </a:extLst>
          </p:cNvPr>
          <p:cNvSpPr>
            <a:spLocks noGrp="1"/>
          </p:cNvSpPr>
          <p:nvPr/>
        </p:nvSpPr>
        <p:spPr>
          <a:xfrm>
            <a:off x="647700" y="5086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simple y directa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5E4ADCE-6306-4F4F-9604-A477BF69A0FB}"/>
              </a:ext>
            </a:extLst>
          </p:cNvPr>
          <p:cNvSpPr>
            <a:spLocks noGrp="1"/>
          </p:cNvSpPr>
          <p:nvPr/>
        </p:nvSpPr>
        <p:spPr>
          <a:xfrm>
            <a:off x="2952750" y="20574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POR CAPAS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72BA559-72E5-42D6-BBCB-09DAD95460B9}"/>
              </a:ext>
            </a:extLst>
          </p:cNvPr>
          <p:cNvSpPr>
            <a:spLocks noGrp="1"/>
          </p:cNvSpPr>
          <p:nvPr/>
        </p:nvSpPr>
        <p:spPr>
          <a:xfrm>
            <a:off x="3181350" y="2705100"/>
            <a:ext cx="1352550" cy="400050"/>
          </a:xfrm>
          <a:prstGeom prst="rect">
            <a:avLst/>
          </a:prstGeom>
          <a:solidFill>
            <a:srgbClr val="DCEAF7"/>
          </a:solidFill>
          <a:ln w="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DFC2599-5CE7-45EA-8B36-52B03AB2473D}"/>
              </a:ext>
            </a:extLst>
          </p:cNvPr>
          <p:cNvSpPr>
            <a:spLocks noGrp="1"/>
          </p:cNvSpPr>
          <p:nvPr/>
        </p:nvSpPr>
        <p:spPr>
          <a:xfrm>
            <a:off x="3181350" y="3200400"/>
            <a:ext cx="1352550" cy="400050"/>
          </a:xfrm>
          <a:prstGeom prst="rect">
            <a:avLst/>
          </a:prstGeom>
          <a:solidFill>
            <a:srgbClr val="AFCDEA"/>
          </a:solidFill>
          <a:ln w="0">
            <a:solidFill>
              <a:srgbClr val="AFCD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15705B-9F98-41CB-9879-65C385FA1A14}"/>
              </a:ext>
            </a:extLst>
          </p:cNvPr>
          <p:cNvSpPr>
            <a:spLocks noGrp="1"/>
          </p:cNvSpPr>
          <p:nvPr/>
        </p:nvSpPr>
        <p:spPr>
          <a:xfrm>
            <a:off x="3181350" y="3695700"/>
            <a:ext cx="1352550" cy="400050"/>
          </a:xfrm>
          <a:prstGeom prst="rect">
            <a:avLst/>
          </a:prstGeom>
          <a:solidFill>
            <a:srgbClr val="78A9D5"/>
          </a:solidFill>
          <a:ln w="0">
            <a:solidFill>
              <a:srgbClr val="78A9D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2C1C3E4-F66A-42AE-ADEA-04C8C69DFBFF}"/>
              </a:ext>
            </a:extLst>
          </p:cNvPr>
          <p:cNvSpPr>
            <a:spLocks noGrp="1"/>
          </p:cNvSpPr>
          <p:nvPr/>
        </p:nvSpPr>
        <p:spPr>
          <a:xfrm>
            <a:off x="3181350" y="4191000"/>
            <a:ext cx="1352550" cy="400050"/>
          </a:xfrm>
          <a:prstGeom prst="rect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AD2C012-B283-44ED-8182-0AB18D202EA8}"/>
              </a:ext>
            </a:extLst>
          </p:cNvPr>
          <p:cNvSpPr>
            <a:spLocks noGrp="1"/>
          </p:cNvSpPr>
          <p:nvPr/>
        </p:nvSpPr>
        <p:spPr>
          <a:xfrm>
            <a:off x="2952750" y="5086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dependencias explícitas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875C5AD-405F-451E-8D5C-F501FF6FA6C2}"/>
              </a:ext>
            </a:extLst>
          </p:cNvPr>
          <p:cNvSpPr>
            <a:spLocks noGrp="1"/>
          </p:cNvSpPr>
          <p:nvPr/>
        </p:nvSpPr>
        <p:spPr>
          <a:xfrm>
            <a:off x="5257800" y="20574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MICRONÚCLEO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3A5A49F-1A78-41E2-9CDC-873D13788066}"/>
              </a:ext>
            </a:extLst>
          </p:cNvPr>
          <p:cNvSpPr>
            <a:spLocks noGrp="1"/>
          </p:cNvSpPr>
          <p:nvPr/>
        </p:nvSpPr>
        <p:spPr>
          <a:xfrm>
            <a:off x="5562600" y="4210050"/>
            <a:ext cx="1200150" cy="495300"/>
          </a:xfrm>
          <a:prstGeom prst="rect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mínimo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7061F08-36A9-4B0F-AF20-35FCA8582544}"/>
              </a:ext>
            </a:extLst>
          </p:cNvPr>
          <p:cNvSpPr>
            <a:spLocks noGrp="1"/>
          </p:cNvSpPr>
          <p:nvPr/>
        </p:nvSpPr>
        <p:spPr>
          <a:xfrm>
            <a:off x="5429250" y="2857500"/>
            <a:ext cx="457200" cy="876300"/>
          </a:xfrm>
          <a:prstGeom prst="rect">
            <a:avLst/>
          </a:prstGeom>
          <a:solidFill>
            <a:srgbClr val="B8D2EA"/>
          </a:solidFill>
          <a:ln w="0">
            <a:solidFill>
              <a:srgbClr val="B8D2EA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D039415-1F52-4EA4-9FCB-8E78D4B4FEFF}"/>
              </a:ext>
            </a:extLst>
          </p:cNvPr>
          <p:cNvSpPr>
            <a:spLocks noGrp="1"/>
          </p:cNvSpPr>
          <p:nvPr/>
        </p:nvSpPr>
        <p:spPr>
          <a:xfrm>
            <a:off x="5962650" y="2857500"/>
            <a:ext cx="457200" cy="876300"/>
          </a:xfrm>
          <a:prstGeom prst="rect">
            <a:avLst/>
          </a:prstGeom>
          <a:solidFill>
            <a:srgbClr val="DCEAF7"/>
          </a:solidFill>
          <a:ln w="0">
            <a:solidFill>
              <a:srgbClr val="DCEAF7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6F0F0BC-4B10-4F46-B078-1E482BDC78BF}"/>
              </a:ext>
            </a:extLst>
          </p:cNvPr>
          <p:cNvSpPr>
            <a:spLocks noGrp="1"/>
          </p:cNvSpPr>
          <p:nvPr/>
        </p:nvSpPr>
        <p:spPr>
          <a:xfrm>
            <a:off x="6496050" y="2857500"/>
            <a:ext cx="457200" cy="876300"/>
          </a:xfrm>
          <a:prstGeom prst="rect">
            <a:avLst/>
          </a:prstGeom>
          <a:solidFill>
            <a:srgbClr val="B8D2EA"/>
          </a:solidFill>
          <a:ln w="0">
            <a:solidFill>
              <a:srgbClr val="B8D2EA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91320BA-A77D-4374-936E-882848CE34B1}"/>
              </a:ext>
            </a:extLst>
          </p:cNvPr>
          <p:cNvSpPr>
            <a:spLocks noGrp="1"/>
          </p:cNvSpPr>
          <p:nvPr/>
        </p:nvSpPr>
        <p:spPr>
          <a:xfrm>
            <a:off x="5257800" y="5086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servicios fuera del núcleo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21208B3-9222-4FB6-9595-0A566552C4B8}"/>
              </a:ext>
            </a:extLst>
          </p:cNvPr>
          <p:cNvSpPr>
            <a:spLocks noGrp="1"/>
          </p:cNvSpPr>
          <p:nvPr/>
        </p:nvSpPr>
        <p:spPr>
          <a:xfrm>
            <a:off x="7562850" y="20574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MODULAR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FA0D478-E4CA-44EB-9403-342C7CBA3760}"/>
              </a:ext>
            </a:extLst>
          </p:cNvPr>
          <p:cNvSpPr>
            <a:spLocks noGrp="1"/>
          </p:cNvSpPr>
          <p:nvPr/>
        </p:nvSpPr>
        <p:spPr>
          <a:xfrm>
            <a:off x="8058150" y="3476625"/>
            <a:ext cx="819150" cy="1162050"/>
          </a:xfrm>
          <a:prstGeom prst="rect">
            <a:avLst/>
          </a:prstGeom>
          <a:solidFill>
            <a:srgbClr val="123A61"/>
          </a:solidFill>
          <a:ln w="0">
            <a:solidFill>
              <a:srgbClr val="123A61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7C9FECB-3F47-4774-8803-0C53537FACC3}"/>
              </a:ext>
            </a:extLst>
          </p:cNvPr>
          <p:cNvSpPr>
            <a:spLocks noGrp="1"/>
          </p:cNvSpPr>
          <p:nvPr/>
        </p:nvSpPr>
        <p:spPr>
          <a:xfrm>
            <a:off x="7562850" y="2857500"/>
            <a:ext cx="552450" cy="552450"/>
          </a:xfrm>
          <a:prstGeom prst="rect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8965BF2-0C3A-4C90-A394-C63335644E4C}"/>
              </a:ext>
            </a:extLst>
          </p:cNvPr>
          <p:cNvSpPr>
            <a:spLocks noGrp="1"/>
          </p:cNvSpPr>
          <p:nvPr/>
        </p:nvSpPr>
        <p:spPr>
          <a:xfrm>
            <a:off x="8820150" y="2857500"/>
            <a:ext cx="552450" cy="552450"/>
          </a:xfrm>
          <a:prstGeom prst="rect">
            <a:avLst/>
          </a:prstGeom>
          <a:solidFill>
            <a:srgbClr val="5A9BDC"/>
          </a:solidFill>
          <a:ln w="0">
            <a:solidFill>
              <a:srgbClr val="5A9BDC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1974A88-498F-4090-BEFE-7ED71E807135}"/>
              </a:ext>
            </a:extLst>
          </p:cNvPr>
          <p:cNvSpPr>
            <a:spLocks noGrp="1"/>
          </p:cNvSpPr>
          <p:nvPr/>
        </p:nvSpPr>
        <p:spPr>
          <a:xfrm>
            <a:off x="7562850" y="3962400"/>
            <a:ext cx="552450" cy="552450"/>
          </a:xfrm>
          <a:prstGeom prst="rect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919984D-A17E-4546-B135-8CD3D4B8997E}"/>
              </a:ext>
            </a:extLst>
          </p:cNvPr>
          <p:cNvSpPr>
            <a:spLocks noGrp="1"/>
          </p:cNvSpPr>
          <p:nvPr/>
        </p:nvSpPr>
        <p:spPr>
          <a:xfrm>
            <a:off x="8820150" y="3962400"/>
            <a:ext cx="552450" cy="552450"/>
          </a:xfrm>
          <a:prstGeom prst="rect">
            <a:avLst/>
          </a:prstGeom>
          <a:solidFill>
            <a:srgbClr val="5A9BDC"/>
          </a:solidFill>
          <a:ln w="0">
            <a:solidFill>
              <a:srgbClr val="5A9BDC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67696E4-4847-4F83-A44B-4B12298A319C}"/>
              </a:ext>
            </a:extLst>
          </p:cNvPr>
          <p:cNvSpPr>
            <a:spLocks noGrp="1"/>
          </p:cNvSpPr>
          <p:nvPr/>
        </p:nvSpPr>
        <p:spPr>
          <a:xfrm>
            <a:off x="7562850" y="5086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extensible en ejecución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778FC0E-DF85-4BBC-83E6-93A1E4A6BCA8}"/>
              </a:ext>
            </a:extLst>
          </p:cNvPr>
          <p:cNvSpPr>
            <a:spLocks noGrp="1"/>
          </p:cNvSpPr>
          <p:nvPr/>
        </p:nvSpPr>
        <p:spPr>
          <a:xfrm>
            <a:off x="9867900" y="20574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HÍBRIDA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3FFBB24-A303-4994-B9A8-D0A6C106957D}"/>
              </a:ext>
            </a:extLst>
          </p:cNvPr>
          <p:cNvSpPr>
            <a:spLocks noGrp="1"/>
          </p:cNvSpPr>
          <p:nvPr/>
        </p:nvSpPr>
        <p:spPr>
          <a:xfrm>
            <a:off x="10096500" y="2857500"/>
            <a:ext cx="1352550" cy="495300"/>
          </a:xfrm>
          <a:prstGeom prst="rect">
            <a:avLst/>
          </a:prstGeom>
          <a:solidFill>
            <a:srgbClr val="DCEAF7"/>
          </a:solidFill>
          <a:ln w="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3D7140E-8A80-459D-BB84-D8662F9235D2}"/>
              </a:ext>
            </a:extLst>
          </p:cNvPr>
          <p:cNvSpPr>
            <a:spLocks noGrp="1"/>
          </p:cNvSpPr>
          <p:nvPr/>
        </p:nvSpPr>
        <p:spPr>
          <a:xfrm>
            <a:off x="10248900" y="3467100"/>
            <a:ext cx="1047750" cy="495300"/>
          </a:xfrm>
          <a:prstGeom prst="rect">
            <a:avLst/>
          </a:prstGeom>
          <a:solidFill>
            <a:srgbClr val="5A9BDC"/>
          </a:solidFill>
          <a:ln w="0">
            <a:solidFill>
              <a:srgbClr val="5A9B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F8F1105-8CF9-4431-973A-880D9067C8AE}"/>
              </a:ext>
            </a:extLst>
          </p:cNvPr>
          <p:cNvSpPr>
            <a:spLocks noGrp="1"/>
          </p:cNvSpPr>
          <p:nvPr/>
        </p:nvSpPr>
        <p:spPr>
          <a:xfrm>
            <a:off x="10401300" y="4076700"/>
            <a:ext cx="742950" cy="495300"/>
          </a:xfrm>
          <a:prstGeom prst="rect">
            <a:avLst/>
          </a:prstGeom>
          <a:solidFill>
            <a:srgbClr val="123A61"/>
          </a:solidFill>
          <a:ln w="0">
            <a:solidFill>
              <a:srgbClr val="123A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F8A8B48-4693-4B14-8F69-E8BAB66A3D6B}"/>
              </a:ext>
            </a:extLst>
          </p:cNvPr>
          <p:cNvSpPr>
            <a:spLocks noGrp="1"/>
          </p:cNvSpPr>
          <p:nvPr/>
        </p:nvSpPr>
        <p:spPr>
          <a:xfrm>
            <a:off x="10382250" y="4476750"/>
            <a:ext cx="781050" cy="32385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6D840358-04DE-48CD-B8ED-30A3A1DC649A}"/>
              </a:ext>
            </a:extLst>
          </p:cNvPr>
          <p:cNvSpPr>
            <a:spLocks noGrp="1"/>
          </p:cNvSpPr>
          <p:nvPr/>
        </p:nvSpPr>
        <p:spPr>
          <a:xfrm>
            <a:off x="9867900" y="5086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combina enfoques</a:t>
            </a:r>
          </a:p>
        </p:txBody>
      </p:sp>
    </p:spTree>
    <p:extLst>
      <p:ext uri="{BB962C8B-B14F-4D97-AF65-F5344CB8AC3E}">
        <p14:creationId xmlns:p14="http://schemas.microsoft.com/office/powerpoint/2010/main" val="271570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4472FB81-D93D-4AF2-AF18-7B15604FC56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8 · PARTES DE GESTIÓN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1BF2BE-63BC-4947-8027-6964FF170A59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Gestionar es registrar, asignar y proteger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90A37254-6F46-4212-86FE-24E5F46CAF2F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FCCD9763-6414-49C0-BB9D-9239887CA49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9FF5516-3D4D-4815-A31D-B246E69A901E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8 · PARTES DE GESTIÓN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1CA8268-8D88-4855-87E2-AD283F6FE71E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ABF03E0-1FB2-499E-9D41-FE5B41DE4ADC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PROCESOS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949DBDD2-54EB-4B66-87F5-545ADF1F7280}"/>
              </a:ext>
            </a:extLst>
          </p:cNvPr>
          <p:cNvSpPr>
            <a:spLocks noGrp="1"/>
          </p:cNvSpPr>
          <p:nvPr/>
        </p:nvSpPr>
        <p:spPr>
          <a:xfrm>
            <a:off x="3638550" y="1876425"/>
            <a:ext cx="1047750" cy="0"/>
          </a:xfrm>
          <a:prstGeom prst="line">
            <a:avLst/>
          </a:prstGeom>
          <a:noFill/>
          <a:ln w="19050">
            <a:solidFill>
              <a:srgbClr val="31536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960C629-DF1B-4CAA-A131-E6DC531053CB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crear · planificar · comunicar</a:t>
            </a:r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2A9A5126-0A3A-4758-B9B8-17207ABCC3DA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10058400" cy="0"/>
          </a:xfrm>
          <a:prstGeom prst="line">
            <a:avLst/>
          </a:prstGeom>
          <a:noFill/>
          <a:ln w="9525">
            <a:solidFill>
              <a:srgbClr val="20324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346AE1-A5F3-4E69-82EA-6FEC62C31AC4}"/>
              </a:ext>
            </a:extLst>
          </p:cNvPr>
          <p:cNvSpPr>
            <a:spLocks noGrp="1"/>
          </p:cNvSpPr>
          <p:nvPr/>
        </p:nvSpPr>
        <p:spPr>
          <a:xfrm>
            <a:off x="800100" y="24955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MEMORIA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FF00D214-0258-4F41-9ACC-D949D0F89E28}"/>
              </a:ext>
            </a:extLst>
          </p:cNvPr>
          <p:cNvSpPr>
            <a:spLocks noGrp="1"/>
          </p:cNvSpPr>
          <p:nvPr/>
        </p:nvSpPr>
        <p:spPr>
          <a:xfrm>
            <a:off x="3638550" y="2657475"/>
            <a:ext cx="1047750" cy="0"/>
          </a:xfrm>
          <a:prstGeom prst="line">
            <a:avLst/>
          </a:prstGeom>
          <a:noFill/>
          <a:ln w="19050">
            <a:solidFill>
              <a:srgbClr val="31536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0BCCCFE-22E2-4BC0-94EB-3FC51A71AAB0}"/>
              </a:ext>
            </a:extLst>
          </p:cNvPr>
          <p:cNvSpPr>
            <a:spLocks noGrp="1"/>
          </p:cNvSpPr>
          <p:nvPr/>
        </p:nvSpPr>
        <p:spPr>
          <a:xfrm>
            <a:off x="4953000" y="2476500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registrar · asignar · liberar</a:t>
            </a:r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A08813BB-A757-4225-B72C-0431F0A206D0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10058400" cy="0"/>
          </a:xfrm>
          <a:prstGeom prst="line">
            <a:avLst/>
          </a:prstGeom>
          <a:noFill/>
          <a:ln w="9525">
            <a:solidFill>
              <a:srgbClr val="20324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A8F11AC-4C51-4383-9789-F97B863A50B7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ARCHIVOS</a:t>
            </a:r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631C86C8-D8C0-4D97-A4F8-740C8A9ED243}"/>
              </a:ext>
            </a:extLst>
          </p:cNvPr>
          <p:cNvSpPr>
            <a:spLocks noGrp="1"/>
          </p:cNvSpPr>
          <p:nvPr/>
        </p:nvSpPr>
        <p:spPr>
          <a:xfrm>
            <a:off x="3638550" y="3438525"/>
            <a:ext cx="1047750" cy="0"/>
          </a:xfrm>
          <a:prstGeom prst="line">
            <a:avLst/>
          </a:prstGeom>
          <a:noFill/>
          <a:ln w="19050">
            <a:solidFill>
              <a:srgbClr val="31536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A74BFD9-172F-4BCF-B42D-EA320AA765F0}"/>
              </a:ext>
            </a:extLst>
          </p:cNvPr>
          <p:cNvSpPr>
            <a:spLocks noGrp="1"/>
          </p:cNvSpPr>
          <p:nvPr/>
        </p:nvSpPr>
        <p:spPr>
          <a:xfrm>
            <a:off x="4953000" y="3257550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nombrar · organizar · proteger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A0147FF3-3B76-4460-83DE-943720639481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10058400" cy="0"/>
          </a:xfrm>
          <a:prstGeom prst="line">
            <a:avLst/>
          </a:prstGeom>
          <a:noFill/>
          <a:ln w="9525">
            <a:solidFill>
              <a:srgbClr val="20324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3B61437-7869-4B33-A98D-96313E73E6D6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E/S</a:t>
            </a:r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3AF9BBC2-40EB-4F09-9BB0-4A73E026BD5C}"/>
              </a:ext>
            </a:extLst>
          </p:cNvPr>
          <p:cNvSpPr>
            <a:spLocks noGrp="1"/>
          </p:cNvSpPr>
          <p:nvPr/>
        </p:nvSpPr>
        <p:spPr>
          <a:xfrm>
            <a:off x="3638550" y="4219575"/>
            <a:ext cx="1047750" cy="0"/>
          </a:xfrm>
          <a:prstGeom prst="line">
            <a:avLst/>
          </a:prstGeom>
          <a:noFill/>
          <a:ln w="19050">
            <a:solidFill>
              <a:srgbClr val="31536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6E17C2-6E3E-402F-A05D-E1495C6C3E44}"/>
              </a:ext>
            </a:extLst>
          </p:cNvPr>
          <p:cNvSpPr>
            <a:spLocks noGrp="1"/>
          </p:cNvSpPr>
          <p:nvPr/>
        </p:nvSpPr>
        <p:spPr>
          <a:xfrm>
            <a:off x="4953000" y="4038600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abstraer · transferir · coordinar</a:t>
            </a:r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DE6E8EE0-B455-4D0D-9ED5-8E3F3D9B569E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10058400" cy="0"/>
          </a:xfrm>
          <a:prstGeom prst="line">
            <a:avLst/>
          </a:prstGeom>
          <a:noFill/>
          <a:ln w="9525">
            <a:solidFill>
              <a:srgbClr val="20324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EC9CBD4-0D98-41C6-ADB1-FC01DD2BAE85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ALMACENAMIENTO</a:t>
            </a:r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5B7BBBA4-5CB3-4FD3-A380-D4EE036FCC32}"/>
              </a:ext>
            </a:extLst>
          </p:cNvPr>
          <p:cNvSpPr>
            <a:spLocks noGrp="1"/>
          </p:cNvSpPr>
          <p:nvPr/>
        </p:nvSpPr>
        <p:spPr>
          <a:xfrm>
            <a:off x="3638550" y="5000625"/>
            <a:ext cx="1047750" cy="0"/>
          </a:xfrm>
          <a:prstGeom prst="line">
            <a:avLst/>
          </a:prstGeom>
          <a:noFill/>
          <a:ln w="19050">
            <a:solidFill>
              <a:srgbClr val="31536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7E5B8DF-996A-493A-9DC3-E1483FDB0A27}"/>
              </a:ext>
            </a:extLst>
          </p:cNvPr>
          <p:cNvSpPr>
            <a:spLocks noGrp="1"/>
          </p:cNvSpPr>
          <p:nvPr/>
        </p:nvSpPr>
        <p:spPr>
          <a:xfrm>
            <a:off x="4953000" y="4819650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asignar · recuperar · programar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DEE9A49-5EE7-4C14-A18A-F774EB56457E}"/>
              </a:ext>
            </a:extLst>
          </p:cNvPr>
          <p:cNvSpPr>
            <a:spLocks noGrp="1"/>
          </p:cNvSpPr>
          <p:nvPr/>
        </p:nvSpPr>
        <p:spPr>
          <a:xfrm>
            <a:off x="800100" y="5695950"/>
            <a:ext cx="10058400" cy="400050"/>
          </a:xfrm>
          <a:prstGeom prst="rect">
            <a:avLst/>
          </a:prstGeom>
          <a:solidFill>
            <a:srgbClr val="123A61"/>
          </a:solidFill>
          <a:ln w="9525">
            <a:solidFill>
              <a:srgbClr val="2D6FB7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LA PROTECCIÓN ATRAVIESA TODAS LAS ÁREAS</a:t>
            </a:r>
          </a:p>
        </p:txBody>
      </p:sp>
    </p:spTree>
    <p:extLst>
      <p:ext uri="{BB962C8B-B14F-4D97-AF65-F5344CB8AC3E}">
        <p14:creationId xmlns:p14="http://schemas.microsoft.com/office/powerpoint/2010/main" val="697964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C9ED804C-265B-4D13-96FD-3DC2338DDB62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9 · ORDENADORES Y MÓVILES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0770AF5-6EB6-4FCB-9693-54C266A5C11D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El escritorio admite arquitecturas distintas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8756D10A-F972-4DF0-9F7C-4D3DF9361F9D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63163FD4-22D7-428C-9A10-024543E48F1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746C8DB-A2B9-4E2F-815F-4430EB1CAE40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9 · ORDENADORES Y MÓVILES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8CD4BCD-44BB-4EF7-A871-F40A88CDEC9D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14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87C27C9-6D4F-4668-A922-B60E13B9604C}"/>
              </a:ext>
            </a:extLst>
          </p:cNvPr>
          <p:cNvSpPr>
            <a:spLocks noGrp="1"/>
          </p:cNvSpPr>
          <p:nvPr/>
        </p:nvSpPr>
        <p:spPr>
          <a:xfrm>
            <a:off x="819150" y="18669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0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2100" b="0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LINUX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15A42B2-EF53-4552-BD02-E6D4ADF29A20}"/>
              </a:ext>
            </a:extLst>
          </p:cNvPr>
          <p:cNvSpPr>
            <a:spLocks noGrp="1"/>
          </p:cNvSpPr>
          <p:nvPr/>
        </p:nvSpPr>
        <p:spPr>
          <a:xfrm>
            <a:off x="819150" y="2438400"/>
            <a:ext cx="2857500" cy="114300"/>
          </a:xfrm>
          <a:prstGeom prst="rect">
            <a:avLst/>
          </a:prstGeom>
          <a:solidFill>
            <a:srgbClr val="123A61"/>
          </a:solidFill>
          <a:ln w="0">
            <a:solidFill>
              <a:srgbClr val="123A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CA55FB2-6D28-475C-8AF7-8E51DE2D7C0D}"/>
              </a:ext>
            </a:extLst>
          </p:cNvPr>
          <p:cNvSpPr>
            <a:spLocks noGrp="1"/>
          </p:cNvSpPr>
          <p:nvPr/>
        </p:nvSpPr>
        <p:spPr>
          <a:xfrm>
            <a:off x="819150" y="28956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Núcleo monolítico modular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75C200D-8FBE-44F7-8D18-97517C3FF3F2}"/>
              </a:ext>
            </a:extLst>
          </p:cNvPr>
          <p:cNvSpPr>
            <a:spLocks noGrp="1"/>
          </p:cNvSpPr>
          <p:nvPr/>
        </p:nvSpPr>
        <p:spPr>
          <a:xfrm>
            <a:off x="819150" y="3714750"/>
            <a:ext cx="2857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Servicios del núcleo y módulos cargables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F022D58-DA93-4745-85AE-37C9C5561275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23A61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123A61"/>
                </a:solidFill>
                <a:latin typeface="Bahnschrift"/>
                <a:ea typeface="Bahnschrift"/>
                <a:cs typeface="Bahnschrift"/>
              </a:rPr>
              <a:t>MÓDULOS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0BC5B47D-2A1D-42F8-B476-8FF004448C20}"/>
              </a:ext>
            </a:extLst>
          </p:cNvPr>
          <p:cNvSpPr>
            <a:spLocks noGrp="1"/>
          </p:cNvSpPr>
          <p:nvPr/>
        </p:nvSpPr>
        <p:spPr>
          <a:xfrm>
            <a:off x="4038600" y="1809750"/>
            <a:ext cx="0" cy="361950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F26B6-8611-4C71-B4DE-C3112414A914}"/>
              </a:ext>
            </a:extLst>
          </p:cNvPr>
          <p:cNvSpPr>
            <a:spLocks noGrp="1"/>
          </p:cNvSpPr>
          <p:nvPr/>
        </p:nvSpPr>
        <p:spPr>
          <a:xfrm>
            <a:off x="4457700" y="18669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0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2100" b="0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WINDOWS 10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DBB0883-A8FE-4394-A04C-939E274FDA6D}"/>
              </a:ext>
            </a:extLst>
          </p:cNvPr>
          <p:cNvSpPr>
            <a:spLocks noGrp="1"/>
          </p:cNvSpPr>
          <p:nvPr/>
        </p:nvSpPr>
        <p:spPr>
          <a:xfrm>
            <a:off x="4457700" y="2438400"/>
            <a:ext cx="2857500" cy="114300"/>
          </a:xfrm>
          <a:prstGeom prst="rect">
            <a:avLst/>
          </a:prstGeom>
          <a:solidFill>
            <a:srgbClr val="2D6FB7"/>
          </a:solidFill>
          <a:ln w="0">
            <a:solidFill>
              <a:srgbClr val="2D6F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91E4A85-943D-4576-9647-67A1B76A8CA5}"/>
              </a:ext>
            </a:extLst>
          </p:cNvPr>
          <p:cNvSpPr>
            <a:spLocks noGrp="1"/>
          </p:cNvSpPr>
          <p:nvPr/>
        </p:nvSpPr>
        <p:spPr>
          <a:xfrm>
            <a:off x="4457700" y="28956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Arquitectura híbrida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579EB6F-C365-45B7-ACDD-13A76F02B93D}"/>
              </a:ext>
            </a:extLst>
          </p:cNvPr>
          <p:cNvSpPr>
            <a:spLocks noGrp="1"/>
          </p:cNvSpPr>
          <p:nvPr/>
        </p:nvSpPr>
        <p:spPr>
          <a:xfrm>
            <a:off x="4457700" y="3714750"/>
            <a:ext cx="2857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Subsistemas y módulos del núcleo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C387235-BCC6-4467-92AB-00A755527A29}"/>
              </a:ext>
            </a:extLst>
          </p:cNvPr>
          <p:cNvSpPr>
            <a:spLocks noGrp="1"/>
          </p:cNvSpPr>
          <p:nvPr/>
        </p:nvSpPr>
        <p:spPr>
          <a:xfrm>
            <a:off x="4457700" y="49530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SUBSISTEMAS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A27EDAD0-8B0A-46B3-82DB-C635609FEDF8}"/>
              </a:ext>
            </a:extLst>
          </p:cNvPr>
          <p:cNvSpPr>
            <a:spLocks noGrp="1"/>
          </p:cNvSpPr>
          <p:nvPr/>
        </p:nvSpPr>
        <p:spPr>
          <a:xfrm>
            <a:off x="7677150" y="1809750"/>
            <a:ext cx="0" cy="361950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56ECFBB-83E0-48C2-A2F1-26C0143D16DB}"/>
              </a:ext>
            </a:extLst>
          </p:cNvPr>
          <p:cNvSpPr>
            <a:spLocks noGrp="1"/>
          </p:cNvSpPr>
          <p:nvPr/>
        </p:nvSpPr>
        <p:spPr>
          <a:xfrm>
            <a:off x="8096250" y="18669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0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2100" b="0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macOS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2690DBA-D530-422A-A5E8-4DD17B581F8E}"/>
              </a:ext>
            </a:extLst>
          </p:cNvPr>
          <p:cNvSpPr>
            <a:spLocks noGrp="1"/>
          </p:cNvSpPr>
          <p:nvPr/>
        </p:nvSpPr>
        <p:spPr>
          <a:xfrm>
            <a:off x="8096250" y="2438400"/>
            <a:ext cx="2857500" cy="114300"/>
          </a:xfrm>
          <a:prstGeom prst="rect">
            <a:avLst/>
          </a:prstGeom>
          <a:solidFill>
            <a:srgbClr val="25557D"/>
          </a:solidFill>
          <a:ln w="0">
            <a:solidFill>
              <a:srgbClr val="25557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9B743D1-55C3-4D95-90A7-7676315E361E}"/>
              </a:ext>
            </a:extLst>
          </p:cNvPr>
          <p:cNvSpPr>
            <a:spLocks noGrp="1"/>
          </p:cNvSpPr>
          <p:nvPr/>
        </p:nvSpPr>
        <p:spPr>
          <a:xfrm>
            <a:off x="8096250" y="28956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Darwin: Mach + BSD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EC1533-975D-499A-AB38-3829B6294A1E}"/>
              </a:ext>
            </a:extLst>
          </p:cNvPr>
          <p:cNvSpPr>
            <a:spLocks noGrp="1"/>
          </p:cNvSpPr>
          <p:nvPr/>
        </p:nvSpPr>
        <p:spPr>
          <a:xfrm>
            <a:off x="8096250" y="3714750"/>
            <a:ext cx="2857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6674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483"/>
                </a:solidFill>
                <a:latin typeface="Arial"/>
                <a:ea typeface="Arial"/>
                <a:cs typeface="Arial"/>
              </a:rPr>
              <a:t>Capas de experiencia, frameworks y kernel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136713D-81FE-4D25-A82F-1DB0B230E15E}"/>
              </a:ext>
            </a:extLst>
          </p:cNvPr>
          <p:cNvSpPr>
            <a:spLocks noGrp="1"/>
          </p:cNvSpPr>
          <p:nvPr/>
        </p:nvSpPr>
        <p:spPr>
          <a:xfrm>
            <a:off x="8096250" y="49530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25557D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25557D"/>
                </a:solidFill>
                <a:latin typeface="Bahnschrift"/>
                <a:ea typeface="Bahnschrift"/>
                <a:cs typeface="Bahnschrift"/>
              </a:rPr>
              <a:t>CAPAS HÍBRIDAS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ED78177-CF79-4633-A3F1-F09E2CA7D066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275"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01820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101820"/>
                </a:solidFill>
                <a:latin typeface="Bahnschrift"/>
                <a:ea typeface="Bahnschrift"/>
                <a:cs typeface="Bahnschrift"/>
              </a:rPr>
              <a:t>Los tres ofrecen servicios equivalentes al usuario, pero distribuyen responsabilidades internas de manera diferente.</a:t>
            </a:r>
          </a:p>
        </p:txBody>
      </p:sp>
    </p:spTree>
    <p:extLst>
      <p:ext uri="{BB962C8B-B14F-4D97-AF65-F5344CB8AC3E}">
        <p14:creationId xmlns:p14="http://schemas.microsoft.com/office/powerpoint/2010/main" val="1569716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527986E2-189E-41BF-B842-2501A7EEC7E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9 · ORDENADORES Y MÓVILES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7ECD346-98A9-4680-94E1-F75F319631CF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iOS y Android responden al entorno móvil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A4CB52CE-33E2-4DD0-9523-B23A96E07E12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0C844623-257C-461F-9822-1F61BF13A14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63A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FDF2B87-8E1D-4CA3-9F64-C4D2C5E0A895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9 · ORDENADORES Y MÓVILES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8331CBF-D61B-4AF6-A6FE-DBC080CC96BB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AEB9C5"/>
                </a:solidFill>
                <a:latin typeface="Bahnschrift"/>
                <a:ea typeface="Bahnschrift"/>
                <a:cs typeface="Bahnschrift"/>
              </a:rPr>
              <a:t>15</a:t>
            </a: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52657D09-F76C-4D43-9851-3F7C527F151A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0" cy="4095750"/>
          </a:xfrm>
          <a:prstGeom prst="line">
            <a:avLst/>
          </a:prstGeom>
          <a:noFill/>
          <a:ln w="9525">
            <a:solidFill>
              <a:srgbClr val="29405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88ADF68-B262-48DE-BE72-147EFEC78E05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0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2700" b="0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iOS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07DB55B-9723-4E52-8BA1-C07204D48566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Darwin + Cocoa Touch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8E5C2B-5654-49AD-B452-BDE94EC57E3E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defRPr>
            </a:pPr>
            <a:r>
              <a: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CBAF958-2C2E-4247-A2E2-A78BA048CFBD}"/>
              </a:ext>
            </a:extLst>
          </p:cNvPr>
          <p:cNvSpPr>
            <a:spLocks noGrp="1"/>
          </p:cNvSpPr>
          <p:nvPr/>
        </p:nvSpPr>
        <p:spPr>
          <a:xfrm>
            <a:off x="1447800" y="30670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Interfaz diseñada para tacto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44F2771-C8D5-4A5D-A79E-350797914ED3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defRPr>
            </a:pPr>
            <a:r>
              <a: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7313AC8-CDAC-4FE1-84EA-DD63AA2F22C8}"/>
              </a:ext>
            </a:extLst>
          </p:cNvPr>
          <p:cNvSpPr>
            <a:spLocks noGrp="1"/>
          </p:cNvSpPr>
          <p:nvPr/>
        </p:nvSpPr>
        <p:spPr>
          <a:xfrm>
            <a:off x="1447800" y="36195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Arquitecturas ARM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CC5E582-3DC0-4972-B7F0-925918C9AF25}"/>
              </a:ext>
            </a:extLst>
          </p:cNvPr>
          <p:cNvSpPr>
            <a:spLocks noGrp="1"/>
          </p:cNvSpPr>
          <p:nvPr/>
        </p:nvSpPr>
        <p:spPr>
          <a:xfrm>
            <a:off x="933450" y="42100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defRPr>
            </a:pPr>
            <a:r>
              <a: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4C024A4-4B88-4E63-9F36-047F6AB82FE4}"/>
              </a:ext>
            </a:extLst>
          </p:cNvPr>
          <p:cNvSpPr>
            <a:spLocks noGrp="1"/>
          </p:cNvSpPr>
          <p:nvPr/>
        </p:nvSpPr>
        <p:spPr>
          <a:xfrm>
            <a:off x="1447800" y="41719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Gestión intensa de energía y memoria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AC35D12-8F8D-47D0-AF75-6CE7199B273A}"/>
              </a:ext>
            </a:extLst>
          </p:cNvPr>
          <p:cNvSpPr>
            <a:spLocks noGrp="1"/>
          </p:cNvSpPr>
          <p:nvPr/>
        </p:nvSpPr>
        <p:spPr>
          <a:xfrm>
            <a:off x="933450" y="47625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defRPr>
            </a:pPr>
            <a:r>
              <a: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61DD9D0-0977-4106-A944-0B3A23EC9B19}"/>
              </a:ext>
            </a:extLst>
          </p:cNvPr>
          <p:cNvSpPr>
            <a:spLocks noGrp="1"/>
          </p:cNvSpPr>
          <p:nvPr/>
        </p:nvSpPr>
        <p:spPr>
          <a:xfrm>
            <a:off x="1447800" y="47244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Ajustes de seguridad más estrictos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C2A6B15-CD0A-4635-9D66-183F6FD9D404}"/>
              </a:ext>
            </a:extLst>
          </p:cNvPr>
          <p:cNvSpPr>
            <a:spLocks noGrp="1"/>
          </p:cNvSpPr>
          <p:nvPr/>
        </p:nvSpPr>
        <p:spPr>
          <a:xfrm>
            <a:off x="6667500" y="16954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0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2700" b="0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ANDROID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7F21DB-C802-4914-8942-D0DC56C82393}"/>
              </a:ext>
            </a:extLst>
          </p:cNvPr>
          <p:cNvSpPr>
            <a:spLocks noGrp="1"/>
          </p:cNvSpPr>
          <p:nvPr/>
        </p:nvSpPr>
        <p:spPr>
          <a:xfrm>
            <a:off x="6667500" y="234315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5A9BDC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5A9BDC"/>
                </a:solidFill>
                <a:latin typeface="Bahnschrift"/>
                <a:ea typeface="Bahnschrift"/>
                <a:cs typeface="Bahnschrift"/>
              </a:rPr>
              <a:t>Linux + ART + HAL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CCCDDE7-66CB-40F6-90B1-98FAF35EFCBB}"/>
              </a:ext>
            </a:extLst>
          </p:cNvPr>
          <p:cNvSpPr>
            <a:spLocks noGrp="1"/>
          </p:cNvSpPr>
          <p:nvPr/>
        </p:nvSpPr>
        <p:spPr>
          <a:xfrm>
            <a:off x="6724650" y="31051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defRPr>
            </a:pPr>
            <a:r>
              <a: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2FF1B9A-F1E6-4EFD-B5DB-AFD392ECEFA4}"/>
              </a:ext>
            </a:extLst>
          </p:cNvPr>
          <p:cNvSpPr>
            <a:spLocks noGrp="1"/>
          </p:cNvSpPr>
          <p:nvPr/>
        </p:nvSpPr>
        <p:spPr>
          <a:xfrm>
            <a:off x="7239000" y="30670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Frameworks y bibliotecas nativas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E4412B4-1677-4518-BD99-24BAF0B498E8}"/>
              </a:ext>
            </a:extLst>
          </p:cNvPr>
          <p:cNvSpPr>
            <a:spLocks noGrp="1"/>
          </p:cNvSpPr>
          <p:nvPr/>
        </p:nvSpPr>
        <p:spPr>
          <a:xfrm>
            <a:off x="6724650" y="36576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defRPr>
            </a:pPr>
            <a:r>
              <a: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E129D60-613A-4979-8BAD-C45DC0B92D13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HAL abstrae cámaras y sensores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131A2F4-F976-4B51-A72C-17AF39E15E3B}"/>
              </a:ext>
            </a:extLst>
          </p:cNvPr>
          <p:cNvSpPr>
            <a:spLocks noGrp="1"/>
          </p:cNvSpPr>
          <p:nvPr/>
        </p:nvSpPr>
        <p:spPr>
          <a:xfrm>
            <a:off x="6724650" y="42100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defRPr>
            </a:pPr>
            <a:r>
              <a: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BB1873-14A9-4D24-A1DC-D42B76A8C888}"/>
              </a:ext>
            </a:extLst>
          </p:cNvPr>
          <p:cNvSpPr>
            <a:spLocks noGrp="1"/>
          </p:cNvSpPr>
          <p:nvPr/>
        </p:nvSpPr>
        <p:spPr>
          <a:xfrm>
            <a:off x="7239000" y="41719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Portabilidad entre fabricantes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3550235-B4B7-4F8F-8599-D93EC3A98D84}"/>
              </a:ext>
            </a:extLst>
          </p:cNvPr>
          <p:cNvSpPr>
            <a:spLocks noGrp="1"/>
          </p:cNvSpPr>
          <p:nvPr/>
        </p:nvSpPr>
        <p:spPr>
          <a:xfrm>
            <a:off x="6724650" y="47625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defRPr>
            </a:pPr>
            <a:r>
              <a:rPr sz="1425" b="0">
                <a:solidFill>
                  <a:srgbClr val="5A9BDC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EF82B47-CF4C-4A35-B43F-03E628BBCFAE}"/>
              </a:ext>
            </a:extLst>
          </p:cNvPr>
          <p:cNvSpPr>
            <a:spLocks noGrp="1"/>
          </p:cNvSpPr>
          <p:nvPr/>
        </p:nvSpPr>
        <p:spPr>
          <a:xfrm>
            <a:off x="7239000" y="47244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9C5"/>
                </a:solidFill>
                <a:latin typeface="Arial"/>
                <a:ea typeface="Arial"/>
                <a:cs typeface="Arial"/>
              </a:rPr>
              <a:t>Núcleo adaptado a energía, memoria e IPC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D650041-DACE-408A-A6D9-E3F1EB6F37DA}"/>
              </a:ext>
            </a:extLst>
          </p:cNvPr>
          <p:cNvSpPr>
            <a:spLocks noGrp="1"/>
          </p:cNvSpPr>
          <p:nvPr/>
        </p:nvSpPr>
        <p:spPr>
          <a:xfrm>
            <a:off x="1428750" y="56769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>
                <a:solidFill>
                  <a:srgbClr val="F8FAFC"/>
                </a:solidFill>
                <a:latin typeface="Bahnschrift"/>
                <a:ea typeface="Bahnschrift"/>
                <a:cs typeface="Bahnschrift"/>
              </a:rPr>
              <a:t>Comparten la misión del escritorio, pero adaptan capas y políticas a restricciones móviles.</a:t>
            </a:r>
          </a:p>
        </p:txBody>
      </p:sp>
    </p:spTree>
    <p:extLst>
      <p:ext uri="{BB962C8B-B14F-4D97-AF65-F5344CB8AC3E}">
        <p14:creationId xmlns:p14="http://schemas.microsoft.com/office/powerpoint/2010/main" val="2121292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066FCDA5-7C25-4B30-8D4C-00AD75EB744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10 · CATEGORÍAS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770D334-460D-4833-A43D-A44DE1EEEAAF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>
                <a:solidFill>
                  <a:srgbClr val="101820"/>
                </a:solidFill>
                <a:latin typeface="Arial Black"/>
                <a:ea typeface="Arial Black"/>
                <a:cs typeface="Arial Black"/>
              </a:rPr>
              <a:t>La importancia depende del entorno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8D8BF180-2CC9-4581-9CBC-70FF0F9B88C1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49F3060F-B10F-4685-9939-96158E7A1C0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79FAA61-41F0-47E9-97AB-BA1DAFFD43DA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33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10 · CATEGORÍAS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BBB47C4-A7E5-4859-878A-162BBD527A47}"/>
              </a:ext>
            </a:extLst>
          </p:cNvPr>
          <p:cNvSpPr>
            <a:spLocks noGrp="1"/>
          </p:cNvSpPr>
          <p:nvPr/>
        </p:nvSpPr>
        <p:spPr>
          <a:xfrm>
            <a:off x="1102995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67483"/>
                </a:solidFill>
                <a:latin typeface="Bahnschrift"/>
                <a:ea typeface="Bahnschrift"/>
                <a:cs typeface="Bahnschrift"/>
              </a:rPr>
              <a:t>16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52D94F9-8859-4C42-BCAD-ED5BA604E156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23A61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23A61"/>
                </a:solidFill>
                <a:latin typeface="Bahnschrift"/>
                <a:ea typeface="Bahnschrift"/>
                <a:cs typeface="Bahnschrift"/>
              </a:rPr>
              <a:t>POR LOTES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45213FF7-6F8A-4F18-A539-2EA5CD0A1B8A}"/>
              </a:ext>
            </a:extLst>
          </p:cNvPr>
          <p:cNvSpPr>
            <a:spLocks noGrp="1"/>
          </p:cNvSpPr>
          <p:nvPr/>
        </p:nvSpPr>
        <p:spPr>
          <a:xfrm>
            <a:off x="3924300" y="1752600"/>
            <a:ext cx="1143000" cy="0"/>
          </a:xfrm>
          <a:prstGeom prst="line">
            <a:avLst/>
          </a:prstGeom>
          <a:noFill/>
          <a:ln w="19050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B814943-D05E-491C-B9DD-BE59D9D10049}"/>
              </a:ext>
            </a:extLst>
          </p:cNvPr>
          <p:cNvSpPr>
            <a:spLocks noGrp="1"/>
          </p:cNvSpPr>
          <p:nvPr/>
        </p:nvSpPr>
        <p:spPr>
          <a:xfrm>
            <a:off x="5314950" y="16002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utilización y rendimiento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34C8D27-09B8-49F4-8FC9-D7E5DFBAB571}"/>
              </a:ext>
            </a:extLst>
          </p:cNvPr>
          <p:cNvSpPr>
            <a:spLocks noGrp="1"/>
          </p:cNvSpPr>
          <p:nvPr/>
        </p:nvSpPr>
        <p:spPr>
          <a:xfrm>
            <a:off x="838200" y="23050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TIEMPO COMPARTIDO</a:t>
            </a:r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7C727597-437A-40BE-9C3A-C5B0C0017B3F}"/>
              </a:ext>
            </a:extLst>
          </p:cNvPr>
          <p:cNvSpPr>
            <a:spLocks noGrp="1"/>
          </p:cNvSpPr>
          <p:nvPr/>
        </p:nvSpPr>
        <p:spPr>
          <a:xfrm>
            <a:off x="3924300" y="2438400"/>
            <a:ext cx="1143000" cy="0"/>
          </a:xfrm>
          <a:prstGeom prst="line">
            <a:avLst/>
          </a:prstGeom>
          <a:noFill/>
          <a:ln w="19050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1F7B361-F23A-40DB-BB41-AC7C38C09DF8}"/>
              </a:ext>
            </a:extLst>
          </p:cNvPr>
          <p:cNvSpPr>
            <a:spLocks noGrp="1"/>
          </p:cNvSpPr>
          <p:nvPr/>
        </p:nvSpPr>
        <p:spPr>
          <a:xfrm>
            <a:off x="5314950" y="22860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respuesta e interacción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28B612E-F1EE-4C00-884B-DD714735FEDC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23A61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23A61"/>
                </a:solidFill>
                <a:latin typeface="Bahnschrift"/>
                <a:ea typeface="Bahnschrift"/>
                <a:cs typeface="Bahnschrift"/>
              </a:rPr>
              <a:t>TIEMPO REAL</a:t>
            </a:r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34F734D2-3F5A-44F4-B6FC-423F24070CDA}"/>
              </a:ext>
            </a:extLst>
          </p:cNvPr>
          <p:cNvSpPr>
            <a:spLocks noGrp="1"/>
          </p:cNvSpPr>
          <p:nvPr/>
        </p:nvSpPr>
        <p:spPr>
          <a:xfrm>
            <a:off x="3924300" y="3124200"/>
            <a:ext cx="1143000" cy="0"/>
          </a:xfrm>
          <a:prstGeom prst="line">
            <a:avLst/>
          </a:prstGeom>
          <a:noFill/>
          <a:ln w="19050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99C4C7D-4E85-48D5-BE24-348F8A930C91}"/>
              </a:ext>
            </a:extLst>
          </p:cNvPr>
          <p:cNvSpPr>
            <a:spLocks noGrp="1"/>
          </p:cNvSpPr>
          <p:nvPr/>
        </p:nvSpPr>
        <p:spPr>
          <a:xfrm>
            <a:off x="5314950" y="29718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cumplimiento de plazos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A89601F-24CD-470B-9323-FCEE99AF3B9F}"/>
              </a:ext>
            </a:extLst>
          </p:cNvPr>
          <p:cNvSpPr>
            <a:spLocks noGrp="1"/>
          </p:cNvSpPr>
          <p:nvPr/>
        </p:nvSpPr>
        <p:spPr>
          <a:xfrm>
            <a:off x="838200" y="36766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2D6FB7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D6FB7"/>
                </a:solidFill>
                <a:latin typeface="Bahnschrift"/>
                <a:ea typeface="Bahnschrift"/>
                <a:cs typeface="Bahnschrift"/>
              </a:rPr>
              <a:t>MÓVIL</a:t>
            </a:r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9BAEC024-9DBE-432A-9030-22CBAB2EC7D9}"/>
              </a:ext>
            </a:extLst>
          </p:cNvPr>
          <p:cNvSpPr>
            <a:spLocks noGrp="1"/>
          </p:cNvSpPr>
          <p:nvPr/>
        </p:nvSpPr>
        <p:spPr>
          <a:xfrm>
            <a:off x="3924300" y="3810000"/>
            <a:ext cx="1143000" cy="0"/>
          </a:xfrm>
          <a:prstGeom prst="line">
            <a:avLst/>
          </a:prstGeom>
          <a:noFill/>
          <a:ln w="19050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548C836-BAFD-464E-9BE7-4A4994A1B583}"/>
              </a:ext>
            </a:extLst>
          </p:cNvPr>
          <p:cNvSpPr>
            <a:spLocks noGrp="1"/>
          </p:cNvSpPr>
          <p:nvPr/>
        </p:nvSpPr>
        <p:spPr>
          <a:xfrm>
            <a:off x="5314950" y="36576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portabilidad, energía y memoria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B69D4DA-7B45-468E-BF99-2B3AE18DB594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23A61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23A61"/>
                </a:solidFill>
                <a:latin typeface="Bahnschrift"/>
                <a:ea typeface="Bahnschrift"/>
                <a:cs typeface="Bahnschrift"/>
              </a:rPr>
              <a:t>DISTRIBUIDO / NUBE</a:t>
            </a:r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D82605AC-C417-4513-A488-937EF9F7F583}"/>
              </a:ext>
            </a:extLst>
          </p:cNvPr>
          <p:cNvSpPr>
            <a:spLocks noGrp="1"/>
          </p:cNvSpPr>
          <p:nvPr/>
        </p:nvSpPr>
        <p:spPr>
          <a:xfrm>
            <a:off x="3924300" y="4495800"/>
            <a:ext cx="1143000" cy="0"/>
          </a:xfrm>
          <a:prstGeom prst="line">
            <a:avLst/>
          </a:prstGeom>
          <a:noFill/>
          <a:ln w="19050">
            <a:solidFill>
              <a:srgbClr val="CBD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BAF9421-3C4F-4E51-BCEA-C158A87B0BAA}"/>
              </a:ext>
            </a:extLst>
          </p:cNvPr>
          <p:cNvSpPr>
            <a:spLocks noGrp="1"/>
          </p:cNvSpPr>
          <p:nvPr/>
        </p:nvSpPr>
        <p:spPr>
          <a:xfrm>
            <a:off x="5314950" y="43434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servicios y recursos compartidos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E300908-AC2E-48A3-9C46-02FEADAE6EAE}"/>
              </a:ext>
            </a:extLst>
          </p:cNvPr>
          <p:cNvSpPr>
            <a:spLocks noGrp="1"/>
          </p:cNvSpPr>
          <p:nvPr/>
        </p:nvSpPr>
        <p:spPr>
          <a:xfrm>
            <a:off x="838200" y="5334000"/>
            <a:ext cx="10210800" cy="762000"/>
          </a:xfrm>
          <a:prstGeom prst="rect">
            <a:avLst/>
          </a:prstGeom>
          <a:solidFill>
            <a:srgbClr val="123A61"/>
          </a:solidFill>
          <a:ln w="9525">
            <a:solidFill>
              <a:srgbClr val="2D6FB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8647EA6-7EB7-4DAD-90F8-59BA359547C5}"/>
              </a:ext>
            </a:extLst>
          </p:cNvPr>
          <p:cNvSpPr>
            <a:spLocks noGrp="1"/>
          </p:cNvSpPr>
          <p:nvPr/>
        </p:nvSpPr>
        <p:spPr>
          <a:xfrm>
            <a:off x="1143000" y="5514975"/>
            <a:ext cx="960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F8FAFC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F8FAFC"/>
                </a:solidFill>
                <a:latin typeface="Arial Black"/>
                <a:ea typeface="Arial Black"/>
                <a:cs typeface="Arial Black"/>
              </a:rPr>
              <a:t>La categoría cambia; la misión permanece: abstraer, asignar y controlar.</a:t>
            </a:r>
          </a:p>
        </p:txBody>
      </p:sp>
    </p:spTree>
    <p:extLst>
      <p:ext uri="{BB962C8B-B14F-4D97-AF65-F5344CB8AC3E}">
        <p14:creationId xmlns:p14="http://schemas.microsoft.com/office/powerpoint/2010/main" val="548306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2325</Words>
  <Application>Microsoft Office PowerPoint</Application>
  <DocSecurity>0</DocSecurity>
  <PresentationFormat>Panorámica</PresentationFormat>
  <Paragraphs>372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Bahnschrift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feratogro@gmail.com</cp:lastModifiedBy>
  <cp:revision>1</cp:revision>
  <dcterms:created xsi:type="dcterms:W3CDTF">2026-08-08T19:33:38Z</dcterms:created>
  <dcterms:modified xsi:type="dcterms:W3CDTF">2026-08-08T19:45:01Z</dcterms:modified>
</cp:coreProperties>
</file>