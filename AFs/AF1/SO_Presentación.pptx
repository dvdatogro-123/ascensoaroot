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881" autoAdjust="0"/>
  </p:normalViewPr>
  <p:slideViewPr>
    <p:cSldViewPr snapToGrid="0">
      <p:cViewPr varScale="1">
        <p:scale>
          <a:sx n="80" d="100"/>
          <a:sy n="80" d="100"/>
        </p:scale>
        <p:origin x="17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atogro@gmail.com" userId="2e467ceb7888fc4b" providerId="LiveId" clId="{58A36A9A-DD2D-468E-925B-C1B82C266CF0}"/>
    <pc:docChg chg="modSld">
      <pc:chgData name="feratogro@gmail.com" userId="2e467ceb7888fc4b" providerId="LiveId" clId="{58A36A9A-DD2D-468E-925B-C1B82C266CF0}" dt="2026-08-08T19:50:37.975" v="11" actId="1076"/>
      <pc:docMkLst>
        <pc:docMk/>
      </pc:docMkLst>
      <pc:sldChg chg="modSp mod">
        <pc:chgData name="feratogro@gmail.com" userId="2e467ceb7888fc4b" providerId="LiveId" clId="{58A36A9A-DD2D-468E-925B-C1B82C266CF0}" dt="2026-08-08T19:49:52.849" v="7" actId="1076"/>
        <pc:sldMkLst>
          <pc:docMk/>
          <pc:sldMk cId="2102085013" sldId="260"/>
        </pc:sldMkLst>
        <pc:spChg chg="mod">
          <ac:chgData name="feratogro@gmail.com" userId="2e467ceb7888fc4b" providerId="LiveId" clId="{58A36A9A-DD2D-468E-925B-C1B82C266CF0}" dt="2026-08-08T19:49:28.535" v="0" actId="14100"/>
          <ac:spMkLst>
            <pc:docMk/>
            <pc:sldMk cId="2102085013" sldId="260"/>
            <ac:spMk id="8" creationId="{CD1C4E50-1E89-484D-8656-E8CB6975B6C8}"/>
          </ac:spMkLst>
        </pc:spChg>
        <pc:spChg chg="mod">
          <ac:chgData name="feratogro@gmail.com" userId="2e467ceb7888fc4b" providerId="LiveId" clId="{58A36A9A-DD2D-468E-925B-C1B82C266CF0}" dt="2026-08-08T19:49:37.733" v="3" actId="14100"/>
          <ac:spMkLst>
            <pc:docMk/>
            <pc:sldMk cId="2102085013" sldId="260"/>
            <ac:spMk id="9" creationId="{0CF4943E-E491-4D05-8A1F-81BD2AF9EF1E}"/>
          </ac:spMkLst>
        </pc:spChg>
        <pc:spChg chg="mod">
          <ac:chgData name="feratogro@gmail.com" userId="2e467ceb7888fc4b" providerId="LiveId" clId="{58A36A9A-DD2D-468E-925B-C1B82C266CF0}" dt="2026-08-08T19:49:49.451" v="6" actId="14100"/>
          <ac:spMkLst>
            <pc:docMk/>
            <pc:sldMk cId="2102085013" sldId="260"/>
            <ac:spMk id="10" creationId="{6C038B34-3596-4873-9E27-7457D4873EE0}"/>
          </ac:spMkLst>
        </pc:spChg>
        <pc:spChg chg="mod">
          <ac:chgData name="feratogro@gmail.com" userId="2e467ceb7888fc4b" providerId="LiveId" clId="{58A36A9A-DD2D-468E-925B-C1B82C266CF0}" dt="2026-08-08T19:49:34.838" v="2" actId="1076"/>
          <ac:spMkLst>
            <pc:docMk/>
            <pc:sldMk cId="2102085013" sldId="260"/>
            <ac:spMk id="14" creationId="{E2C95406-DA64-4856-9DDC-6EB830C537CE}"/>
          </ac:spMkLst>
        </pc:spChg>
        <pc:spChg chg="mod">
          <ac:chgData name="feratogro@gmail.com" userId="2e467ceb7888fc4b" providerId="LiveId" clId="{58A36A9A-DD2D-468E-925B-C1B82C266CF0}" dt="2026-08-08T19:49:41.738" v="4" actId="1076"/>
          <ac:spMkLst>
            <pc:docMk/>
            <pc:sldMk cId="2102085013" sldId="260"/>
            <ac:spMk id="15" creationId="{89F564E2-706A-40E5-8B04-8E1A64B04C8C}"/>
          </ac:spMkLst>
        </pc:spChg>
        <pc:spChg chg="mod">
          <ac:chgData name="feratogro@gmail.com" userId="2e467ceb7888fc4b" providerId="LiveId" clId="{58A36A9A-DD2D-468E-925B-C1B82C266CF0}" dt="2026-08-08T19:49:47.386" v="5" actId="1076"/>
          <ac:spMkLst>
            <pc:docMk/>
            <pc:sldMk cId="2102085013" sldId="260"/>
            <ac:spMk id="16" creationId="{074AD0CC-2D0F-4CA8-85C1-C62B9D793D3E}"/>
          </ac:spMkLst>
        </pc:spChg>
        <pc:spChg chg="mod">
          <ac:chgData name="feratogro@gmail.com" userId="2e467ceb7888fc4b" providerId="LiveId" clId="{58A36A9A-DD2D-468E-925B-C1B82C266CF0}" dt="2026-08-08T19:49:52.849" v="7" actId="1076"/>
          <ac:spMkLst>
            <pc:docMk/>
            <pc:sldMk cId="2102085013" sldId="260"/>
            <ac:spMk id="17" creationId="{8E0E3169-7C15-4019-B7D9-0CD8C5C3BBA4}"/>
          </ac:spMkLst>
        </pc:spChg>
      </pc:sldChg>
      <pc:sldChg chg="modSp mod">
        <pc:chgData name="feratogro@gmail.com" userId="2e467ceb7888fc4b" providerId="LiveId" clId="{58A36A9A-DD2D-468E-925B-C1B82C266CF0}" dt="2026-08-08T19:50:37.975" v="11" actId="1076"/>
        <pc:sldMkLst>
          <pc:docMk/>
          <pc:sldMk cId="289016152" sldId="265"/>
        </pc:sldMkLst>
        <pc:spChg chg="mod">
          <ac:chgData name="feratogro@gmail.com" userId="2e467ceb7888fc4b" providerId="LiveId" clId="{58A36A9A-DD2D-468E-925B-C1B82C266CF0}" dt="2026-08-08T19:50:33.753" v="10" actId="404"/>
          <ac:spMkLst>
            <pc:docMk/>
            <pc:sldMk cId="289016152" sldId="265"/>
            <ac:spMk id="2" creationId="{BA166B36-2E1B-466F-88FE-1DF6E6BA0103}"/>
          </ac:spMkLst>
        </pc:spChg>
        <pc:spChg chg="mod">
          <ac:chgData name="feratogro@gmail.com" userId="2e467ceb7888fc4b" providerId="LiveId" clId="{58A36A9A-DD2D-468E-925B-C1B82C266CF0}" dt="2026-08-08T19:50:37.975" v="11" actId="1076"/>
          <ac:spMkLst>
            <pc:docMk/>
            <pc:sldMk cId="289016152" sldId="265"/>
            <ac:spMk id="3" creationId="{08FC2661-F64B-4162-94E1-EEAA5661F66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Para comenzar, pensemos en todo lo que ocurre cuando encendemos un computador o abrimos una aplicación. El usuario no trabaja directamente con el procesador, la memoria o los dispositivos. Entre las aplicaciones y el hardware existe el sistema operativo, que organiza esos recursos y ofrece servicios comunes. En esta exposición responderemos los diez puntos de la actividad: qué es un sistema operativo, cuáles son sus componentes, cómo gestiona los recursos, cómo se clasifica y qué diferencias existen entre sistemas de escritorio y móviles. La idea que conecta todo es sencilla: el sistema operativo transforma un conjunto complejo de hardware en un entorno que los programas y los usuarios pueden utilizar de manera controlada.</a:t>
            </a:r>
          </a:p>
          <a:p>
            <a:endParaRPr/>
          </a:p>
          <a:p>
            <a:r>
              <a:t>IDEA CLAVE PARA ESTUDIAR</a:t>
            </a:r>
          </a:p>
          <a:p>
            <a:r>
              <a:t>El sistema operativo hace utilizable el hardware y coordina toda la actividad del computador.</a:t>
            </a:r>
          </a:p>
          <a:p>
            <a:endParaRPr/>
          </a:p>
          <a:p>
            <a:r>
              <a:t>TRANSICIÓN</a:t>
            </a:r>
          </a:p>
          <a:p>
            <a:r>
              <a:t>Primero necesitamos una definición precisa de sistema operativo.</a:t>
            </a:r>
          </a:p>
          <a:p>
            <a:endParaRPr/>
          </a:p>
          <a:p>
            <a:r>
              <a:t>[Sources]</a:t>
            </a:r>
          </a:p>
          <a:p>
            <a:r>
              <a:t>- Silberschatz, Galvin y Gagne, Operating System Concepts, 10a ed., caps. 1-2.</a:t>
            </a:r>
          </a:p>
          <a:p>
            <a:r>
              <a:t>- Arpaci-Dusseau y Arpaci-Dusseau, Operating Systems: Three Easy Pieces, v0.80, prefacio y cap. 2.</a:t>
            </a:r>
          </a:p>
          <a:p>
            <a:r>
              <a:t>- Stallings, Sistemas operativos, 5a ed., cap. 2.</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Stallings define el sistema operativo como un programa que controla la ejecución de las aplicaciones y actúa como interfaz entre estas y el hardware. Silberschatz complementa esa definición con dos perspectivas: es un asignador de recursos y también un programa de control. Como asignador, decide cómo distribuir procesador, memoria, almacenamiento y dispositivos. Como programa de control, supervisa la ejecución para evitar errores y usos indebidos. Por eso no debemos confundir el sistema operativo con la pantalla o el menú que vemos. La interfaz visible es solo una parte; su trabajo principal ocurre detrás, coordinando programas y hardware.</a:t>
            </a:r>
          </a:p>
          <a:p>
            <a:endParaRPr/>
          </a:p>
          <a:p>
            <a:r>
              <a:t>IDEA CLAVE PARA ESTUDIAR</a:t>
            </a:r>
          </a:p>
          <a:p>
            <a:r>
              <a:t>El sistema operativo es interfaz, asignador de recursos y programa de control.</a:t>
            </a:r>
          </a:p>
          <a:p>
            <a:endParaRPr/>
          </a:p>
          <a:p>
            <a:r>
              <a:t>TRANSICIÓN</a:t>
            </a:r>
          </a:p>
          <a:p>
            <a:r>
              <a:t>Una responsabilidad tan amplia debe dividirse entre varios componentes.</a:t>
            </a:r>
          </a:p>
          <a:p>
            <a:endParaRPr/>
          </a:p>
          <a:p>
            <a:r>
              <a:t>[Sources]</a:t>
            </a:r>
          </a:p>
          <a:p>
            <a:r>
              <a:t>- Stallings, 5a ed., cap. 2, sec. 2.1, pp. 54-57.</a:t>
            </a:r>
          </a:p>
          <a:p>
            <a:r>
              <a:t>- Silberschatz et al., 10a ed., cap. 1, sec. 1.1, pp. 5-6.</a:t>
            </a:r>
          </a:p>
          <a:p>
            <a:r>
              <a:t>- OSTEP, v0.80, cap. 2, pp. 3-4.</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Para manejar la complejidad, el sistema operativo divide su trabajo en áreas especializadas. La gestión de procesos se ocupa de los programas en ejecución; la gestión de memoria administra los espacios que utilizan; la entrada y salida comunica al sistema con los dispositivos; el sistema de archivos organiza la información; el almacenamiento asigna espacio en los medios; y la protección controla el acceso. Estos componentes no trabajan aislados. Abrir un archivo, por ejemplo, puede involucrar un proceso, memoria, el sistema de archivos, una operación de entrada y salida, el almacenamiento y una comprobación de permisos. El sistema operativo está al centro porque coordina todas esas relaciones.</a:t>
            </a:r>
          </a:p>
          <a:p>
            <a:endParaRPr/>
          </a:p>
          <a:p>
            <a:r>
              <a:t>IDEA CLAVE PARA ESTUDIAR</a:t>
            </a:r>
          </a:p>
          <a:p>
            <a:r>
              <a:t>Los componentes son áreas de responsabilidad coordinadas, no piezas independientes.</a:t>
            </a:r>
          </a:p>
          <a:p>
            <a:endParaRPr/>
          </a:p>
          <a:p>
            <a:r>
              <a:t>TRANSICIÓN</a:t>
            </a:r>
          </a:p>
          <a:p>
            <a:r>
              <a:t>Empecemos por los dos recursos que sostienen la ejecución: procesador y memoria.</a:t>
            </a:r>
          </a:p>
          <a:p>
            <a:endParaRPr/>
          </a:p>
          <a:p>
            <a:r>
              <a:t>[Sources]</a:t>
            </a:r>
          </a:p>
          <a:p>
            <a:r>
              <a:t>- Silberschatz et al., 10a ed., cap. 1, secs. 1.5-1.6, pp. 27-34.</a:t>
            </a:r>
          </a:p>
          <a:p>
            <a:r>
              <a:t>- Stallings, 5a ed., organización del libro y caps. 3, 7-8, 11-12 y 16.</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Un programa almacenado no realiza trabajo hasta convertirse en un proceso y recibir tiempo de procesador. La gestión de procesos permite crear y terminar procesos, planificarlos, suspenderlos, reanudarlos y ofrecer mecanismos de comunicación y sincronización. Cuando varios procesos están listos, el planificador selecciona cuál utiliza el procesador. La memoria acompaña esa decisión: el sistema registra qué partes están ocupadas, asigna y libera espacio, y protege el espacio de cada proceso. Así pueden mantenerse varios trabajos en memoria y alternar su ejecución sin que uno utilice de forma desordenada los datos de otro. El procesador aporta tiempo de ejecución; la memoria conserva instrucciones, datos y estado.</a:t>
            </a:r>
          </a:p>
          <a:p>
            <a:endParaRPr/>
          </a:p>
          <a:p>
            <a:r>
              <a:t>IDEA CLAVE PARA ESTUDIAR</a:t>
            </a:r>
          </a:p>
          <a:p>
            <a:r>
              <a:t>Procesador y memoria se administran juntos para que varios procesos progresen con orden.</a:t>
            </a:r>
          </a:p>
          <a:p>
            <a:endParaRPr/>
          </a:p>
          <a:p>
            <a:r>
              <a:t>TRANSICIÓN</a:t>
            </a:r>
          </a:p>
          <a:p>
            <a:r>
              <a:t>La ejecución también necesita comunicarse con dispositivos y conservar información.</a:t>
            </a:r>
          </a:p>
          <a:p>
            <a:endParaRPr/>
          </a:p>
          <a:p>
            <a:r>
              <a:t>[Sources]</a:t>
            </a:r>
          </a:p>
          <a:p>
            <a:r>
              <a:t>- Silberschatz et al., 10a ed., cap. 1, secs. 1.5.1-1.5.2, pp. 27-29; caps. 3, 5, 9 y 10.</a:t>
            </a:r>
          </a:p>
          <a:p>
            <a:r>
              <a:t>- Stallings, 5a ed., caps. 3, 7, 8 y 9.</a:t>
            </a:r>
          </a:p>
          <a:p>
            <a:r>
              <a:t>- OSTEP, v0.80, cap. 2, secs. 2.1-2.2.</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Cuando una aplicación necesita leer o escribir datos, normalmente no controla el dispositivo de manera directa. Solicita el servicio mediante la interfaz de entrada y salida, y el sistema operativo dirige la petición al device driver, o controlador de dispositivo, que conoce el hardware específico. Esto permite ofrecer una forma uniforme de usar dispositivos diferentes. Si los datos deben conservarse, el sistema de archivos los organiza en archivos y directorios y los relaciona con el almacenamiento físico. La protección rodea todo el recorrido: determina quién puede solicitar una operación y qué lectura, escritura o modificación está permitida. Así se conectan aplicación, interfaz, controlador, dispositivo, archivo y permisos.</a:t>
            </a:r>
          </a:p>
          <a:p>
            <a:endParaRPr/>
          </a:p>
          <a:p>
            <a:r>
              <a:t>IDEA CLAVE PARA ESTUDIAR</a:t>
            </a:r>
          </a:p>
          <a:p>
            <a:r>
              <a:t>La entrada y salida mueve los datos, el sistema de archivos los organiza y la protección limita el acceso.</a:t>
            </a:r>
          </a:p>
          <a:p>
            <a:endParaRPr/>
          </a:p>
          <a:p>
            <a:r>
              <a:t>TRANSICIÓN</a:t>
            </a:r>
          </a:p>
          <a:p>
            <a:r>
              <a:t>Con estos componentes ya podemos ver al sistema operativo como gestor de recursos.</a:t>
            </a:r>
          </a:p>
          <a:p>
            <a:endParaRPr/>
          </a:p>
          <a:p>
            <a:r>
              <a:t>[Sources]</a:t>
            </a:r>
          </a:p>
          <a:p>
            <a:r>
              <a:t>- Silberschatz et al., 10a ed., cap. 1, secs. 1.5.3-1.6; caps. 12-17.</a:t>
            </a:r>
          </a:p>
          <a:p>
            <a:r>
              <a:t>- Stallings, 5a ed., caps. 11, 12 y 16.</a:t>
            </a:r>
          </a:p>
          <a:p>
            <a:r>
              <a:t>- OSTEP, v0.80, cap. 2, sec. 2.4, pp. 11-12; parte de persistencia.</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El procesador, la memoria, el almacenamiento y los dispositivos son recursos finitos, y varios programas pueden solicitarlos al mismo tiempo. El sistema operativo recibe esas solicitudes y decide quién obtiene cada recurso, durante cuánto tiempo y en qué momento. OSTEP resume esta función con el término resource manager, es decir, gestor de recursos. Las decisiones buscan aprovechar el hardware y mantener una ejecución ordenada. También existe una función de control: un proceso no debe interferir con otro ni con el núcleo. Por ejemplo, mientras un proceso espera una operación de entrada y salida, el sistema puede asignar el procesador a otro. El sistema operativo no crea recursos físicos; organiza y abstrae su uso compartido.</a:t>
            </a:r>
          </a:p>
          <a:p>
            <a:endParaRPr/>
          </a:p>
          <a:p>
            <a:r>
              <a:t>IDEA CLAVE PARA ESTUDIAR</a:t>
            </a:r>
          </a:p>
          <a:p>
            <a:r>
              <a:t>Gestionar recursos significa asignarlos, supervisarlos y evitar interferencias.</a:t>
            </a:r>
          </a:p>
          <a:p>
            <a:endParaRPr/>
          </a:p>
          <a:p>
            <a:r>
              <a:t>TRANSICIÓN</a:t>
            </a:r>
          </a:p>
          <a:p>
            <a:r>
              <a:t>Todos los sistemas gestionan recursos, aunque no todos se organizan de la misma forma.</a:t>
            </a:r>
          </a:p>
          <a:p>
            <a:endParaRPr/>
          </a:p>
          <a:p>
            <a:r>
              <a:t>[Sources]</a:t>
            </a:r>
          </a:p>
          <a:p>
            <a:r>
              <a:t>- Stallings, 5a ed., cap. 2, sec. 2.1, pp. 56-57.</a:t>
            </a:r>
          </a:p>
          <a:p>
            <a:r>
              <a:t>- Silberschatz et al., 10a ed., cap. 1, secs. 1.1.2 y 1.5.</a:t>
            </a:r>
          </a:p>
          <a:p>
            <a:r>
              <a:t>- OSTEP, v0.80, cap. 2, p. 4.</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Linux, Windows 10, macOS, iOS y Android cumplen responsabilidades semejantes, pero distribuyen sus componentes de manera distinta. Linux se describe como un núcleo monolítico con módulos cargables: muchos servicios trabajan en el espacio del núcleo y ciertas funciones pueden incorporarse como módulos. Windows 10 emplea una arquitectura híbrida organizada mediante subsistemas y componentes. macOS e iOS comparten Darwin, que combina elementos de Mach y BSD. Android utiliza un núcleo Linux modificado y añade bibliotecas, frameworks y una hardware abstraction layer, o capa de abstracción de hardware. Estos ejemplos muestran que una misma misión no obliga a utilizar una sola estructura interna.</a:t>
            </a:r>
          </a:p>
          <a:p>
            <a:endParaRPr/>
          </a:p>
          <a:p>
            <a:r>
              <a:t>IDEA CLAVE PARA ESTUDIAR</a:t>
            </a:r>
          </a:p>
          <a:p>
            <a:r>
              <a:t>La función general es común, pero la arquitectura y las capas cambian entre sistemas.</a:t>
            </a:r>
          </a:p>
          <a:p>
            <a:endParaRPr/>
          </a:p>
          <a:p>
            <a:r>
              <a:t>TRANSICIÓN</a:t>
            </a:r>
          </a:p>
          <a:p>
            <a:r>
              <a:t>Otra forma de clasificar un sistema operativo es por la cantidad de usuarios que atiende.</a:t>
            </a:r>
          </a:p>
          <a:p>
            <a:endParaRPr/>
          </a:p>
          <a:p>
            <a:r>
              <a:t>[Sources]</a:t>
            </a:r>
          </a:p>
          <a:p>
            <a:r>
              <a:t>- Silberschatz et al., 10a ed., cap. 2, secs. 2.8.4-2.8.5, pp. 86-91; caps. 20-21.</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GUION SUGERIDO PARA EXPONER (45-75 </a:t>
            </a:r>
            <a:r>
              <a:rPr dirty="0" err="1"/>
              <a:t>segundos</a:t>
            </a:r>
            <a:r>
              <a:rPr dirty="0"/>
              <a:t>)</a:t>
            </a:r>
          </a:p>
          <a:p>
            <a:r>
              <a:rPr dirty="0"/>
              <a:t>Un </a:t>
            </a:r>
            <a:r>
              <a:rPr dirty="0" err="1"/>
              <a:t>sistema</a:t>
            </a:r>
            <a:r>
              <a:rPr dirty="0"/>
              <a:t> </a:t>
            </a:r>
            <a:r>
              <a:rPr dirty="0" err="1"/>
              <a:t>monousuario</a:t>
            </a:r>
            <a:r>
              <a:rPr dirty="0"/>
              <a:t> </a:t>
            </a:r>
            <a:r>
              <a:rPr dirty="0" err="1"/>
              <a:t>está</a:t>
            </a:r>
            <a:r>
              <a:rPr dirty="0"/>
              <a:t> </a:t>
            </a:r>
            <a:r>
              <a:rPr dirty="0" err="1"/>
              <a:t>diseñado</a:t>
            </a:r>
            <a:r>
              <a:rPr dirty="0"/>
              <a:t> para </a:t>
            </a:r>
            <a:r>
              <a:rPr dirty="0" err="1"/>
              <a:t>atender</a:t>
            </a:r>
            <a:r>
              <a:rPr dirty="0"/>
              <a:t> a un </a:t>
            </a:r>
            <a:r>
              <a:rPr dirty="0" err="1"/>
              <a:t>usuario</a:t>
            </a:r>
            <a:r>
              <a:rPr dirty="0"/>
              <a:t> a la </a:t>
            </a:r>
            <a:r>
              <a:rPr dirty="0" err="1"/>
              <a:t>vez</a:t>
            </a:r>
            <a:r>
              <a:rPr dirty="0"/>
              <a:t>, </a:t>
            </a:r>
            <a:r>
              <a:rPr dirty="0" err="1"/>
              <a:t>aunque</a:t>
            </a:r>
            <a:r>
              <a:rPr dirty="0"/>
              <a:t> ese </a:t>
            </a:r>
            <a:r>
              <a:rPr dirty="0" err="1"/>
              <a:t>usuario</a:t>
            </a:r>
            <a:r>
              <a:rPr dirty="0"/>
              <a:t> </a:t>
            </a:r>
            <a:r>
              <a:rPr dirty="0" err="1"/>
              <a:t>puede</a:t>
            </a:r>
            <a:r>
              <a:rPr dirty="0"/>
              <a:t> </a:t>
            </a:r>
            <a:r>
              <a:rPr dirty="0" err="1"/>
              <a:t>ejecutar</a:t>
            </a:r>
            <a:r>
              <a:rPr dirty="0"/>
              <a:t> </a:t>
            </a:r>
            <a:r>
              <a:rPr dirty="0" err="1"/>
              <a:t>varias</a:t>
            </a:r>
            <a:r>
              <a:rPr dirty="0"/>
              <a:t> </a:t>
            </a:r>
            <a:r>
              <a:rPr dirty="0" err="1"/>
              <a:t>tareas</a:t>
            </a:r>
            <a:r>
              <a:rPr dirty="0"/>
              <a:t>. Un </a:t>
            </a:r>
            <a:r>
              <a:rPr dirty="0" err="1"/>
              <a:t>sistema</a:t>
            </a:r>
            <a:r>
              <a:rPr dirty="0"/>
              <a:t> </a:t>
            </a:r>
            <a:r>
              <a:rPr dirty="0" err="1"/>
              <a:t>multiusuario</a:t>
            </a:r>
            <a:r>
              <a:rPr dirty="0"/>
              <a:t> </a:t>
            </a:r>
            <a:r>
              <a:rPr dirty="0" err="1"/>
              <a:t>permite</a:t>
            </a:r>
            <a:r>
              <a:rPr dirty="0"/>
              <a:t> </a:t>
            </a:r>
            <a:r>
              <a:rPr dirty="0" err="1"/>
              <a:t>que</a:t>
            </a:r>
            <a:r>
              <a:rPr dirty="0"/>
              <a:t> </a:t>
            </a:r>
            <a:r>
              <a:rPr dirty="0" err="1"/>
              <a:t>varias</a:t>
            </a:r>
            <a:r>
              <a:rPr dirty="0"/>
              <a:t> personas </a:t>
            </a:r>
            <a:r>
              <a:rPr dirty="0" err="1"/>
              <a:t>compartan</a:t>
            </a:r>
            <a:r>
              <a:rPr dirty="0"/>
              <a:t> </a:t>
            </a:r>
            <a:r>
              <a:rPr dirty="0" err="1"/>
              <a:t>los</a:t>
            </a:r>
            <a:r>
              <a:rPr dirty="0"/>
              <a:t> </a:t>
            </a:r>
            <a:r>
              <a:rPr dirty="0" err="1"/>
              <a:t>recursos</a:t>
            </a:r>
            <a:r>
              <a:rPr dirty="0"/>
              <a:t> del </a:t>
            </a:r>
            <a:r>
              <a:rPr dirty="0" err="1"/>
              <a:t>mismo</a:t>
            </a:r>
            <a:r>
              <a:rPr dirty="0"/>
              <a:t> </a:t>
            </a:r>
            <a:r>
              <a:rPr dirty="0" err="1"/>
              <a:t>sistema</a:t>
            </a:r>
            <a:r>
              <a:rPr dirty="0"/>
              <a:t>, </a:t>
            </a:r>
            <a:r>
              <a:rPr dirty="0" err="1"/>
              <a:t>por</a:t>
            </a:r>
            <a:r>
              <a:rPr dirty="0"/>
              <a:t> lo </a:t>
            </a:r>
            <a:r>
              <a:rPr dirty="0" err="1"/>
              <a:t>que</a:t>
            </a:r>
            <a:r>
              <a:rPr dirty="0"/>
              <a:t> </a:t>
            </a:r>
            <a:r>
              <a:rPr dirty="0" err="1"/>
              <a:t>necesita</a:t>
            </a:r>
            <a:r>
              <a:rPr dirty="0"/>
              <a:t> </a:t>
            </a:r>
            <a:r>
              <a:rPr dirty="0" err="1"/>
              <a:t>mecanismos</a:t>
            </a:r>
            <a:r>
              <a:rPr dirty="0"/>
              <a:t> </a:t>
            </a:r>
            <a:r>
              <a:rPr dirty="0" err="1"/>
              <a:t>más</a:t>
            </a:r>
            <a:r>
              <a:rPr dirty="0"/>
              <a:t> </a:t>
            </a:r>
            <a:r>
              <a:rPr dirty="0" err="1"/>
              <a:t>fuertes</a:t>
            </a:r>
            <a:r>
              <a:rPr dirty="0"/>
              <a:t> de </a:t>
            </a:r>
            <a:r>
              <a:rPr dirty="0" err="1"/>
              <a:t>separación</a:t>
            </a:r>
            <a:r>
              <a:rPr dirty="0"/>
              <a:t>, </a:t>
            </a:r>
            <a:r>
              <a:rPr dirty="0" err="1"/>
              <a:t>protección</a:t>
            </a:r>
            <a:r>
              <a:rPr dirty="0"/>
              <a:t> y control. Es </a:t>
            </a:r>
            <a:r>
              <a:rPr dirty="0" err="1"/>
              <a:t>importante</a:t>
            </a:r>
            <a:r>
              <a:rPr dirty="0"/>
              <a:t> no </a:t>
            </a:r>
            <a:r>
              <a:rPr dirty="0" err="1"/>
              <a:t>confundir</a:t>
            </a:r>
            <a:r>
              <a:rPr dirty="0"/>
              <a:t> </a:t>
            </a:r>
            <a:r>
              <a:rPr dirty="0" err="1"/>
              <a:t>multiusuario</a:t>
            </a:r>
            <a:r>
              <a:rPr dirty="0"/>
              <a:t> con </a:t>
            </a:r>
            <a:r>
              <a:rPr dirty="0" err="1"/>
              <a:t>multitarea</a:t>
            </a:r>
            <a:r>
              <a:rPr dirty="0"/>
              <a:t>. </a:t>
            </a:r>
            <a:r>
              <a:rPr dirty="0" err="1"/>
              <a:t>Multitarea</a:t>
            </a:r>
            <a:r>
              <a:rPr dirty="0"/>
              <a:t> </a:t>
            </a:r>
            <a:r>
              <a:rPr dirty="0" err="1"/>
              <a:t>significa</a:t>
            </a:r>
            <a:r>
              <a:rPr dirty="0"/>
              <a:t> </a:t>
            </a:r>
            <a:r>
              <a:rPr dirty="0" err="1"/>
              <a:t>que</a:t>
            </a:r>
            <a:r>
              <a:rPr dirty="0"/>
              <a:t> </a:t>
            </a:r>
            <a:r>
              <a:rPr dirty="0" err="1"/>
              <a:t>varios</a:t>
            </a:r>
            <a:r>
              <a:rPr dirty="0"/>
              <a:t> </a:t>
            </a:r>
            <a:r>
              <a:rPr dirty="0" err="1"/>
              <a:t>programas</a:t>
            </a:r>
            <a:r>
              <a:rPr dirty="0"/>
              <a:t> </a:t>
            </a:r>
            <a:r>
              <a:rPr dirty="0" err="1"/>
              <a:t>pueden</a:t>
            </a:r>
            <a:r>
              <a:rPr dirty="0"/>
              <a:t> </a:t>
            </a:r>
            <a:r>
              <a:rPr dirty="0" err="1"/>
              <a:t>avanzar</a:t>
            </a:r>
            <a:r>
              <a:rPr dirty="0"/>
              <a:t> de forma </a:t>
            </a:r>
            <a:r>
              <a:rPr dirty="0" err="1"/>
              <a:t>aparentemente</a:t>
            </a:r>
            <a:r>
              <a:rPr dirty="0"/>
              <a:t> </a:t>
            </a:r>
            <a:r>
              <a:rPr dirty="0" err="1"/>
              <a:t>simultánea</a:t>
            </a:r>
            <a:r>
              <a:rPr dirty="0"/>
              <a:t>; </a:t>
            </a:r>
            <a:r>
              <a:rPr dirty="0" err="1"/>
              <a:t>incluso</a:t>
            </a:r>
            <a:r>
              <a:rPr dirty="0"/>
              <a:t> un solo </a:t>
            </a:r>
            <a:r>
              <a:rPr dirty="0" err="1"/>
              <a:t>usuario</a:t>
            </a:r>
            <a:r>
              <a:rPr dirty="0"/>
              <a:t> </a:t>
            </a:r>
            <a:r>
              <a:rPr dirty="0" err="1"/>
              <a:t>puede</a:t>
            </a:r>
            <a:r>
              <a:rPr dirty="0"/>
              <a:t> </a:t>
            </a:r>
            <a:r>
              <a:rPr dirty="0" err="1"/>
              <a:t>tener</a:t>
            </a:r>
            <a:r>
              <a:rPr dirty="0"/>
              <a:t> </a:t>
            </a:r>
            <a:r>
              <a:rPr dirty="0" err="1"/>
              <a:t>abierto</a:t>
            </a:r>
            <a:r>
              <a:rPr dirty="0"/>
              <a:t> un editor y </a:t>
            </a:r>
            <a:r>
              <a:rPr dirty="0" err="1"/>
              <a:t>otro</a:t>
            </a:r>
            <a:r>
              <a:rPr dirty="0"/>
              <a:t> </a:t>
            </a:r>
            <a:r>
              <a:rPr dirty="0" err="1"/>
              <a:t>programa</a:t>
            </a:r>
            <a:r>
              <a:rPr dirty="0"/>
              <a:t> al </a:t>
            </a:r>
            <a:r>
              <a:rPr dirty="0" err="1"/>
              <a:t>mismo</a:t>
            </a:r>
            <a:r>
              <a:rPr dirty="0"/>
              <a:t> </a:t>
            </a:r>
            <a:r>
              <a:rPr dirty="0" err="1"/>
              <a:t>tiempo</a:t>
            </a:r>
            <a:r>
              <a:rPr dirty="0"/>
              <a:t>. La </a:t>
            </a:r>
            <a:r>
              <a:rPr dirty="0" err="1"/>
              <a:t>clasificación</a:t>
            </a:r>
            <a:r>
              <a:rPr dirty="0"/>
              <a:t> </a:t>
            </a:r>
            <a:r>
              <a:rPr dirty="0" err="1"/>
              <a:t>por</a:t>
            </a:r>
            <a:r>
              <a:rPr dirty="0"/>
              <a:t> </a:t>
            </a:r>
            <a:r>
              <a:rPr dirty="0" err="1"/>
              <a:t>número</a:t>
            </a:r>
            <a:r>
              <a:rPr dirty="0"/>
              <a:t> de </a:t>
            </a:r>
            <a:r>
              <a:rPr dirty="0" err="1"/>
              <a:t>usuarios</a:t>
            </a:r>
            <a:r>
              <a:rPr dirty="0"/>
              <a:t> cambia las </a:t>
            </a:r>
            <a:r>
              <a:rPr dirty="0" err="1"/>
              <a:t>prioridades</a:t>
            </a:r>
            <a:r>
              <a:rPr dirty="0"/>
              <a:t> de </a:t>
            </a:r>
            <a:r>
              <a:rPr dirty="0" err="1"/>
              <a:t>protección</a:t>
            </a:r>
            <a:r>
              <a:rPr dirty="0"/>
              <a:t> y </a:t>
            </a:r>
            <a:r>
              <a:rPr dirty="0" err="1"/>
              <a:t>administración</a:t>
            </a:r>
            <a:r>
              <a:rPr dirty="0"/>
              <a:t>, </a:t>
            </a:r>
            <a:r>
              <a:rPr dirty="0" err="1"/>
              <a:t>pero</a:t>
            </a:r>
            <a:r>
              <a:rPr dirty="0"/>
              <a:t> no </a:t>
            </a:r>
            <a:r>
              <a:rPr dirty="0" err="1"/>
              <a:t>modifica</a:t>
            </a:r>
            <a:r>
              <a:rPr dirty="0"/>
              <a:t> la </a:t>
            </a:r>
            <a:r>
              <a:rPr dirty="0" err="1"/>
              <a:t>misión</a:t>
            </a:r>
            <a:r>
              <a:rPr dirty="0"/>
              <a:t> </a:t>
            </a:r>
            <a:r>
              <a:rPr dirty="0" err="1"/>
              <a:t>básica</a:t>
            </a:r>
            <a:r>
              <a:rPr dirty="0"/>
              <a:t> de </a:t>
            </a:r>
            <a:r>
              <a:rPr dirty="0" err="1"/>
              <a:t>asignar</a:t>
            </a:r>
            <a:r>
              <a:rPr dirty="0"/>
              <a:t> </a:t>
            </a:r>
            <a:r>
              <a:rPr dirty="0" err="1"/>
              <a:t>recursos</a:t>
            </a:r>
            <a:r>
              <a:rPr dirty="0"/>
              <a:t> y </a:t>
            </a:r>
            <a:r>
              <a:rPr dirty="0" err="1"/>
              <a:t>mantener</a:t>
            </a:r>
            <a:r>
              <a:rPr dirty="0"/>
              <a:t> </a:t>
            </a:r>
            <a:r>
              <a:rPr dirty="0" err="1"/>
              <a:t>separadas</a:t>
            </a:r>
            <a:r>
              <a:rPr dirty="0"/>
              <a:t> las </a:t>
            </a:r>
            <a:r>
              <a:rPr dirty="0" err="1"/>
              <a:t>actividades</a:t>
            </a:r>
            <a:r>
              <a:rPr dirty="0"/>
              <a:t>.</a:t>
            </a:r>
          </a:p>
          <a:p>
            <a:endParaRPr dirty="0"/>
          </a:p>
          <a:p>
            <a:r>
              <a:rPr dirty="0"/>
              <a:t>IDEA CLAVE PARA ESTUDIAR</a:t>
            </a:r>
          </a:p>
          <a:p>
            <a:r>
              <a:rPr dirty="0" err="1"/>
              <a:t>Multiusuario</a:t>
            </a:r>
            <a:r>
              <a:rPr dirty="0"/>
              <a:t> describe personas; </a:t>
            </a:r>
            <a:r>
              <a:rPr dirty="0" err="1"/>
              <a:t>multitarea</a:t>
            </a:r>
            <a:r>
              <a:rPr dirty="0"/>
              <a:t> describe </a:t>
            </a:r>
            <a:r>
              <a:rPr dirty="0" err="1"/>
              <a:t>programas</a:t>
            </a:r>
            <a:r>
              <a:rPr dirty="0"/>
              <a:t> en </a:t>
            </a:r>
            <a:r>
              <a:rPr dirty="0" err="1"/>
              <a:t>ejecución</a:t>
            </a:r>
            <a:r>
              <a:rPr dirty="0"/>
              <a:t>.</a:t>
            </a:r>
          </a:p>
          <a:p>
            <a:endParaRPr dirty="0"/>
          </a:p>
          <a:p>
            <a:r>
              <a:rPr dirty="0"/>
              <a:t>TRANSICIÓN</a:t>
            </a:r>
          </a:p>
          <a:p>
            <a:r>
              <a:rPr dirty="0"/>
              <a:t>Para </a:t>
            </a:r>
            <a:r>
              <a:rPr dirty="0" err="1"/>
              <a:t>explicar</a:t>
            </a:r>
            <a:r>
              <a:rPr dirty="0"/>
              <a:t> la </a:t>
            </a:r>
            <a:r>
              <a:rPr dirty="0" err="1"/>
              <a:t>ejecución</a:t>
            </a:r>
            <a:r>
              <a:rPr dirty="0"/>
              <a:t> con </a:t>
            </a:r>
            <a:r>
              <a:rPr dirty="0" err="1"/>
              <a:t>precisión</a:t>
            </a:r>
            <a:r>
              <a:rPr dirty="0"/>
              <a:t>, </a:t>
            </a:r>
            <a:r>
              <a:rPr dirty="0" err="1"/>
              <a:t>necesitamos</a:t>
            </a:r>
            <a:r>
              <a:rPr dirty="0"/>
              <a:t> </a:t>
            </a:r>
            <a:r>
              <a:rPr dirty="0" err="1"/>
              <a:t>dominar</a:t>
            </a:r>
            <a:r>
              <a:rPr dirty="0"/>
              <a:t> </a:t>
            </a:r>
            <a:r>
              <a:rPr dirty="0" err="1"/>
              <a:t>algunos</a:t>
            </a:r>
            <a:r>
              <a:rPr dirty="0"/>
              <a:t> </a:t>
            </a:r>
            <a:r>
              <a:rPr dirty="0" err="1"/>
              <a:t>términos</a:t>
            </a:r>
            <a:r>
              <a:rPr dirty="0"/>
              <a:t> </a:t>
            </a:r>
            <a:r>
              <a:rPr dirty="0" err="1"/>
              <a:t>básicos</a:t>
            </a:r>
            <a:r>
              <a:rPr dirty="0"/>
              <a:t>.</a:t>
            </a:r>
          </a:p>
          <a:p>
            <a:endParaRPr dirty="0"/>
          </a:p>
          <a:p>
            <a:r>
              <a:rPr dirty="0"/>
              <a:t>[Sources]</a:t>
            </a:r>
          </a:p>
          <a:p>
            <a:r>
              <a:rPr dirty="0"/>
              <a:t>- Stallings, 5a ed., cap. 2, </a:t>
            </a:r>
            <a:r>
              <a:rPr dirty="0" err="1"/>
              <a:t>apartado</a:t>
            </a:r>
            <a:r>
              <a:rPr dirty="0"/>
              <a:t> '</a:t>
            </a:r>
            <a:r>
              <a:rPr dirty="0" err="1"/>
              <a:t>Multitarea</a:t>
            </a:r>
            <a:r>
              <a:rPr dirty="0"/>
              <a:t> </a:t>
            </a:r>
            <a:r>
              <a:rPr dirty="0" err="1"/>
              <a:t>monousuario</a:t>
            </a:r>
            <a:r>
              <a:rPr dirty="0"/>
              <a:t>' y </a:t>
            </a:r>
            <a:r>
              <a:rPr dirty="0" err="1"/>
              <a:t>descripción</a:t>
            </a:r>
            <a:r>
              <a:rPr dirty="0"/>
              <a:t> de UNIX </a:t>
            </a:r>
            <a:r>
              <a:rPr dirty="0" err="1"/>
              <a:t>multiusuario</a:t>
            </a:r>
            <a:r>
              <a:rPr dirty="0"/>
              <a:t>.</a:t>
            </a:r>
          </a:p>
          <a:p>
            <a:r>
              <a:rPr dirty="0"/>
              <a:t>- Silberschatz et al., 10a ed., cap. 2, sec. 2.1; cap. 3, sec. 3.1.</a:t>
            </a:r>
          </a:p>
          <a:p>
            <a:r>
              <a:rPr dirty="0"/>
              <a:t>- </a:t>
            </a:r>
            <a:r>
              <a:rPr dirty="0" err="1"/>
              <a:t>Visuales</a:t>
            </a:r>
            <a:r>
              <a:rPr dirty="0"/>
              <a:t>: </a:t>
            </a:r>
            <a:r>
              <a:rPr dirty="0" err="1"/>
              <a:t>diagramas</a:t>
            </a:r>
            <a:r>
              <a:rPr dirty="0"/>
              <a:t> </a:t>
            </a:r>
            <a:r>
              <a:rPr dirty="0" err="1"/>
              <a:t>originales</a:t>
            </a:r>
            <a:r>
              <a:rPr dirty="0"/>
              <a:t> </a:t>
            </a:r>
            <a:r>
              <a:rPr dirty="0" err="1"/>
              <a:t>elaborados</a:t>
            </a:r>
            <a:r>
              <a:rPr dirty="0"/>
              <a:t> con formas </a:t>
            </a:r>
            <a:r>
              <a:rPr dirty="0" err="1"/>
              <a:t>nativas</a:t>
            </a:r>
            <a:r>
              <a:rPr dirty="0"/>
              <a:t> de PowerPoint; sin </a:t>
            </a:r>
            <a:r>
              <a:rPr dirty="0" err="1"/>
              <a:t>recursos</a:t>
            </a:r>
            <a:r>
              <a:rPr dirty="0"/>
              <a:t> </a:t>
            </a:r>
            <a:r>
              <a:rPr dirty="0" err="1"/>
              <a:t>visuales</a:t>
            </a:r>
            <a:r>
              <a:rPr dirty="0"/>
              <a:t> </a:t>
            </a:r>
            <a:r>
              <a:rPr dirty="0" err="1"/>
              <a:t>externos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El kernel, o núcleo, es la parte central que permanece activa y trabaja con privilegios. Un programa es un conjunto pasivo de instrucciones; cuando se ejecuta se convierte en proceso. Dentro de un proceso puede haber uno o más threads, o hilos, que representan flujos de ejecución. El scheduler, o planificador, decide qué proceso o hilo utiliza el procesador. Cuando cambia de uno a otro ocurre un context switch, o cambio de contexto: se guarda el estado actual y se restaura el siguiente. Para pedir servicios al núcleo, los programas utilizan una system call, o llamada al sistema. Estos términos describen una cadena: programa, proceso, planificación, cambio de contexto y servicio del núcleo.</a:t>
            </a:r>
          </a:p>
          <a:p>
            <a:endParaRPr/>
          </a:p>
          <a:p>
            <a:r>
              <a:t>IDEA CLAVE PARA ESTUDIAR</a:t>
            </a:r>
          </a:p>
          <a:p>
            <a:r>
              <a:t>El glosario de ejecución explica cómo un programa recibe tiempo de procesador y servicios del núcleo.</a:t>
            </a:r>
          </a:p>
          <a:p>
            <a:endParaRPr/>
          </a:p>
          <a:p>
            <a:r>
              <a:t>TRANSICIÓN</a:t>
            </a:r>
          </a:p>
          <a:p>
            <a:r>
              <a:t>La información que ejecutan los procesos también requiere conceptos de memoria y persistencia.</a:t>
            </a:r>
          </a:p>
          <a:p>
            <a:endParaRPr/>
          </a:p>
          <a:p>
            <a:r>
              <a:t>[Sources]</a:t>
            </a:r>
          </a:p>
          <a:p>
            <a:r>
              <a:t>- Silberschatz et al., 10a ed., caps. 1, 3, 4 y 5.</a:t>
            </a:r>
          </a:p>
          <a:p>
            <a:r>
              <a:t>- OSTEP, v0.80, caps. 2, 4 y 26.</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El address space, o espacio de direcciones, es la visión lógica de memoria que tiene un proceso. La virtual memory, o memoria virtual, separa esa visión de la memoria física y ayuda a ofrecer espacios privados. La entrada y salida describe la transferencia entre el computador y los dispositivos. El device driver traduce las operaciones generales a instrucciones que entiende un dispositivo concreto. El file system, o sistema de archivos, proporciona nombres y organización para conservar información. Finalmente, la protección establece qué procesos o usuarios pueden acceder a cada recurso. En conjunto, estos términos explican cómo el sistema abstrae la memoria, mueve los datos, los conserva y limita su uso.</a:t>
            </a:r>
          </a:p>
          <a:p>
            <a:endParaRPr/>
          </a:p>
          <a:p>
            <a:r>
              <a:t>IDEA CLAVE PARA ESTUDIAR</a:t>
            </a:r>
          </a:p>
          <a:p>
            <a:r>
              <a:t>Memoria, entrada y salida, archivos y protección describen el recorrido completo de la información.</a:t>
            </a:r>
          </a:p>
          <a:p>
            <a:endParaRPr/>
          </a:p>
          <a:p>
            <a:r>
              <a:t>TRANSICIÓN</a:t>
            </a:r>
          </a:p>
          <a:p>
            <a:r>
              <a:t>Ahora podemos ubicar estos conceptos dentro de las partes que forman un sistema operativo.</a:t>
            </a:r>
          </a:p>
          <a:p>
            <a:endParaRPr/>
          </a:p>
          <a:p>
            <a:r>
              <a:t>[Sources]</a:t>
            </a:r>
          </a:p>
          <a:p>
            <a:r>
              <a:t>- Silberschatz et al., 10a ed., caps. 9-17.</a:t>
            </a:r>
          </a:p>
          <a:p>
            <a:r>
              <a:t>- OSTEP, v0.80, cap. 2, sec. 2.2 y parte de persistencia.</a:t>
            </a:r>
          </a:p>
          <a:p>
            <a:r>
              <a:t>- Stallings, 5a ed., caps. 7, 8, 11, 12 y 16.</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El núcleo es el centro del sistema operativo, pero no representa por sí solo todo lo que el usuario utiliza. En la parte inferior está el hardware. Sobre él trabaja el kernel, que ejecuta las funciones privilegiadas y administra recursos. La interfaz de llamadas al sistema forma una frontera controlada para que los programas soliciten servicios. Encima aparecen programas de sistema, utilidades, bibliotecas y middleware que amplían esos servicios. Finalmente están la interfaz de usuario y las aplicaciones. Esta organización explica dos ideas: el núcleo es esencial porque controla el hardware, pero las capas superiores también forman parte del entorno operativo que permite trabajar al usuario.</a:t>
            </a:r>
          </a:p>
          <a:p>
            <a:endParaRPr/>
          </a:p>
          <a:p>
            <a:r>
              <a:t>IDEA CLAVE PARA ESTUDIAR</a:t>
            </a:r>
          </a:p>
          <a:p>
            <a:r>
              <a:t>El núcleo controla los recursos; las capas superiores convierten sus servicios en un entorno utilizable.</a:t>
            </a:r>
          </a:p>
          <a:p>
            <a:endParaRPr/>
          </a:p>
          <a:p>
            <a:r>
              <a:t>TRANSICIÓN</a:t>
            </a:r>
          </a:p>
          <a:p>
            <a:r>
              <a:t>La manera de organizar esas partes da origen a distintas arquitecturas.</a:t>
            </a:r>
          </a:p>
          <a:p>
            <a:endParaRPr/>
          </a:p>
          <a:p>
            <a:r>
              <a:t>[Sources]</a:t>
            </a:r>
          </a:p>
          <a:p>
            <a:r>
              <a:t>- Silberschatz et al., 10a ed., cap. 1, sec. 1.1.3, pp. 6-7; cap. 2, secs. 2.1-2.4.</a:t>
            </a:r>
          </a:p>
          <a:p>
            <a:r>
              <a:t>- Stallings, 5a ed., cap. 2, arquitectura general de UNIX, p. 92.</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Las arquitecturas se distinguen por dónde se ubican los servicios y cómo se comunican. En una estructura monolítica, muchos servicios se ejecutan juntos dentro del núcleo. En una estructura por capas, cada nivel utiliza los servicios del nivel inferior. Un microkernel conserva en el núcleo solo funciones esenciales y traslada otros servicios a procesos que se comunican mediante mensajes. Los módulos permiten añadir componentes al núcleo de forma dinámica. Una arquitectura híbrida combina varias de estas ideas. No existe una estructura única para todos los casos: cada enfoque organiza de manera diferente la comunicación, la extensión del sistema y la ubicación de los servicios.</a:t>
            </a:r>
          </a:p>
          <a:p>
            <a:endParaRPr/>
          </a:p>
          <a:p>
            <a:r>
              <a:t>IDEA CLAVE PARA ESTUDIAR</a:t>
            </a:r>
          </a:p>
          <a:p>
            <a:r>
              <a:t>La arquitectura define dónde viven los servicios y cómo colaboran entre sí.</a:t>
            </a:r>
          </a:p>
          <a:p>
            <a:endParaRPr/>
          </a:p>
          <a:p>
            <a:r>
              <a:t>TRANSICIÓN</a:t>
            </a:r>
          </a:p>
          <a:p>
            <a:r>
              <a:t>Además de conocer las partes, debemos explicar qué acciones de gestión realiza cada una.</a:t>
            </a:r>
          </a:p>
          <a:p>
            <a:endParaRPr/>
          </a:p>
          <a:p>
            <a:r>
              <a:t>[Sources]</a:t>
            </a:r>
          </a:p>
          <a:p>
            <a:r>
              <a:t>- Silberschatz et al., 10a ed., cap. 2, sec. 2.8, pp. 81-91.</a:t>
            </a:r>
          </a:p>
          <a:p>
            <a:r>
              <a:t>- Stallings, 5a ed., cap. 4, sec. 4.3, y ejemplos estructurales del cap. 2.</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Gestionar no significa solamente tener componentes; significa mantener un ciclo continuo de decisiones. En procesos, el sistema crea, termina, planifica, comunica y sincroniza. En memoria, registra el uso, asigna espacio, lo libera y protege direcciones. En archivos, crea nombres, organiza directorios, controla accesos y conserva datos. En entrada y salida, ofrece una interfaz común, coordina transferencias y controla dispositivos. En almacenamiento, asigna y recupera espacio y puede planificar solicitudes. La protección atraviesa todas las áreas porque cada decisión debe comprobar límites y permisos. Podemos resumir la gestión con cuatro verbos: observar el estado, decidir, ejecutar y aplicar límites.</a:t>
            </a:r>
          </a:p>
          <a:p>
            <a:endParaRPr/>
          </a:p>
          <a:p>
            <a:r>
              <a:t>IDEA CLAVE PARA ESTUDIAR</a:t>
            </a:r>
          </a:p>
          <a:p>
            <a:r>
              <a:t>Cada área de gestión observa, asigna, coordina y protege recursos.</a:t>
            </a:r>
          </a:p>
          <a:p>
            <a:endParaRPr/>
          </a:p>
          <a:p>
            <a:r>
              <a:t>TRANSICIÓN</a:t>
            </a:r>
          </a:p>
          <a:p>
            <a:r>
              <a:t>Estas responsabilidades aparecen en los sistemas de escritorio, aunque su arquitectura sea distinta.</a:t>
            </a:r>
          </a:p>
          <a:p>
            <a:endParaRPr/>
          </a:p>
          <a:p>
            <a:r>
              <a:t>[Sources]</a:t>
            </a:r>
          </a:p>
          <a:p>
            <a:r>
              <a:t>- Silberschatz et al., 10a ed., cap. 1, sec. 1.5; caps. 3-17.</a:t>
            </a:r>
          </a:p>
          <a:p>
            <a:r>
              <a:t>- Stallings, 5a ed., caps. 3-12 y 16.</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En los ordenadores de escritorio podemos comparar tres ejemplos descritos en los libros. Linux utiliza un núcleo monolítico con soporte para módulos cargables. Windows 10 se presenta como un sistema de arquitectura híbrida organizado en distintos componentes y subsistemas. macOS utiliza Darwin, donde se combinan Mach y componentes BSD, además de capas superiores del sistema. Desde la perspectiva general, los tres deben ejecutar programas, administrar memoria, organizar archivos, controlar dispositivos y aplicar protección. La diferencia principal de esta comparación no es la misión, sino la forma interna en que distribuyen esas responsabilidades y conectan sus componentes.</a:t>
            </a:r>
          </a:p>
          <a:p>
            <a:endParaRPr/>
          </a:p>
          <a:p>
            <a:r>
              <a:t>IDEA CLAVE PARA ESTUDIAR</a:t>
            </a:r>
          </a:p>
          <a:p>
            <a:r>
              <a:t>Linux, Windows 10 y macOS ofrecen funciones semejantes mediante organizaciones internas diferentes.</a:t>
            </a:r>
          </a:p>
          <a:p>
            <a:endParaRPr/>
          </a:p>
          <a:p>
            <a:r>
              <a:t>TRANSICIÓN</a:t>
            </a:r>
          </a:p>
          <a:p>
            <a:r>
              <a:t>Los dispositivos móviles conservan esas funciones, pero adaptan sus capas y políticas al entorno.</a:t>
            </a:r>
          </a:p>
          <a:p>
            <a:endParaRPr/>
          </a:p>
          <a:p>
            <a:r>
              <a:t>[Sources]</a:t>
            </a:r>
          </a:p>
          <a:p>
            <a:r>
              <a:t>- Silberschatz et al., 10a ed., cap. 20 (Linux), cap. 21 (Windows 10) y sec. 2.8.5.1 (macOS/Darwin).</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iOS y Android siguen administrando procesos, memoria, archivos, dispositivos y protección, pero están organizados para el entorno móvil descrito en la edición de 2018. iOS comparte la base Darwin con macOS y utiliza capas y frameworks orientados a sus aplicaciones y dispositivos. Android se construye sobre un núcleo Linux modificado e incorpora bibliotecas, el entorno de ejecución, frameworks de aplicaciones y una hardware abstraction layer que presenta una interfaz consistente hacia distintos componentes físicos. En ambos casos, las capas superiores acercan los servicios del núcleo a las aplicaciones móviles. La comparación debe entenderse como una descripción arquitectónica de los libros, no como una afirmación sobre versiones actuales.</a:t>
            </a:r>
          </a:p>
          <a:p>
            <a:endParaRPr/>
          </a:p>
          <a:p>
            <a:r>
              <a:t>IDEA CLAVE PARA ESTUDIAR</a:t>
            </a:r>
          </a:p>
          <a:p>
            <a:r>
              <a:t>Los sistemas móviles mantienen las funciones esenciales y adaptan su arquitectura al dispositivo.</a:t>
            </a:r>
          </a:p>
          <a:p>
            <a:endParaRPr/>
          </a:p>
          <a:p>
            <a:r>
              <a:t>TRANSICIÓN</a:t>
            </a:r>
          </a:p>
          <a:p>
            <a:r>
              <a:t>Para cerrar, relacionemos las categorías de sistemas operativos con las necesidades de cada entorno.</a:t>
            </a:r>
          </a:p>
          <a:p>
            <a:endParaRPr/>
          </a:p>
          <a:p>
            <a:r>
              <a:t>[Sources]</a:t>
            </a:r>
          </a:p>
          <a:p>
            <a:r>
              <a:t>- Silberschatz et al., 10a ed., cap. 1, sec. 1.10.2, pp. 40-42; cap. 2, sec. 2.8.5, pp. 87-91.</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 PARA EXPONER (45-75 segundos)</a:t>
            </a:r>
          </a:p>
          <a:p>
            <a:r>
              <a:t>No existe una categoría universalmente más importante; su importancia depende del objetivo del entorno. En el procesamiento por lotes interesa organizar trabajos y aprovechar los recursos. En tiempo compartido importa ofrecer interacción y respuesta a varios usuarios o procesos. En los sistemas de tiempo real, el cumplimiento de restricciones temporales es central. En el entorno móvil adquieren especial peso las limitaciones del dispositivo. Los sistemas distribuidos y los entornos de nube coordinan recursos y servicios conectados. Aunque las prioridades cambian, la misión permanece: abstraer el hardware, asignar recursos y controlar la ejecución. Esa es la idea final que une los diez puntos de la exposición.</a:t>
            </a:r>
          </a:p>
          <a:p>
            <a:endParaRPr/>
          </a:p>
          <a:p>
            <a:r>
              <a:t>IDEA CLAVE PARA ESTUDIAR</a:t>
            </a:r>
          </a:p>
          <a:p>
            <a:r>
              <a:t>La categoría cambia con el entorno; la misión de abstraer, asignar y controlar permanece.</a:t>
            </a:r>
          </a:p>
          <a:p>
            <a:endParaRPr/>
          </a:p>
          <a:p>
            <a:r>
              <a:t>TRANSICIÓN</a:t>
            </a:r>
          </a:p>
          <a:p>
            <a:r>
              <a:t>Cierre agradeciendo la atención y abra el espacio para preguntas.</a:t>
            </a:r>
          </a:p>
          <a:p>
            <a:endParaRPr/>
          </a:p>
          <a:p>
            <a:r>
              <a:t>[Sources]</a:t>
            </a:r>
          </a:p>
          <a:p>
            <a:r>
              <a:t>- Stallings, 5a ed., cap. 2: procesamiento por lotes y tiempo compartido; cap. 10: tiempo real; cap. 14: procesamiento distribuido.</a:t>
            </a:r>
          </a:p>
          <a:p>
            <a:r>
              <a:t>- Silberschatz et al., 10a ed., cap. 1, sec. 1.10: entornos tradicionales, móviles, cliente-servidor, P2P, nube y tiempo real embebido.</a:t>
            </a:r>
          </a:p>
          <a:p>
            <a:r>
              <a:t>- Visuales: diagramas originales elaborados con formas nativas de PowerPoint; sin recursos visuales externos.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35D8FD3B-A45E-4945-BEB9-0050A84F2822}"/>
              </a:ext>
            </a:extLst>
          </p:cNvPr>
          <p:cNvSpPr>
            <a:spLocks noGrp="1"/>
          </p:cNvSpPr>
          <p:nvPr/>
        </p:nvSpPr>
        <p:spPr>
          <a:xfrm>
            <a:off x="0" y="0"/>
            <a:ext cx="171450" cy="6858000"/>
          </a:xfrm>
          <a:prstGeom prst="rect">
            <a:avLst/>
          </a:prstGeom>
          <a:solidFill>
            <a:srgbClr val="2D6FB7"/>
          </a:solidFill>
          <a:ln w="0">
            <a:solidFill>
              <a:srgbClr val="2D6FB7"/>
            </a:solidFill>
            <a:prstDash val="solid"/>
          </a:ln>
        </p:spPr>
        <p:txBody>
          <a:bodyPr/>
          <a:lstStyle/>
          <a:p>
            <a:endParaRPr lang="es-MX"/>
          </a:p>
        </p:txBody>
      </p:sp>
      <p:sp>
        <p:nvSpPr>
          <p:cNvPr id="2" name="Rectángulo 1">
            <a:extLst>
              <a:ext uri="{FF2B5EF4-FFF2-40B4-BE49-F238E27FC236}">
                <a16:creationId xmlns:a16="http://schemas.microsoft.com/office/drawing/2014/main" id="{EC3DAD83-43C5-479F-ADE7-6B152C373712}"/>
              </a:ext>
            </a:extLst>
          </p:cNvPr>
          <p:cNvSpPr>
            <a:spLocks noGrp="1"/>
          </p:cNvSpPr>
          <p:nvPr/>
        </p:nvSpPr>
        <p:spPr>
          <a:xfrm>
            <a:off x="723900" y="552450"/>
            <a:ext cx="5715000" cy="247650"/>
          </a:xfrm>
          <a:prstGeom prst="rect">
            <a:avLst/>
          </a:prstGeom>
          <a:noFill/>
          <a:ln w="0">
            <a:noFill/>
            <a:prstDash val="solid"/>
          </a:ln>
        </p:spPr>
        <p:txBody>
          <a:bodyPr lIns="0" tIns="0" rIns="0" bIns="0" anchor="t">
            <a:normAutofit/>
          </a:bodyPr>
          <a:lstStyle/>
          <a:p>
            <a:pPr algn="l">
              <a:lnSpc>
                <a:spcPct val="100000"/>
              </a:lnSpc>
              <a:buNone/>
              <a:defRPr sz="1350" b="1">
                <a:solidFill>
                  <a:srgbClr val="5A9BDC"/>
                </a:solidFill>
                <a:latin typeface="Bahnschrift"/>
                <a:ea typeface="Bahnschrift"/>
                <a:cs typeface="Bahnschrift"/>
              </a:defRPr>
            </a:pPr>
            <a:r>
              <a:rPr sz="1350" b="1">
                <a:solidFill>
                  <a:srgbClr val="5A9BDC"/>
                </a:solidFill>
                <a:latin typeface="Bahnschrift"/>
                <a:ea typeface="Bahnschrift"/>
                <a:cs typeface="Bahnschrift"/>
              </a:rPr>
              <a:t>FUNDAMENTOS DE SISTEMAS OPERATIVOS</a:t>
            </a:r>
          </a:p>
        </p:txBody>
      </p:sp>
      <p:sp>
        <p:nvSpPr>
          <p:cNvPr id="3" name="Rectángulo 2">
            <a:extLst>
              <a:ext uri="{FF2B5EF4-FFF2-40B4-BE49-F238E27FC236}">
                <a16:creationId xmlns:a16="http://schemas.microsoft.com/office/drawing/2014/main" id="{31670DDE-5107-420B-BA99-FB01CE8DE7A0}"/>
              </a:ext>
            </a:extLst>
          </p:cNvPr>
          <p:cNvSpPr>
            <a:spLocks noGrp="1"/>
          </p:cNvSpPr>
          <p:nvPr/>
        </p:nvSpPr>
        <p:spPr>
          <a:xfrm>
            <a:off x="723900" y="1151941"/>
            <a:ext cx="6858000" cy="2829510"/>
          </a:xfrm>
          <a:prstGeom prst="rect">
            <a:avLst/>
          </a:prstGeom>
          <a:noFill/>
          <a:ln w="0">
            <a:noFill/>
            <a:prstDash val="solid"/>
          </a:ln>
        </p:spPr>
        <p:txBody>
          <a:bodyPr lIns="0" tIns="0" rIns="0" bIns="0" anchor="t">
            <a:noAutofit/>
          </a:bodyPr>
          <a:lstStyle/>
          <a:p>
            <a:pPr algn="l">
              <a:lnSpc>
                <a:spcPct val="92000"/>
              </a:lnSpc>
              <a:buNone/>
              <a:defRPr sz="4950" b="1">
                <a:solidFill>
                  <a:srgbClr val="F8FAFC"/>
                </a:solidFill>
                <a:latin typeface="Arial Black"/>
                <a:ea typeface="Arial Black"/>
                <a:cs typeface="Arial Black"/>
              </a:defRPr>
            </a:pPr>
            <a:r>
              <a:rPr sz="4950" b="1" dirty="0">
                <a:solidFill>
                  <a:srgbClr val="F8FAFC"/>
                </a:solidFill>
                <a:latin typeface="Arial Black"/>
                <a:ea typeface="Arial Black"/>
                <a:cs typeface="Arial Black"/>
              </a:rPr>
              <a:t>El </a:t>
            </a:r>
            <a:r>
              <a:rPr sz="4950" b="1" dirty="0" err="1">
                <a:solidFill>
                  <a:srgbClr val="F8FAFC"/>
                </a:solidFill>
                <a:latin typeface="Arial Black"/>
                <a:ea typeface="Arial Black"/>
                <a:cs typeface="Arial Black"/>
              </a:rPr>
              <a:t>sistema</a:t>
            </a:r>
            <a:r>
              <a:rPr sz="4950" b="1" dirty="0">
                <a:solidFill>
                  <a:srgbClr val="F8FAFC"/>
                </a:solidFill>
                <a:latin typeface="Arial Black"/>
                <a:ea typeface="Arial Black"/>
                <a:cs typeface="Arial Black"/>
              </a:rPr>
              <a:t> </a:t>
            </a:r>
            <a:r>
              <a:rPr sz="4950" b="1" dirty="0" err="1">
                <a:solidFill>
                  <a:srgbClr val="F8FAFC"/>
                </a:solidFill>
                <a:latin typeface="Arial Black"/>
                <a:ea typeface="Arial Black"/>
                <a:cs typeface="Arial Black"/>
              </a:rPr>
              <a:t>operativo</a:t>
            </a:r>
            <a:endParaRPr sz="4950" b="1" dirty="0">
              <a:solidFill>
                <a:srgbClr val="F8FAFC"/>
              </a:solidFill>
              <a:latin typeface="Arial Black"/>
              <a:ea typeface="Arial Black"/>
              <a:cs typeface="Arial Black"/>
            </a:endParaRPr>
          </a:p>
          <a:p>
            <a:pPr algn="l">
              <a:lnSpc>
                <a:spcPct val="92000"/>
              </a:lnSpc>
              <a:buNone/>
              <a:defRPr sz="4950" b="1">
                <a:solidFill>
                  <a:srgbClr val="F8FAFC"/>
                </a:solidFill>
                <a:latin typeface="Arial Black"/>
                <a:ea typeface="Arial Black"/>
                <a:cs typeface="Arial Black"/>
              </a:defRPr>
            </a:pPr>
            <a:r>
              <a:rPr sz="4950" b="1" dirty="0" err="1">
                <a:solidFill>
                  <a:srgbClr val="F8FAFC"/>
                </a:solidFill>
                <a:latin typeface="Arial Black"/>
                <a:ea typeface="Arial Black"/>
                <a:cs typeface="Arial Black"/>
              </a:rPr>
              <a:t>organiza</a:t>
            </a:r>
            <a:r>
              <a:rPr sz="4950" b="1" dirty="0">
                <a:solidFill>
                  <a:srgbClr val="F8FAFC"/>
                </a:solidFill>
                <a:latin typeface="Arial Black"/>
                <a:ea typeface="Arial Black"/>
                <a:cs typeface="Arial Black"/>
              </a:rPr>
              <a:t> </a:t>
            </a:r>
            <a:r>
              <a:rPr sz="4950" b="1" dirty="0" err="1">
                <a:solidFill>
                  <a:srgbClr val="F8FAFC"/>
                </a:solidFill>
                <a:latin typeface="Arial Black"/>
                <a:ea typeface="Arial Black"/>
                <a:cs typeface="Arial Black"/>
              </a:rPr>
              <a:t>todo</a:t>
            </a:r>
            <a:r>
              <a:rPr sz="4950" b="1" dirty="0">
                <a:solidFill>
                  <a:srgbClr val="F8FAFC"/>
                </a:solidFill>
                <a:latin typeface="Arial Black"/>
                <a:ea typeface="Arial Black"/>
                <a:cs typeface="Arial Black"/>
              </a:rPr>
              <a:t> el </a:t>
            </a:r>
            <a:r>
              <a:rPr sz="4950" b="1" dirty="0" err="1">
                <a:solidFill>
                  <a:srgbClr val="F8FAFC"/>
                </a:solidFill>
                <a:latin typeface="Arial Black"/>
                <a:ea typeface="Arial Black"/>
                <a:cs typeface="Arial Black"/>
              </a:rPr>
              <a:t>computador</a:t>
            </a:r>
            <a:endParaRPr sz="4950" b="1" dirty="0">
              <a:solidFill>
                <a:srgbClr val="F8FAFC"/>
              </a:solidFill>
              <a:latin typeface="Arial Black"/>
              <a:ea typeface="Arial Black"/>
              <a:cs typeface="Arial Black"/>
            </a:endParaRPr>
          </a:p>
        </p:txBody>
      </p:sp>
      <p:sp>
        <p:nvSpPr>
          <p:cNvPr id="4" name="Rectángulo 3">
            <a:extLst>
              <a:ext uri="{FF2B5EF4-FFF2-40B4-BE49-F238E27FC236}">
                <a16:creationId xmlns:a16="http://schemas.microsoft.com/office/drawing/2014/main" id="{3D440DEE-6736-4130-8683-BDE14D6B7C92}"/>
              </a:ext>
            </a:extLst>
          </p:cNvPr>
          <p:cNvSpPr>
            <a:spLocks noGrp="1"/>
          </p:cNvSpPr>
          <p:nvPr/>
        </p:nvSpPr>
        <p:spPr>
          <a:xfrm>
            <a:off x="685800" y="3981450"/>
            <a:ext cx="6191250" cy="438150"/>
          </a:xfrm>
          <a:prstGeom prst="rect">
            <a:avLst/>
          </a:prstGeom>
          <a:noFill/>
          <a:ln w="0">
            <a:noFill/>
            <a:prstDash val="solid"/>
          </a:ln>
        </p:spPr>
        <p:txBody>
          <a:bodyPr lIns="0" tIns="0" rIns="0" bIns="0" anchor="t">
            <a:normAutofit fontScale="92302"/>
          </a:bodyPr>
          <a:lstStyle/>
          <a:p>
            <a:pPr algn="l">
              <a:lnSpc>
                <a:spcPct val="100000"/>
              </a:lnSpc>
              <a:buNone/>
              <a:defRPr sz="2100" b="0">
                <a:solidFill>
                  <a:srgbClr val="AEB9C5"/>
                </a:solidFill>
                <a:latin typeface="Bahnschrift"/>
                <a:ea typeface="Bahnschrift"/>
                <a:cs typeface="Bahnschrift"/>
              </a:defRPr>
            </a:pPr>
            <a:r>
              <a:rPr sz="2100" b="0" dirty="0" err="1">
                <a:solidFill>
                  <a:srgbClr val="AEB9C5"/>
                </a:solidFill>
                <a:latin typeface="Bahnschrift"/>
                <a:ea typeface="Bahnschrift"/>
                <a:cs typeface="Bahnschrift"/>
              </a:rPr>
              <a:t>Arquitectura</a:t>
            </a:r>
            <a:r>
              <a:rPr sz="2100" b="0" dirty="0">
                <a:solidFill>
                  <a:srgbClr val="AEB9C5"/>
                </a:solidFill>
                <a:latin typeface="Bahnschrift"/>
                <a:ea typeface="Bahnschrift"/>
                <a:cs typeface="Bahnschrift"/>
              </a:rPr>
              <a:t>, </a:t>
            </a:r>
            <a:r>
              <a:rPr sz="2100" b="0" dirty="0" err="1">
                <a:solidFill>
                  <a:srgbClr val="AEB9C5"/>
                </a:solidFill>
                <a:latin typeface="Bahnschrift"/>
                <a:ea typeface="Bahnschrift"/>
                <a:cs typeface="Bahnschrift"/>
              </a:rPr>
              <a:t>desempeño</a:t>
            </a:r>
            <a:r>
              <a:rPr sz="2100" b="0" dirty="0">
                <a:solidFill>
                  <a:srgbClr val="AEB9C5"/>
                </a:solidFill>
                <a:latin typeface="Bahnschrift"/>
                <a:ea typeface="Bahnschrift"/>
                <a:cs typeface="Bahnschrift"/>
              </a:rPr>
              <a:t> y </a:t>
            </a:r>
            <a:r>
              <a:rPr sz="2100" b="0" dirty="0" err="1">
                <a:solidFill>
                  <a:srgbClr val="AEB9C5"/>
                </a:solidFill>
                <a:latin typeface="Bahnschrift"/>
                <a:ea typeface="Bahnschrift"/>
                <a:cs typeface="Bahnschrift"/>
              </a:rPr>
              <a:t>tipos</a:t>
            </a:r>
            <a:r>
              <a:rPr sz="2100" b="0" dirty="0">
                <a:solidFill>
                  <a:srgbClr val="AEB9C5"/>
                </a:solidFill>
                <a:latin typeface="Bahnschrift"/>
                <a:ea typeface="Bahnschrift"/>
                <a:cs typeface="Bahnschrift"/>
              </a:rPr>
              <a:t> de </a:t>
            </a:r>
            <a:r>
              <a:rPr sz="2100" b="0" dirty="0" err="1">
                <a:solidFill>
                  <a:srgbClr val="AEB9C5"/>
                </a:solidFill>
                <a:latin typeface="Bahnschrift"/>
                <a:ea typeface="Bahnschrift"/>
                <a:cs typeface="Bahnschrift"/>
              </a:rPr>
              <a:t>sistemas</a:t>
            </a:r>
            <a:r>
              <a:rPr sz="2100" b="0" dirty="0">
                <a:solidFill>
                  <a:srgbClr val="AEB9C5"/>
                </a:solidFill>
                <a:latin typeface="Bahnschrift"/>
                <a:ea typeface="Bahnschrift"/>
                <a:cs typeface="Bahnschrift"/>
              </a:rPr>
              <a:t> </a:t>
            </a:r>
            <a:r>
              <a:rPr sz="2100" b="0" dirty="0" err="1">
                <a:solidFill>
                  <a:srgbClr val="AEB9C5"/>
                </a:solidFill>
                <a:latin typeface="Bahnschrift"/>
                <a:ea typeface="Bahnschrift"/>
                <a:cs typeface="Bahnschrift"/>
              </a:rPr>
              <a:t>operativos</a:t>
            </a:r>
            <a:endParaRPr sz="2100" b="0" dirty="0">
              <a:solidFill>
                <a:srgbClr val="AEB9C5"/>
              </a:solidFill>
              <a:latin typeface="Bahnschrift"/>
              <a:ea typeface="Bahnschrift"/>
              <a:cs typeface="Bahnschrift"/>
            </a:endParaRPr>
          </a:p>
        </p:txBody>
      </p:sp>
      <p:sp>
        <p:nvSpPr>
          <p:cNvPr id="5" name="Rectángulo 4">
            <a:extLst>
              <a:ext uri="{FF2B5EF4-FFF2-40B4-BE49-F238E27FC236}">
                <a16:creationId xmlns:a16="http://schemas.microsoft.com/office/drawing/2014/main" id="{C704077E-676B-4846-890D-C41BC2537374}"/>
              </a:ext>
            </a:extLst>
          </p:cNvPr>
          <p:cNvSpPr>
            <a:spLocks noGrp="1"/>
          </p:cNvSpPr>
          <p:nvPr/>
        </p:nvSpPr>
        <p:spPr>
          <a:xfrm>
            <a:off x="8382000" y="2000250"/>
            <a:ext cx="2724150" cy="552450"/>
          </a:xfrm>
          <a:prstGeom prst="rect">
            <a:avLst/>
          </a:prstGeom>
          <a:solidFill>
            <a:srgbClr val="5A9BDC"/>
          </a:solidFill>
          <a:ln w="9525">
            <a:solidFill>
              <a:srgbClr val="27415B"/>
            </a:solidFill>
            <a:prstDash val="solid"/>
          </a:ln>
        </p:spPr>
        <p:txBody>
          <a:bodyPr lIns="76200" tIns="38100" rIns="76200" bIns="38100" anchor="ctr">
            <a:normAutofit/>
          </a:bodyPr>
          <a:lstStyle/>
          <a:p>
            <a:pPr algn="ctr">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APLICACIONES</a:t>
            </a:r>
          </a:p>
        </p:txBody>
      </p:sp>
      <p:sp>
        <p:nvSpPr>
          <p:cNvPr id="6" name="Rectángulo 5">
            <a:extLst>
              <a:ext uri="{FF2B5EF4-FFF2-40B4-BE49-F238E27FC236}">
                <a16:creationId xmlns:a16="http://schemas.microsoft.com/office/drawing/2014/main" id="{EDBDDC15-A963-4855-B425-623A3FF4FF20}"/>
              </a:ext>
            </a:extLst>
          </p:cNvPr>
          <p:cNvSpPr>
            <a:spLocks noGrp="1"/>
          </p:cNvSpPr>
          <p:nvPr/>
        </p:nvSpPr>
        <p:spPr>
          <a:xfrm>
            <a:off x="8382000" y="2714625"/>
            <a:ext cx="2724150" cy="552450"/>
          </a:xfrm>
          <a:prstGeom prst="rect">
            <a:avLst/>
          </a:prstGeom>
          <a:solidFill>
            <a:srgbClr val="2D6FB7"/>
          </a:solidFill>
          <a:ln w="9525">
            <a:solidFill>
              <a:srgbClr val="27415B"/>
            </a:solidFill>
            <a:prstDash val="solid"/>
          </a:ln>
        </p:spPr>
        <p:txBody>
          <a:bodyPr lIns="76200" tIns="38100" rIns="76200" bIns="38100" anchor="ctr">
            <a:normAutofit/>
          </a:bodyPr>
          <a:lstStyle/>
          <a:p>
            <a:pPr algn="ctr">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SERVICIOS</a:t>
            </a:r>
          </a:p>
        </p:txBody>
      </p:sp>
      <p:sp>
        <p:nvSpPr>
          <p:cNvPr id="7" name="Rectángulo 6">
            <a:extLst>
              <a:ext uri="{FF2B5EF4-FFF2-40B4-BE49-F238E27FC236}">
                <a16:creationId xmlns:a16="http://schemas.microsoft.com/office/drawing/2014/main" id="{E63C088C-023C-4846-9EAF-F628B72B38C4}"/>
              </a:ext>
            </a:extLst>
          </p:cNvPr>
          <p:cNvSpPr>
            <a:spLocks noGrp="1"/>
          </p:cNvSpPr>
          <p:nvPr/>
        </p:nvSpPr>
        <p:spPr>
          <a:xfrm>
            <a:off x="8382000" y="3429000"/>
            <a:ext cx="2724150" cy="552450"/>
          </a:xfrm>
          <a:prstGeom prst="rect">
            <a:avLst/>
          </a:prstGeom>
          <a:solidFill>
            <a:srgbClr val="123A61"/>
          </a:solidFill>
          <a:ln w="9525">
            <a:solidFill>
              <a:srgbClr val="27415B"/>
            </a:solidFill>
            <a:prstDash val="solid"/>
          </a:ln>
        </p:spPr>
        <p:txBody>
          <a:bodyPr lIns="76200" tIns="38100" rIns="76200" bIns="38100" anchor="ctr">
            <a:normAutofit/>
          </a:bodyPr>
          <a:lstStyle/>
          <a:p>
            <a:pPr algn="ctr">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NÚCLEO</a:t>
            </a:r>
          </a:p>
        </p:txBody>
      </p:sp>
      <p:sp>
        <p:nvSpPr>
          <p:cNvPr id="8" name="Rectángulo 7">
            <a:extLst>
              <a:ext uri="{FF2B5EF4-FFF2-40B4-BE49-F238E27FC236}">
                <a16:creationId xmlns:a16="http://schemas.microsoft.com/office/drawing/2014/main" id="{514D130B-4259-4478-9CB8-C6C18CFA68DE}"/>
              </a:ext>
            </a:extLst>
          </p:cNvPr>
          <p:cNvSpPr>
            <a:spLocks noGrp="1"/>
          </p:cNvSpPr>
          <p:nvPr/>
        </p:nvSpPr>
        <p:spPr>
          <a:xfrm>
            <a:off x="8382000" y="4143375"/>
            <a:ext cx="2724150" cy="552450"/>
          </a:xfrm>
          <a:prstGeom prst="rect">
            <a:avLst/>
          </a:prstGeom>
          <a:solidFill>
            <a:srgbClr val="182738"/>
          </a:solidFill>
          <a:ln w="9525">
            <a:solidFill>
              <a:srgbClr val="27415B"/>
            </a:solidFill>
            <a:prstDash val="solid"/>
          </a:ln>
        </p:spPr>
        <p:txBody>
          <a:bodyPr lIns="76200" tIns="38100" rIns="76200" bIns="38100" anchor="ctr">
            <a:normAutofit/>
          </a:bodyPr>
          <a:lstStyle/>
          <a:p>
            <a:pPr algn="ctr">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HARDWARE</a:t>
            </a:r>
          </a:p>
        </p:txBody>
      </p:sp>
      <p:sp>
        <p:nvSpPr>
          <p:cNvPr id="9" name="Rectángulo 8">
            <a:extLst>
              <a:ext uri="{FF2B5EF4-FFF2-40B4-BE49-F238E27FC236}">
                <a16:creationId xmlns:a16="http://schemas.microsoft.com/office/drawing/2014/main" id="{FCB42F20-B699-4DAE-9A81-6AEC3DB21259}"/>
              </a:ext>
            </a:extLst>
          </p:cNvPr>
          <p:cNvSpPr>
            <a:spLocks noGrp="1"/>
          </p:cNvSpPr>
          <p:nvPr/>
        </p:nvSpPr>
        <p:spPr>
          <a:xfrm>
            <a:off x="8382000" y="4953000"/>
            <a:ext cx="2724150" cy="285750"/>
          </a:xfrm>
          <a:prstGeom prst="rect">
            <a:avLst/>
          </a:prstGeom>
          <a:noFill/>
          <a:ln w="0">
            <a:noFill/>
            <a:prstDash val="solid"/>
          </a:ln>
        </p:spPr>
        <p:txBody>
          <a:bodyPr lIns="0" tIns="0" rIns="0" bIns="0" anchor="t">
            <a:normAutofit/>
          </a:bodyPr>
          <a:lstStyle/>
          <a:p>
            <a:pPr algn="ctr">
              <a:lnSpc>
                <a:spcPct val="100000"/>
              </a:lnSpc>
              <a:buNone/>
              <a:defRPr sz="1350" b="0">
                <a:solidFill>
                  <a:srgbClr val="AEB9C5"/>
                </a:solidFill>
                <a:latin typeface="Bahnschrift"/>
                <a:ea typeface="Bahnschrift"/>
                <a:cs typeface="Bahnschrift"/>
              </a:defRPr>
            </a:pPr>
            <a:r>
              <a:rPr sz="1350" b="0">
                <a:solidFill>
                  <a:srgbClr val="AEB9C5"/>
                </a:solidFill>
                <a:latin typeface="Bahnschrift"/>
                <a:ea typeface="Bahnschrift"/>
                <a:cs typeface="Bahnschrift"/>
              </a:rPr>
              <a:t>10 conceptos · una visión integrada</a:t>
            </a:r>
          </a:p>
        </p:txBody>
      </p:sp>
      <p:sp>
        <p:nvSpPr>
          <p:cNvPr id="10" name="Conector recto 9">
            <a:extLst>
              <a:ext uri="{FF2B5EF4-FFF2-40B4-BE49-F238E27FC236}">
                <a16:creationId xmlns:a16="http://schemas.microsoft.com/office/drawing/2014/main" id="{F612CA9D-DA2F-4F4D-BEE8-FDC90601515E}"/>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11" name="Rectángulo 10">
            <a:extLst>
              <a:ext uri="{FF2B5EF4-FFF2-40B4-BE49-F238E27FC236}">
                <a16:creationId xmlns:a16="http://schemas.microsoft.com/office/drawing/2014/main" id="{DB533BCE-6CF3-49BD-9C75-B01F911295A8}"/>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CONCEPTOS GENERALES</a:t>
            </a:r>
          </a:p>
        </p:txBody>
      </p:sp>
      <p:sp>
        <p:nvSpPr>
          <p:cNvPr id="12" name="Rectángulo 11">
            <a:extLst>
              <a:ext uri="{FF2B5EF4-FFF2-40B4-BE49-F238E27FC236}">
                <a16:creationId xmlns:a16="http://schemas.microsoft.com/office/drawing/2014/main" id="{271302A5-B691-42DF-B8EA-85FCDF6F255E}"/>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01</a:t>
            </a:r>
          </a:p>
        </p:txBody>
      </p:sp>
    </p:spTree>
    <p:extLst>
      <p:ext uri="{BB962C8B-B14F-4D97-AF65-F5344CB8AC3E}">
        <p14:creationId xmlns:p14="http://schemas.microsoft.com/office/powerpoint/2010/main" val="93732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3" name="Rectángulo 22">
            <a:extLst>
              <a:ext uri="{FF2B5EF4-FFF2-40B4-BE49-F238E27FC236}">
                <a16:creationId xmlns:a16="http://schemas.microsoft.com/office/drawing/2014/main" id="{8199BA5B-22A5-4981-B9CC-DF988DA81970}"/>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1 · DEFINICIÓN</a:t>
            </a:r>
          </a:p>
        </p:txBody>
      </p:sp>
      <p:sp>
        <p:nvSpPr>
          <p:cNvPr id="2" name="Rectángulo 1">
            <a:extLst>
              <a:ext uri="{FF2B5EF4-FFF2-40B4-BE49-F238E27FC236}">
                <a16:creationId xmlns:a16="http://schemas.microsoft.com/office/drawing/2014/main" id="{C4B44636-4D16-4ED8-82D6-F370EF59CAF3}"/>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Controla programas y media con el hardware</a:t>
            </a:r>
          </a:p>
        </p:txBody>
      </p:sp>
      <p:sp>
        <p:nvSpPr>
          <p:cNvPr id="3" name="Conector recto 2">
            <a:extLst>
              <a:ext uri="{FF2B5EF4-FFF2-40B4-BE49-F238E27FC236}">
                <a16:creationId xmlns:a16="http://schemas.microsoft.com/office/drawing/2014/main" id="{B321D7E5-5043-4498-A8F2-6DFCD2A39A7D}"/>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238CEBFA-8AB0-4F29-89C4-4599AED28CFD}"/>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08906371-4995-46F6-A194-38310EEA91AB}"/>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1 · DEFINICIÓN</a:t>
            </a:r>
          </a:p>
        </p:txBody>
      </p:sp>
      <p:sp>
        <p:nvSpPr>
          <p:cNvPr id="6" name="Rectángulo 5">
            <a:extLst>
              <a:ext uri="{FF2B5EF4-FFF2-40B4-BE49-F238E27FC236}">
                <a16:creationId xmlns:a16="http://schemas.microsoft.com/office/drawing/2014/main" id="{8AD462C2-963E-45EF-B3BD-01DE23C133F3}"/>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02</a:t>
            </a:r>
          </a:p>
        </p:txBody>
      </p:sp>
      <p:sp>
        <p:nvSpPr>
          <p:cNvPr id="7" name="Rectángulo 6">
            <a:extLst>
              <a:ext uri="{FF2B5EF4-FFF2-40B4-BE49-F238E27FC236}">
                <a16:creationId xmlns:a16="http://schemas.microsoft.com/office/drawing/2014/main" id="{E38ECFB9-28D0-49B9-A794-3B3D74AD1D00}"/>
              </a:ext>
            </a:extLst>
          </p:cNvPr>
          <p:cNvSpPr>
            <a:spLocks noGrp="1"/>
          </p:cNvSpPr>
          <p:nvPr/>
        </p:nvSpPr>
        <p:spPr>
          <a:xfrm>
            <a:off x="781050" y="1619250"/>
            <a:ext cx="5095875" cy="1428750"/>
          </a:xfrm>
          <a:prstGeom prst="rect">
            <a:avLst/>
          </a:prstGeom>
          <a:noFill/>
          <a:ln w="0">
            <a:noFill/>
            <a:prstDash val="solid"/>
          </a:ln>
        </p:spPr>
        <p:txBody>
          <a:bodyPr lIns="0" tIns="0" rIns="0" bIns="0" anchor="t">
            <a:normAutofit fontScale="93339"/>
          </a:bodyPr>
          <a:lstStyle/>
          <a:p>
            <a:pPr algn="l">
              <a:lnSpc>
                <a:spcPct val="108000"/>
              </a:lnSpc>
              <a:buNone/>
              <a:defRPr sz="2325" b="1">
                <a:solidFill>
                  <a:srgbClr val="101820"/>
                </a:solidFill>
                <a:latin typeface="Bahnschrift"/>
                <a:ea typeface="Bahnschrift"/>
                <a:cs typeface="Bahnschrift"/>
              </a:defRPr>
            </a:pPr>
            <a:r>
              <a:rPr sz="2325" b="1">
                <a:solidFill>
                  <a:srgbClr val="101820"/>
                </a:solidFill>
                <a:latin typeface="Bahnschrift"/>
                <a:ea typeface="Bahnschrift"/>
                <a:cs typeface="Bahnschrift"/>
              </a:rPr>
              <a:t>Un sistema operativo es el programa que controla la ejecución de aplicaciones y actúa como interfaz entre estas y el hardware.</a:t>
            </a:r>
          </a:p>
        </p:txBody>
      </p:sp>
      <p:sp>
        <p:nvSpPr>
          <p:cNvPr id="8" name="Rectángulo 7">
            <a:extLst>
              <a:ext uri="{FF2B5EF4-FFF2-40B4-BE49-F238E27FC236}">
                <a16:creationId xmlns:a16="http://schemas.microsoft.com/office/drawing/2014/main" id="{9E3726F6-D51A-47FB-B8AA-B9A71C9809C8}"/>
              </a:ext>
            </a:extLst>
          </p:cNvPr>
          <p:cNvSpPr>
            <a:spLocks noGrp="1"/>
          </p:cNvSpPr>
          <p:nvPr/>
        </p:nvSpPr>
        <p:spPr>
          <a:xfrm>
            <a:off x="800100" y="3238500"/>
            <a:ext cx="4762500" cy="666750"/>
          </a:xfrm>
          <a:prstGeom prst="rect">
            <a:avLst/>
          </a:prstGeom>
          <a:noFill/>
          <a:ln w="0">
            <a:noFill/>
            <a:prstDash val="solid"/>
          </a:ln>
        </p:spPr>
        <p:txBody>
          <a:bodyPr lIns="0" tIns="0" rIns="0" bIns="0" anchor="t">
            <a:normAutofit/>
          </a:bodyPr>
          <a:lstStyle/>
          <a:p>
            <a:pPr algn="l">
              <a:lnSpc>
                <a:spcPct val="100000"/>
              </a:lnSpc>
              <a:buNone/>
              <a:defRPr sz="1650" b="0">
                <a:solidFill>
                  <a:srgbClr val="667483"/>
                </a:solidFill>
                <a:latin typeface="Arial"/>
                <a:ea typeface="Arial"/>
                <a:cs typeface="Arial"/>
              </a:defRPr>
            </a:pPr>
            <a:r>
              <a:rPr sz="1650" b="0">
                <a:solidFill>
                  <a:srgbClr val="667483"/>
                </a:solidFill>
                <a:latin typeface="Arial"/>
                <a:ea typeface="Arial"/>
                <a:cs typeface="Arial"/>
              </a:rPr>
              <a:t>También asigna recursos y evita usos incorrectos del computador.</a:t>
            </a:r>
          </a:p>
        </p:txBody>
      </p:sp>
      <p:sp>
        <p:nvSpPr>
          <p:cNvPr id="9" name="Flecha: a la derecha 8">
            <a:extLst>
              <a:ext uri="{FF2B5EF4-FFF2-40B4-BE49-F238E27FC236}">
                <a16:creationId xmlns:a16="http://schemas.microsoft.com/office/drawing/2014/main" id="{CB1F79A7-3C55-4815-904C-321F0356DEAF}"/>
              </a:ext>
            </a:extLst>
          </p:cNvPr>
          <p:cNvSpPr>
            <a:spLocks noGrp="1"/>
          </p:cNvSpPr>
          <p:nvPr/>
        </p:nvSpPr>
        <p:spPr>
          <a:xfrm>
            <a:off x="7867650" y="2076450"/>
            <a:ext cx="666750" cy="266700"/>
          </a:xfrm>
          <a:prstGeom prst="rightArrow">
            <a:avLst/>
          </a:prstGeom>
          <a:solidFill>
            <a:srgbClr val="DCEAF7"/>
          </a:solidFill>
          <a:ln w="0">
            <a:solidFill>
              <a:srgbClr val="DCEAF7"/>
            </a:solidFill>
            <a:prstDash val="solid"/>
          </a:ln>
        </p:spPr>
        <p:txBody>
          <a:bodyPr/>
          <a:lstStyle/>
          <a:p>
            <a:endParaRPr lang="es-MX"/>
          </a:p>
        </p:txBody>
      </p:sp>
      <p:sp>
        <p:nvSpPr>
          <p:cNvPr id="10" name="Flecha: a la derecha 9">
            <a:extLst>
              <a:ext uri="{FF2B5EF4-FFF2-40B4-BE49-F238E27FC236}">
                <a16:creationId xmlns:a16="http://schemas.microsoft.com/office/drawing/2014/main" id="{A6B7D7CF-45FE-4C70-A0A8-AA3CD47D4A41}"/>
              </a:ext>
            </a:extLst>
          </p:cNvPr>
          <p:cNvSpPr>
            <a:spLocks noGrp="1"/>
          </p:cNvSpPr>
          <p:nvPr/>
        </p:nvSpPr>
        <p:spPr>
          <a:xfrm>
            <a:off x="7867650" y="3105150"/>
            <a:ext cx="666750" cy="266700"/>
          </a:xfrm>
          <a:prstGeom prst="rightArrow">
            <a:avLst/>
          </a:prstGeom>
          <a:solidFill>
            <a:srgbClr val="DCEAF7"/>
          </a:solidFill>
          <a:ln w="0">
            <a:solidFill>
              <a:srgbClr val="DCEAF7"/>
            </a:solidFill>
            <a:prstDash val="solid"/>
          </a:ln>
        </p:spPr>
        <p:txBody>
          <a:bodyPr/>
          <a:lstStyle/>
          <a:p>
            <a:endParaRPr lang="es-MX"/>
          </a:p>
        </p:txBody>
      </p:sp>
      <p:sp>
        <p:nvSpPr>
          <p:cNvPr id="11" name="Rectángulo 10">
            <a:extLst>
              <a:ext uri="{FF2B5EF4-FFF2-40B4-BE49-F238E27FC236}">
                <a16:creationId xmlns:a16="http://schemas.microsoft.com/office/drawing/2014/main" id="{1B5456ED-842E-40FB-88F3-7572325893BC}"/>
              </a:ext>
            </a:extLst>
          </p:cNvPr>
          <p:cNvSpPr>
            <a:spLocks noGrp="1"/>
          </p:cNvSpPr>
          <p:nvPr/>
        </p:nvSpPr>
        <p:spPr>
          <a:xfrm>
            <a:off x="6515100" y="1600200"/>
            <a:ext cx="1676400" cy="876300"/>
          </a:xfrm>
          <a:prstGeom prst="rect">
            <a:avLst/>
          </a:prstGeom>
          <a:solidFill>
            <a:srgbClr val="123A61"/>
          </a:solidFill>
          <a:ln w="0">
            <a:solidFill>
              <a:srgbClr val="123A61"/>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APLICACIONES</a:t>
            </a:r>
          </a:p>
        </p:txBody>
      </p:sp>
      <p:sp>
        <p:nvSpPr>
          <p:cNvPr id="12" name="Rectángulo 11">
            <a:extLst>
              <a:ext uri="{FF2B5EF4-FFF2-40B4-BE49-F238E27FC236}">
                <a16:creationId xmlns:a16="http://schemas.microsoft.com/office/drawing/2014/main" id="{F271997C-8E43-4270-B47F-CE8F5F9EDBE7}"/>
              </a:ext>
            </a:extLst>
          </p:cNvPr>
          <p:cNvSpPr>
            <a:spLocks noGrp="1"/>
          </p:cNvSpPr>
          <p:nvPr/>
        </p:nvSpPr>
        <p:spPr>
          <a:xfrm>
            <a:off x="6515100" y="2800350"/>
            <a:ext cx="1676400" cy="876300"/>
          </a:xfrm>
          <a:prstGeom prst="rect">
            <a:avLst/>
          </a:prstGeom>
          <a:solidFill>
            <a:srgbClr val="2D6FB7"/>
          </a:solidFill>
          <a:ln w="0">
            <a:solidFill>
              <a:srgbClr val="2D6FB7"/>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SISTEMA</a:t>
            </a:r>
          </a:p>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OPERATIVO</a:t>
            </a:r>
          </a:p>
        </p:txBody>
      </p:sp>
      <p:sp>
        <p:nvSpPr>
          <p:cNvPr id="13" name="Rectángulo 12">
            <a:extLst>
              <a:ext uri="{FF2B5EF4-FFF2-40B4-BE49-F238E27FC236}">
                <a16:creationId xmlns:a16="http://schemas.microsoft.com/office/drawing/2014/main" id="{65368CD4-E045-4ADA-A7DD-7103706CEF74}"/>
              </a:ext>
            </a:extLst>
          </p:cNvPr>
          <p:cNvSpPr>
            <a:spLocks noGrp="1"/>
          </p:cNvSpPr>
          <p:nvPr/>
        </p:nvSpPr>
        <p:spPr>
          <a:xfrm>
            <a:off x="8763000" y="2190750"/>
            <a:ext cx="2095500" cy="876300"/>
          </a:xfrm>
          <a:prstGeom prst="rect">
            <a:avLst/>
          </a:prstGeom>
          <a:solidFill>
            <a:srgbClr val="101820"/>
          </a:solidFill>
          <a:ln w="0">
            <a:solidFill>
              <a:srgbClr val="101820"/>
            </a:solidFill>
            <a:prstDash val="solid"/>
          </a:ln>
        </p:spPr>
        <p:txBody>
          <a:bodyPr lIns="76200" tIns="38100" rIns="76200" bIns="38100" anchor="ctr">
            <a:normAutofit/>
          </a:bodyPr>
          <a:lstStyle/>
          <a:p>
            <a:pPr algn="ctr">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HARDWARE</a:t>
            </a:r>
          </a:p>
        </p:txBody>
      </p:sp>
      <p:sp>
        <p:nvSpPr>
          <p:cNvPr id="14" name="Rectángulo 13">
            <a:extLst>
              <a:ext uri="{FF2B5EF4-FFF2-40B4-BE49-F238E27FC236}">
                <a16:creationId xmlns:a16="http://schemas.microsoft.com/office/drawing/2014/main" id="{58BE1CD2-16F1-46DB-B7A5-98525B146F34}"/>
              </a:ext>
            </a:extLst>
          </p:cNvPr>
          <p:cNvSpPr>
            <a:spLocks noGrp="1"/>
          </p:cNvSpPr>
          <p:nvPr/>
        </p:nvSpPr>
        <p:spPr>
          <a:xfrm>
            <a:off x="800100" y="4781550"/>
            <a:ext cx="495300" cy="323850"/>
          </a:xfrm>
          <a:prstGeom prst="rect">
            <a:avLst/>
          </a:prstGeom>
          <a:noFill/>
          <a:ln w="0">
            <a:noFill/>
            <a:prstDash val="solid"/>
          </a:ln>
        </p:spPr>
        <p:txBody>
          <a:bodyPr lIns="0" tIns="0" rIns="0" bIns="0" anchor="t">
            <a:normAutofit/>
          </a:bodyPr>
          <a:lstStyle/>
          <a:p>
            <a:pPr algn="l">
              <a:lnSpc>
                <a:spcPct val="100000"/>
              </a:lnSpc>
              <a:buNone/>
              <a:defRPr sz="1800" b="0">
                <a:solidFill>
                  <a:srgbClr val="2D6FB7"/>
                </a:solidFill>
                <a:latin typeface="Arial Black"/>
                <a:ea typeface="Arial Black"/>
                <a:cs typeface="Arial Black"/>
              </a:defRPr>
            </a:pPr>
            <a:r>
              <a:rPr sz="1800" b="0">
                <a:solidFill>
                  <a:srgbClr val="2D6FB7"/>
                </a:solidFill>
                <a:latin typeface="Arial Black"/>
                <a:ea typeface="Arial Black"/>
                <a:cs typeface="Arial Black"/>
              </a:rPr>
              <a:t>01</a:t>
            </a:r>
          </a:p>
        </p:txBody>
      </p:sp>
      <p:sp>
        <p:nvSpPr>
          <p:cNvPr id="15" name="Rectángulo 14">
            <a:extLst>
              <a:ext uri="{FF2B5EF4-FFF2-40B4-BE49-F238E27FC236}">
                <a16:creationId xmlns:a16="http://schemas.microsoft.com/office/drawing/2014/main" id="{F7E6AF4E-63DD-4813-BB75-5156E373185F}"/>
              </a:ext>
            </a:extLst>
          </p:cNvPr>
          <p:cNvSpPr>
            <a:spLocks noGrp="1"/>
          </p:cNvSpPr>
          <p:nvPr/>
        </p:nvSpPr>
        <p:spPr>
          <a:xfrm>
            <a:off x="1352550" y="4733925"/>
            <a:ext cx="2095500" cy="247650"/>
          </a:xfrm>
          <a:prstGeom prst="rect">
            <a:avLst/>
          </a:prstGeom>
          <a:noFill/>
          <a:ln w="0">
            <a:noFill/>
            <a:prstDash val="solid"/>
          </a:ln>
        </p:spPr>
        <p:txBody>
          <a:bodyPr lIns="0" tIns="0" rIns="0" bIns="0" anchor="t">
            <a:normAutofit/>
          </a:bodyPr>
          <a:lstStyle/>
          <a:p>
            <a:pPr algn="l">
              <a:lnSpc>
                <a:spcPct val="100000"/>
              </a:lnSpc>
              <a:buNone/>
              <a:defRPr sz="1425" b="1">
                <a:solidFill>
                  <a:srgbClr val="101820"/>
                </a:solidFill>
                <a:latin typeface="Bahnschrift"/>
                <a:ea typeface="Bahnschrift"/>
                <a:cs typeface="Bahnschrift"/>
              </a:defRPr>
            </a:pPr>
            <a:r>
              <a:rPr sz="1425" b="1">
                <a:solidFill>
                  <a:srgbClr val="101820"/>
                </a:solidFill>
                <a:latin typeface="Bahnschrift"/>
                <a:ea typeface="Bahnschrift"/>
                <a:cs typeface="Bahnschrift"/>
              </a:rPr>
              <a:t>FACILIDAD</a:t>
            </a:r>
          </a:p>
        </p:txBody>
      </p:sp>
      <p:sp>
        <p:nvSpPr>
          <p:cNvPr id="16" name="Rectángulo 15">
            <a:extLst>
              <a:ext uri="{FF2B5EF4-FFF2-40B4-BE49-F238E27FC236}">
                <a16:creationId xmlns:a16="http://schemas.microsoft.com/office/drawing/2014/main" id="{719A4D1D-0104-43C7-B37F-259B05C8E867}"/>
              </a:ext>
            </a:extLst>
          </p:cNvPr>
          <p:cNvSpPr>
            <a:spLocks noGrp="1"/>
          </p:cNvSpPr>
          <p:nvPr/>
        </p:nvSpPr>
        <p:spPr>
          <a:xfrm>
            <a:off x="1352550" y="5010150"/>
            <a:ext cx="23812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hace utilizable el equipo</a:t>
            </a:r>
          </a:p>
        </p:txBody>
      </p:sp>
      <p:sp>
        <p:nvSpPr>
          <p:cNvPr id="17" name="Rectángulo 16">
            <a:extLst>
              <a:ext uri="{FF2B5EF4-FFF2-40B4-BE49-F238E27FC236}">
                <a16:creationId xmlns:a16="http://schemas.microsoft.com/office/drawing/2014/main" id="{DC54EE84-C56A-4E6A-B5E8-69446551938F}"/>
              </a:ext>
            </a:extLst>
          </p:cNvPr>
          <p:cNvSpPr>
            <a:spLocks noGrp="1"/>
          </p:cNvSpPr>
          <p:nvPr/>
        </p:nvSpPr>
        <p:spPr>
          <a:xfrm>
            <a:off x="4276725" y="4781550"/>
            <a:ext cx="495300" cy="323850"/>
          </a:xfrm>
          <a:prstGeom prst="rect">
            <a:avLst/>
          </a:prstGeom>
          <a:noFill/>
          <a:ln w="0">
            <a:noFill/>
            <a:prstDash val="solid"/>
          </a:ln>
        </p:spPr>
        <p:txBody>
          <a:bodyPr lIns="0" tIns="0" rIns="0" bIns="0" anchor="t">
            <a:normAutofit/>
          </a:bodyPr>
          <a:lstStyle/>
          <a:p>
            <a:pPr algn="l">
              <a:lnSpc>
                <a:spcPct val="100000"/>
              </a:lnSpc>
              <a:buNone/>
              <a:defRPr sz="1800" b="0">
                <a:solidFill>
                  <a:srgbClr val="2D6FB7"/>
                </a:solidFill>
                <a:latin typeface="Arial Black"/>
                <a:ea typeface="Arial Black"/>
                <a:cs typeface="Arial Black"/>
              </a:defRPr>
            </a:pPr>
            <a:r>
              <a:rPr sz="1800" b="0">
                <a:solidFill>
                  <a:srgbClr val="2D6FB7"/>
                </a:solidFill>
                <a:latin typeface="Arial Black"/>
                <a:ea typeface="Arial Black"/>
                <a:cs typeface="Arial Black"/>
              </a:rPr>
              <a:t>02</a:t>
            </a:r>
          </a:p>
        </p:txBody>
      </p:sp>
      <p:sp>
        <p:nvSpPr>
          <p:cNvPr id="18" name="Rectángulo 17">
            <a:extLst>
              <a:ext uri="{FF2B5EF4-FFF2-40B4-BE49-F238E27FC236}">
                <a16:creationId xmlns:a16="http://schemas.microsoft.com/office/drawing/2014/main" id="{5CAE05D7-1DB5-43B8-B429-DF0539CA3F55}"/>
              </a:ext>
            </a:extLst>
          </p:cNvPr>
          <p:cNvSpPr>
            <a:spLocks noGrp="1"/>
          </p:cNvSpPr>
          <p:nvPr/>
        </p:nvSpPr>
        <p:spPr>
          <a:xfrm>
            <a:off x="4829175" y="4733925"/>
            <a:ext cx="2095500" cy="247650"/>
          </a:xfrm>
          <a:prstGeom prst="rect">
            <a:avLst/>
          </a:prstGeom>
          <a:noFill/>
          <a:ln w="0">
            <a:noFill/>
            <a:prstDash val="solid"/>
          </a:ln>
        </p:spPr>
        <p:txBody>
          <a:bodyPr lIns="0" tIns="0" rIns="0" bIns="0" anchor="t">
            <a:normAutofit/>
          </a:bodyPr>
          <a:lstStyle/>
          <a:p>
            <a:pPr algn="l">
              <a:lnSpc>
                <a:spcPct val="100000"/>
              </a:lnSpc>
              <a:buNone/>
              <a:defRPr sz="1425" b="1">
                <a:solidFill>
                  <a:srgbClr val="101820"/>
                </a:solidFill>
                <a:latin typeface="Bahnschrift"/>
                <a:ea typeface="Bahnschrift"/>
                <a:cs typeface="Bahnschrift"/>
              </a:defRPr>
            </a:pPr>
            <a:r>
              <a:rPr sz="1425" b="1">
                <a:solidFill>
                  <a:srgbClr val="101820"/>
                </a:solidFill>
                <a:latin typeface="Bahnschrift"/>
                <a:ea typeface="Bahnschrift"/>
                <a:cs typeface="Bahnschrift"/>
              </a:rPr>
              <a:t>EFICIENCIA</a:t>
            </a:r>
          </a:p>
        </p:txBody>
      </p:sp>
      <p:sp>
        <p:nvSpPr>
          <p:cNvPr id="19" name="Rectángulo 18">
            <a:extLst>
              <a:ext uri="{FF2B5EF4-FFF2-40B4-BE49-F238E27FC236}">
                <a16:creationId xmlns:a16="http://schemas.microsoft.com/office/drawing/2014/main" id="{0EC5DB50-399D-4E58-BB1F-CA932CA0ABE1}"/>
              </a:ext>
            </a:extLst>
          </p:cNvPr>
          <p:cNvSpPr>
            <a:spLocks noGrp="1"/>
          </p:cNvSpPr>
          <p:nvPr/>
        </p:nvSpPr>
        <p:spPr>
          <a:xfrm>
            <a:off x="4829175" y="5010150"/>
            <a:ext cx="23812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aprovecha sus recursos</a:t>
            </a:r>
          </a:p>
        </p:txBody>
      </p:sp>
      <p:sp>
        <p:nvSpPr>
          <p:cNvPr id="20" name="Rectángulo 19">
            <a:extLst>
              <a:ext uri="{FF2B5EF4-FFF2-40B4-BE49-F238E27FC236}">
                <a16:creationId xmlns:a16="http://schemas.microsoft.com/office/drawing/2014/main" id="{AD1AF285-A9F6-4F82-9536-01B31C2D5A07}"/>
              </a:ext>
            </a:extLst>
          </p:cNvPr>
          <p:cNvSpPr>
            <a:spLocks noGrp="1"/>
          </p:cNvSpPr>
          <p:nvPr/>
        </p:nvSpPr>
        <p:spPr>
          <a:xfrm>
            <a:off x="7753350" y="4781550"/>
            <a:ext cx="495300" cy="323850"/>
          </a:xfrm>
          <a:prstGeom prst="rect">
            <a:avLst/>
          </a:prstGeom>
          <a:noFill/>
          <a:ln w="0">
            <a:noFill/>
            <a:prstDash val="solid"/>
          </a:ln>
        </p:spPr>
        <p:txBody>
          <a:bodyPr lIns="0" tIns="0" rIns="0" bIns="0" anchor="t">
            <a:normAutofit/>
          </a:bodyPr>
          <a:lstStyle/>
          <a:p>
            <a:pPr algn="l">
              <a:lnSpc>
                <a:spcPct val="100000"/>
              </a:lnSpc>
              <a:buNone/>
              <a:defRPr sz="1800" b="0">
                <a:solidFill>
                  <a:srgbClr val="2D6FB7"/>
                </a:solidFill>
                <a:latin typeface="Arial Black"/>
                <a:ea typeface="Arial Black"/>
                <a:cs typeface="Arial Black"/>
              </a:defRPr>
            </a:pPr>
            <a:r>
              <a:rPr sz="1800" b="0">
                <a:solidFill>
                  <a:srgbClr val="2D6FB7"/>
                </a:solidFill>
                <a:latin typeface="Arial Black"/>
                <a:ea typeface="Arial Black"/>
                <a:cs typeface="Arial Black"/>
              </a:rPr>
              <a:t>03</a:t>
            </a:r>
          </a:p>
        </p:txBody>
      </p:sp>
      <p:sp>
        <p:nvSpPr>
          <p:cNvPr id="21" name="Rectángulo 20">
            <a:extLst>
              <a:ext uri="{FF2B5EF4-FFF2-40B4-BE49-F238E27FC236}">
                <a16:creationId xmlns:a16="http://schemas.microsoft.com/office/drawing/2014/main" id="{74C522AA-B18A-4794-98F6-EE2EE4F318B4}"/>
              </a:ext>
            </a:extLst>
          </p:cNvPr>
          <p:cNvSpPr>
            <a:spLocks noGrp="1"/>
          </p:cNvSpPr>
          <p:nvPr/>
        </p:nvSpPr>
        <p:spPr>
          <a:xfrm>
            <a:off x="8305800" y="4733925"/>
            <a:ext cx="2095500" cy="247650"/>
          </a:xfrm>
          <a:prstGeom prst="rect">
            <a:avLst/>
          </a:prstGeom>
          <a:noFill/>
          <a:ln w="0">
            <a:noFill/>
            <a:prstDash val="solid"/>
          </a:ln>
        </p:spPr>
        <p:txBody>
          <a:bodyPr lIns="0" tIns="0" rIns="0" bIns="0" anchor="t">
            <a:normAutofit/>
          </a:bodyPr>
          <a:lstStyle/>
          <a:p>
            <a:pPr algn="l">
              <a:lnSpc>
                <a:spcPct val="100000"/>
              </a:lnSpc>
              <a:buNone/>
              <a:defRPr sz="1425" b="1">
                <a:solidFill>
                  <a:srgbClr val="101820"/>
                </a:solidFill>
                <a:latin typeface="Bahnschrift"/>
                <a:ea typeface="Bahnschrift"/>
                <a:cs typeface="Bahnschrift"/>
              </a:defRPr>
            </a:pPr>
            <a:r>
              <a:rPr sz="1425" b="1">
                <a:solidFill>
                  <a:srgbClr val="101820"/>
                </a:solidFill>
                <a:latin typeface="Bahnschrift"/>
                <a:ea typeface="Bahnschrift"/>
                <a:cs typeface="Bahnschrift"/>
              </a:rPr>
              <a:t>EVOLUCIÓN</a:t>
            </a:r>
          </a:p>
        </p:txBody>
      </p:sp>
      <p:sp>
        <p:nvSpPr>
          <p:cNvPr id="22" name="Rectángulo 21">
            <a:extLst>
              <a:ext uri="{FF2B5EF4-FFF2-40B4-BE49-F238E27FC236}">
                <a16:creationId xmlns:a16="http://schemas.microsoft.com/office/drawing/2014/main" id="{5AD0A215-4870-4A68-A0F0-4FDBFE0884FF}"/>
              </a:ext>
            </a:extLst>
          </p:cNvPr>
          <p:cNvSpPr>
            <a:spLocks noGrp="1"/>
          </p:cNvSpPr>
          <p:nvPr/>
        </p:nvSpPr>
        <p:spPr>
          <a:xfrm>
            <a:off x="8305800" y="5010150"/>
            <a:ext cx="23812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admite nuevas funciones</a:t>
            </a:r>
          </a:p>
        </p:txBody>
      </p:sp>
    </p:spTree>
    <p:extLst>
      <p:ext uri="{BB962C8B-B14F-4D97-AF65-F5344CB8AC3E}">
        <p14:creationId xmlns:p14="http://schemas.microsoft.com/office/powerpoint/2010/main" val="145198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DEE17ADB-FB47-4F77-8DA5-0DE1A604E65C}"/>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2 · COMPONENTES</a:t>
            </a:r>
          </a:p>
        </p:txBody>
      </p:sp>
      <p:sp>
        <p:nvSpPr>
          <p:cNvPr id="2" name="Rectángulo 1">
            <a:extLst>
              <a:ext uri="{FF2B5EF4-FFF2-40B4-BE49-F238E27FC236}">
                <a16:creationId xmlns:a16="http://schemas.microsoft.com/office/drawing/2014/main" id="{38314C03-5D0F-4A36-B5CA-8586357A1469}"/>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La gestión se divide en subsistemas</a:t>
            </a:r>
          </a:p>
        </p:txBody>
      </p:sp>
      <p:sp>
        <p:nvSpPr>
          <p:cNvPr id="3" name="Conector recto 2">
            <a:extLst>
              <a:ext uri="{FF2B5EF4-FFF2-40B4-BE49-F238E27FC236}">
                <a16:creationId xmlns:a16="http://schemas.microsoft.com/office/drawing/2014/main" id="{84EE1CBA-E58C-4CAA-83CA-EBF271D8E026}"/>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0C6FF9D3-F343-4226-A808-E753F8AECC4F}"/>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A15057FA-6D48-44C3-977A-8C2E05C43A73}"/>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2 · COMPONENTES</a:t>
            </a:r>
          </a:p>
        </p:txBody>
      </p:sp>
      <p:sp>
        <p:nvSpPr>
          <p:cNvPr id="6" name="Rectángulo 5">
            <a:extLst>
              <a:ext uri="{FF2B5EF4-FFF2-40B4-BE49-F238E27FC236}">
                <a16:creationId xmlns:a16="http://schemas.microsoft.com/office/drawing/2014/main" id="{B4D699B1-DE8E-47D6-A1B3-FCD7DE955AC1}"/>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03</a:t>
            </a:r>
          </a:p>
        </p:txBody>
      </p:sp>
      <p:sp>
        <p:nvSpPr>
          <p:cNvPr id="7" name="Rectángulo 6">
            <a:extLst>
              <a:ext uri="{FF2B5EF4-FFF2-40B4-BE49-F238E27FC236}">
                <a16:creationId xmlns:a16="http://schemas.microsoft.com/office/drawing/2014/main" id="{3E92A9DD-DD74-4DA1-8F1A-2FBD8167B8AA}"/>
              </a:ext>
            </a:extLst>
          </p:cNvPr>
          <p:cNvSpPr>
            <a:spLocks noGrp="1"/>
          </p:cNvSpPr>
          <p:nvPr/>
        </p:nvSpPr>
        <p:spPr>
          <a:xfrm>
            <a:off x="723900" y="1390650"/>
            <a:ext cx="7239000" cy="361950"/>
          </a:xfrm>
          <a:prstGeom prst="rect">
            <a:avLst/>
          </a:prstGeom>
          <a:noFill/>
          <a:ln w="0">
            <a:noFill/>
            <a:prstDash val="solid"/>
          </a:ln>
        </p:spPr>
        <p:txBody>
          <a:bodyPr lIns="0" tIns="0" rIns="0" bIns="0" anchor="t">
            <a:normAutofit/>
          </a:bodyPr>
          <a:lstStyle/>
          <a:p>
            <a:pPr algn="l">
              <a:lnSpc>
                <a:spcPct val="100000"/>
              </a:lnSpc>
              <a:buNone/>
              <a:defRPr sz="1800" b="0">
                <a:solidFill>
                  <a:srgbClr val="AEB9C5"/>
                </a:solidFill>
                <a:latin typeface="Bahnschrift"/>
                <a:ea typeface="Bahnschrift"/>
                <a:cs typeface="Bahnschrift"/>
              </a:defRPr>
            </a:pPr>
            <a:r>
              <a:rPr sz="1800" b="0">
                <a:solidFill>
                  <a:srgbClr val="AEB9C5"/>
                </a:solidFill>
                <a:latin typeface="Bahnschrift"/>
                <a:ea typeface="Bahnschrift"/>
                <a:cs typeface="Bahnschrift"/>
              </a:rPr>
              <a:t>Cada subsistema responde por un recurso o por una regla de acceso.</a:t>
            </a:r>
          </a:p>
        </p:txBody>
      </p:sp>
      <p:sp>
        <p:nvSpPr>
          <p:cNvPr id="8" name="Conector recto 7">
            <a:extLst>
              <a:ext uri="{FF2B5EF4-FFF2-40B4-BE49-F238E27FC236}">
                <a16:creationId xmlns:a16="http://schemas.microsoft.com/office/drawing/2014/main" id="{F75ECC25-CF8F-4C27-A243-F155463E54C8}"/>
              </a:ext>
            </a:extLst>
          </p:cNvPr>
          <p:cNvSpPr>
            <a:spLocks noGrp="1"/>
          </p:cNvSpPr>
          <p:nvPr/>
        </p:nvSpPr>
        <p:spPr>
          <a:xfrm>
            <a:off x="2619375" y="2590800"/>
            <a:ext cx="3476625" cy="1219200"/>
          </a:xfrm>
          <a:prstGeom prst="line">
            <a:avLst/>
          </a:prstGeom>
          <a:noFill/>
          <a:ln w="19050">
            <a:solidFill>
              <a:srgbClr val="2B4862"/>
            </a:solidFill>
            <a:prstDash val="solid"/>
          </a:ln>
        </p:spPr>
        <p:txBody>
          <a:bodyPr/>
          <a:lstStyle/>
          <a:p>
            <a:endParaRPr lang="es-MX"/>
          </a:p>
        </p:txBody>
      </p:sp>
      <p:sp>
        <p:nvSpPr>
          <p:cNvPr id="9" name="Conector recto 8">
            <a:extLst>
              <a:ext uri="{FF2B5EF4-FFF2-40B4-BE49-F238E27FC236}">
                <a16:creationId xmlns:a16="http://schemas.microsoft.com/office/drawing/2014/main" id="{6A854991-6CFB-486C-90F6-9329396E1AC7}"/>
              </a:ext>
            </a:extLst>
          </p:cNvPr>
          <p:cNvSpPr>
            <a:spLocks noGrp="1"/>
          </p:cNvSpPr>
          <p:nvPr/>
        </p:nvSpPr>
        <p:spPr>
          <a:xfrm>
            <a:off x="5953125" y="2171700"/>
            <a:ext cx="142875" cy="1638300"/>
          </a:xfrm>
          <a:prstGeom prst="line">
            <a:avLst/>
          </a:prstGeom>
          <a:noFill/>
          <a:ln w="19050">
            <a:solidFill>
              <a:srgbClr val="2B4862"/>
            </a:solidFill>
            <a:prstDash val="solid"/>
          </a:ln>
        </p:spPr>
        <p:txBody>
          <a:bodyPr/>
          <a:lstStyle/>
          <a:p>
            <a:endParaRPr lang="es-MX"/>
          </a:p>
        </p:txBody>
      </p:sp>
      <p:sp>
        <p:nvSpPr>
          <p:cNvPr id="10" name="Conector recto 9">
            <a:extLst>
              <a:ext uri="{FF2B5EF4-FFF2-40B4-BE49-F238E27FC236}">
                <a16:creationId xmlns:a16="http://schemas.microsoft.com/office/drawing/2014/main" id="{62117164-BB1A-448A-8C79-61AB08793803}"/>
              </a:ext>
            </a:extLst>
          </p:cNvPr>
          <p:cNvSpPr>
            <a:spLocks noGrp="1"/>
          </p:cNvSpPr>
          <p:nvPr/>
        </p:nvSpPr>
        <p:spPr>
          <a:xfrm flipH="1">
            <a:off x="6096000" y="2590800"/>
            <a:ext cx="3324225" cy="1219200"/>
          </a:xfrm>
          <a:prstGeom prst="line">
            <a:avLst/>
          </a:prstGeom>
          <a:noFill/>
          <a:ln w="19050">
            <a:solidFill>
              <a:srgbClr val="2B4862"/>
            </a:solidFill>
            <a:prstDash val="solid"/>
          </a:ln>
        </p:spPr>
        <p:txBody>
          <a:bodyPr/>
          <a:lstStyle/>
          <a:p>
            <a:endParaRPr lang="es-MX"/>
          </a:p>
        </p:txBody>
      </p:sp>
      <p:sp>
        <p:nvSpPr>
          <p:cNvPr id="11" name="Conector recto 10">
            <a:extLst>
              <a:ext uri="{FF2B5EF4-FFF2-40B4-BE49-F238E27FC236}">
                <a16:creationId xmlns:a16="http://schemas.microsoft.com/office/drawing/2014/main" id="{B57BB77A-D76F-4975-838F-37E23410D988}"/>
              </a:ext>
            </a:extLst>
          </p:cNvPr>
          <p:cNvSpPr>
            <a:spLocks noGrp="1"/>
          </p:cNvSpPr>
          <p:nvPr/>
        </p:nvSpPr>
        <p:spPr>
          <a:xfrm>
            <a:off x="6096000" y="3810000"/>
            <a:ext cx="3714750" cy="1085850"/>
          </a:xfrm>
          <a:prstGeom prst="line">
            <a:avLst/>
          </a:prstGeom>
          <a:noFill/>
          <a:ln w="19050">
            <a:solidFill>
              <a:srgbClr val="2B4862"/>
            </a:solidFill>
            <a:prstDash val="solid"/>
          </a:ln>
        </p:spPr>
        <p:txBody>
          <a:bodyPr/>
          <a:lstStyle/>
          <a:p>
            <a:endParaRPr lang="es-MX"/>
          </a:p>
        </p:txBody>
      </p:sp>
      <p:sp>
        <p:nvSpPr>
          <p:cNvPr id="12" name="Conector recto 11">
            <a:extLst>
              <a:ext uri="{FF2B5EF4-FFF2-40B4-BE49-F238E27FC236}">
                <a16:creationId xmlns:a16="http://schemas.microsoft.com/office/drawing/2014/main" id="{89D69F3C-BA35-4336-A5D9-793F986C60A0}"/>
              </a:ext>
            </a:extLst>
          </p:cNvPr>
          <p:cNvSpPr>
            <a:spLocks noGrp="1"/>
          </p:cNvSpPr>
          <p:nvPr/>
        </p:nvSpPr>
        <p:spPr>
          <a:xfrm flipH="1">
            <a:off x="5553075" y="3810000"/>
            <a:ext cx="542925" cy="1771650"/>
          </a:xfrm>
          <a:prstGeom prst="line">
            <a:avLst/>
          </a:prstGeom>
          <a:noFill/>
          <a:ln w="19050">
            <a:solidFill>
              <a:srgbClr val="2B4862"/>
            </a:solidFill>
            <a:prstDash val="solid"/>
          </a:ln>
        </p:spPr>
        <p:txBody>
          <a:bodyPr/>
          <a:lstStyle/>
          <a:p>
            <a:endParaRPr lang="es-MX"/>
          </a:p>
        </p:txBody>
      </p:sp>
      <p:sp>
        <p:nvSpPr>
          <p:cNvPr id="13" name="Conector recto 12">
            <a:extLst>
              <a:ext uri="{FF2B5EF4-FFF2-40B4-BE49-F238E27FC236}">
                <a16:creationId xmlns:a16="http://schemas.microsoft.com/office/drawing/2014/main" id="{AB9FA66B-5EA5-41AB-A10F-62251CE8C030}"/>
              </a:ext>
            </a:extLst>
          </p:cNvPr>
          <p:cNvSpPr>
            <a:spLocks noGrp="1"/>
          </p:cNvSpPr>
          <p:nvPr/>
        </p:nvSpPr>
        <p:spPr>
          <a:xfrm flipH="1">
            <a:off x="2219325" y="3810000"/>
            <a:ext cx="3876675" cy="1085850"/>
          </a:xfrm>
          <a:prstGeom prst="line">
            <a:avLst/>
          </a:prstGeom>
          <a:noFill/>
          <a:ln w="19050">
            <a:solidFill>
              <a:srgbClr val="2B4862"/>
            </a:solidFill>
            <a:prstDash val="solid"/>
          </a:ln>
        </p:spPr>
        <p:txBody>
          <a:bodyPr/>
          <a:lstStyle/>
          <a:p>
            <a:endParaRPr lang="es-MX"/>
          </a:p>
        </p:txBody>
      </p:sp>
      <p:sp>
        <p:nvSpPr>
          <p:cNvPr id="14" name="Elipse 13">
            <a:extLst>
              <a:ext uri="{FF2B5EF4-FFF2-40B4-BE49-F238E27FC236}">
                <a16:creationId xmlns:a16="http://schemas.microsoft.com/office/drawing/2014/main" id="{3D136E93-2A31-41E0-9FDC-EEA2D6199B21}"/>
              </a:ext>
            </a:extLst>
          </p:cNvPr>
          <p:cNvSpPr>
            <a:spLocks noGrp="1"/>
          </p:cNvSpPr>
          <p:nvPr/>
        </p:nvSpPr>
        <p:spPr>
          <a:xfrm>
            <a:off x="4810125" y="3190875"/>
            <a:ext cx="2571750" cy="1200150"/>
          </a:xfrm>
          <a:prstGeom prst="ellipse">
            <a:avLst/>
          </a:prstGeom>
          <a:solidFill>
            <a:srgbClr val="2D6FB7"/>
          </a:solidFill>
          <a:ln w="19050">
            <a:solidFill>
              <a:srgbClr val="5A9BDC"/>
            </a:solidFill>
            <a:prstDash val="solid"/>
          </a:ln>
        </p:spPr>
        <p:txBody>
          <a:bodyPr lIns="76200" tIns="38100" rIns="76200" bIns="38100" anchor="ctr">
            <a:normAutofit/>
          </a:bodyPr>
          <a:lstStyle/>
          <a:p>
            <a:pPr algn="ctr">
              <a:defRPr sz="1875" b="1">
                <a:solidFill>
                  <a:srgbClr val="F8FAFC"/>
                </a:solidFill>
                <a:latin typeface="Arial Black"/>
                <a:ea typeface="Arial Black"/>
                <a:cs typeface="Arial Black"/>
              </a:defRPr>
            </a:pPr>
            <a:r>
              <a:rPr sz="1875" b="1">
                <a:solidFill>
                  <a:srgbClr val="F8FAFC"/>
                </a:solidFill>
                <a:latin typeface="Arial Black"/>
                <a:ea typeface="Arial Black"/>
                <a:cs typeface="Arial Black"/>
              </a:rPr>
              <a:t>SISTEMA</a:t>
            </a:r>
          </a:p>
          <a:p>
            <a:pPr algn="ctr">
              <a:defRPr sz="1875" b="1">
                <a:solidFill>
                  <a:srgbClr val="F8FAFC"/>
                </a:solidFill>
                <a:latin typeface="Arial Black"/>
                <a:ea typeface="Arial Black"/>
                <a:cs typeface="Arial Black"/>
              </a:defRPr>
            </a:pPr>
            <a:r>
              <a:rPr sz="1875" b="1">
                <a:solidFill>
                  <a:srgbClr val="F8FAFC"/>
                </a:solidFill>
                <a:latin typeface="Arial Black"/>
                <a:ea typeface="Arial Black"/>
                <a:cs typeface="Arial Black"/>
              </a:rPr>
              <a:t>OPERATIVO</a:t>
            </a:r>
          </a:p>
        </p:txBody>
      </p:sp>
      <p:sp>
        <p:nvSpPr>
          <p:cNvPr id="15" name="Rectángulo 14">
            <a:extLst>
              <a:ext uri="{FF2B5EF4-FFF2-40B4-BE49-F238E27FC236}">
                <a16:creationId xmlns:a16="http://schemas.microsoft.com/office/drawing/2014/main" id="{C30161F2-DC71-418A-B2AE-0AD31E987569}"/>
              </a:ext>
            </a:extLst>
          </p:cNvPr>
          <p:cNvSpPr>
            <a:spLocks noGrp="1"/>
          </p:cNvSpPr>
          <p:nvPr/>
        </p:nvSpPr>
        <p:spPr>
          <a:xfrm>
            <a:off x="1619250" y="2228850"/>
            <a:ext cx="2000250" cy="723900"/>
          </a:xfrm>
          <a:prstGeom prst="rect">
            <a:avLst/>
          </a:prstGeom>
          <a:solidFill>
            <a:srgbClr val="123A61"/>
          </a:solidFill>
          <a:ln w="9525">
            <a:solidFill>
              <a:srgbClr val="365B78"/>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PROCESOS</a:t>
            </a:r>
          </a:p>
        </p:txBody>
      </p:sp>
      <p:sp>
        <p:nvSpPr>
          <p:cNvPr id="16" name="Rectángulo 15">
            <a:extLst>
              <a:ext uri="{FF2B5EF4-FFF2-40B4-BE49-F238E27FC236}">
                <a16:creationId xmlns:a16="http://schemas.microsoft.com/office/drawing/2014/main" id="{1D9CDA22-E30E-4574-A73E-348AAC3003E1}"/>
              </a:ext>
            </a:extLst>
          </p:cNvPr>
          <p:cNvSpPr>
            <a:spLocks noGrp="1"/>
          </p:cNvSpPr>
          <p:nvPr/>
        </p:nvSpPr>
        <p:spPr>
          <a:xfrm>
            <a:off x="4953000" y="1809750"/>
            <a:ext cx="2000250" cy="723900"/>
          </a:xfrm>
          <a:prstGeom prst="rect">
            <a:avLst/>
          </a:prstGeom>
          <a:solidFill>
            <a:srgbClr val="0D1824"/>
          </a:solidFill>
          <a:ln w="9525">
            <a:solidFill>
              <a:srgbClr val="365B78"/>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MEMORIA</a:t>
            </a:r>
          </a:p>
        </p:txBody>
      </p:sp>
      <p:sp>
        <p:nvSpPr>
          <p:cNvPr id="17" name="Rectángulo 16">
            <a:extLst>
              <a:ext uri="{FF2B5EF4-FFF2-40B4-BE49-F238E27FC236}">
                <a16:creationId xmlns:a16="http://schemas.microsoft.com/office/drawing/2014/main" id="{25110E02-8415-4707-9EEB-D4EC03941AA9}"/>
              </a:ext>
            </a:extLst>
          </p:cNvPr>
          <p:cNvSpPr>
            <a:spLocks noGrp="1"/>
          </p:cNvSpPr>
          <p:nvPr/>
        </p:nvSpPr>
        <p:spPr>
          <a:xfrm>
            <a:off x="8420100" y="2228850"/>
            <a:ext cx="2000250" cy="723900"/>
          </a:xfrm>
          <a:prstGeom prst="rect">
            <a:avLst/>
          </a:prstGeom>
          <a:solidFill>
            <a:srgbClr val="123A61"/>
          </a:solidFill>
          <a:ln w="9525">
            <a:solidFill>
              <a:srgbClr val="365B78"/>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E/S</a:t>
            </a:r>
          </a:p>
        </p:txBody>
      </p:sp>
      <p:sp>
        <p:nvSpPr>
          <p:cNvPr id="18" name="Rectángulo 17">
            <a:extLst>
              <a:ext uri="{FF2B5EF4-FFF2-40B4-BE49-F238E27FC236}">
                <a16:creationId xmlns:a16="http://schemas.microsoft.com/office/drawing/2014/main" id="{4F791064-4A85-41AA-B006-A110E4C69718}"/>
              </a:ext>
            </a:extLst>
          </p:cNvPr>
          <p:cNvSpPr>
            <a:spLocks noGrp="1"/>
          </p:cNvSpPr>
          <p:nvPr/>
        </p:nvSpPr>
        <p:spPr>
          <a:xfrm>
            <a:off x="8810625" y="4533900"/>
            <a:ext cx="2000250" cy="723900"/>
          </a:xfrm>
          <a:prstGeom prst="rect">
            <a:avLst/>
          </a:prstGeom>
          <a:solidFill>
            <a:srgbClr val="0D1824"/>
          </a:solidFill>
          <a:ln w="9525">
            <a:solidFill>
              <a:srgbClr val="365B78"/>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ARCHIVOS</a:t>
            </a:r>
          </a:p>
        </p:txBody>
      </p:sp>
      <p:sp>
        <p:nvSpPr>
          <p:cNvPr id="19" name="Rectángulo 18">
            <a:extLst>
              <a:ext uri="{FF2B5EF4-FFF2-40B4-BE49-F238E27FC236}">
                <a16:creationId xmlns:a16="http://schemas.microsoft.com/office/drawing/2014/main" id="{206242BF-04EF-4D26-9E0A-9F2A546EB735}"/>
              </a:ext>
            </a:extLst>
          </p:cNvPr>
          <p:cNvSpPr>
            <a:spLocks noGrp="1"/>
          </p:cNvSpPr>
          <p:nvPr/>
        </p:nvSpPr>
        <p:spPr>
          <a:xfrm>
            <a:off x="4552950" y="5219700"/>
            <a:ext cx="2762250" cy="723900"/>
          </a:xfrm>
          <a:prstGeom prst="rect">
            <a:avLst/>
          </a:prstGeom>
          <a:solidFill>
            <a:srgbClr val="123A61"/>
          </a:solidFill>
          <a:ln w="9525">
            <a:solidFill>
              <a:srgbClr val="365B78"/>
            </a:solidFill>
            <a:prstDash val="solid"/>
          </a:ln>
        </p:spPr>
        <p:txBody>
          <a:bodyPr lIns="76200" tIns="38100" rIns="76200" bIns="38100" anchor="ctr">
            <a:normAutofit/>
          </a:bodyPr>
          <a:lstStyle/>
          <a:p>
            <a:pPr algn="ctr">
              <a:defRPr sz="1275" b="1">
                <a:solidFill>
                  <a:srgbClr val="F8FAFC"/>
                </a:solidFill>
                <a:latin typeface="Bahnschrift"/>
                <a:ea typeface="Bahnschrift"/>
                <a:cs typeface="Bahnschrift"/>
              </a:defRPr>
            </a:pPr>
            <a:r>
              <a:rPr sz="1275" b="1">
                <a:solidFill>
                  <a:srgbClr val="F8FAFC"/>
                </a:solidFill>
                <a:latin typeface="Bahnschrift"/>
                <a:ea typeface="Bahnschrift"/>
                <a:cs typeface="Bahnschrift"/>
              </a:rPr>
              <a:t>ALMACENAMIENTO</a:t>
            </a:r>
          </a:p>
        </p:txBody>
      </p:sp>
      <p:sp>
        <p:nvSpPr>
          <p:cNvPr id="20" name="Rectángulo 19">
            <a:extLst>
              <a:ext uri="{FF2B5EF4-FFF2-40B4-BE49-F238E27FC236}">
                <a16:creationId xmlns:a16="http://schemas.microsoft.com/office/drawing/2014/main" id="{C60E104C-BF09-405C-947C-81736EA74E87}"/>
              </a:ext>
            </a:extLst>
          </p:cNvPr>
          <p:cNvSpPr>
            <a:spLocks noGrp="1"/>
          </p:cNvSpPr>
          <p:nvPr/>
        </p:nvSpPr>
        <p:spPr>
          <a:xfrm>
            <a:off x="1219200" y="4533900"/>
            <a:ext cx="2000250" cy="723900"/>
          </a:xfrm>
          <a:prstGeom prst="rect">
            <a:avLst/>
          </a:prstGeom>
          <a:solidFill>
            <a:srgbClr val="0D1824"/>
          </a:solidFill>
          <a:ln w="9525">
            <a:solidFill>
              <a:srgbClr val="365B78"/>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PROTECCIÓN</a:t>
            </a:r>
          </a:p>
        </p:txBody>
      </p:sp>
    </p:spTree>
    <p:extLst>
      <p:ext uri="{BB962C8B-B14F-4D97-AF65-F5344CB8AC3E}">
        <p14:creationId xmlns:p14="http://schemas.microsoft.com/office/powerpoint/2010/main" val="1597011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5" name="Rectángulo 24">
            <a:extLst>
              <a:ext uri="{FF2B5EF4-FFF2-40B4-BE49-F238E27FC236}">
                <a16:creationId xmlns:a16="http://schemas.microsoft.com/office/drawing/2014/main" id="{2F15362F-B26D-475C-A58A-A976787D89B7}"/>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3 · FUNCIONES</a:t>
            </a:r>
          </a:p>
        </p:txBody>
      </p:sp>
      <p:sp>
        <p:nvSpPr>
          <p:cNvPr id="2" name="Rectángulo 1">
            <a:extLst>
              <a:ext uri="{FF2B5EF4-FFF2-40B4-BE49-F238E27FC236}">
                <a16:creationId xmlns:a16="http://schemas.microsoft.com/office/drawing/2014/main" id="{1FBF7D46-8DED-4473-96D7-228E10825123}"/>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Procesador y memoria sostienen la ejecución</a:t>
            </a:r>
          </a:p>
        </p:txBody>
      </p:sp>
      <p:sp>
        <p:nvSpPr>
          <p:cNvPr id="3" name="Conector recto 2">
            <a:extLst>
              <a:ext uri="{FF2B5EF4-FFF2-40B4-BE49-F238E27FC236}">
                <a16:creationId xmlns:a16="http://schemas.microsoft.com/office/drawing/2014/main" id="{FE67DB83-FF9F-4F92-A227-9B58757046A2}"/>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41DAB728-93F6-49C0-9A7F-4992EECCC43F}"/>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7535569B-D37B-4985-A3B9-75689A756D0B}"/>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3 · FUNCIONES</a:t>
            </a:r>
          </a:p>
        </p:txBody>
      </p:sp>
      <p:sp>
        <p:nvSpPr>
          <p:cNvPr id="6" name="Rectángulo 5">
            <a:extLst>
              <a:ext uri="{FF2B5EF4-FFF2-40B4-BE49-F238E27FC236}">
                <a16:creationId xmlns:a16="http://schemas.microsoft.com/office/drawing/2014/main" id="{42FC7011-7DAA-4B85-8437-028746A1C659}"/>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04</a:t>
            </a:r>
          </a:p>
        </p:txBody>
      </p:sp>
      <p:sp>
        <p:nvSpPr>
          <p:cNvPr id="7" name="Conector recto 6">
            <a:extLst>
              <a:ext uri="{FF2B5EF4-FFF2-40B4-BE49-F238E27FC236}">
                <a16:creationId xmlns:a16="http://schemas.microsoft.com/office/drawing/2014/main" id="{3CAFC92F-7B57-4F23-A845-615759E3476C}"/>
              </a:ext>
            </a:extLst>
          </p:cNvPr>
          <p:cNvSpPr>
            <a:spLocks noGrp="1"/>
          </p:cNvSpPr>
          <p:nvPr/>
        </p:nvSpPr>
        <p:spPr>
          <a:xfrm>
            <a:off x="6096000" y="1600200"/>
            <a:ext cx="0" cy="4095750"/>
          </a:xfrm>
          <a:prstGeom prst="line">
            <a:avLst/>
          </a:prstGeom>
          <a:noFill/>
          <a:ln w="9525">
            <a:solidFill>
              <a:srgbClr val="CBD4DE"/>
            </a:solidFill>
            <a:prstDash val="solid"/>
          </a:ln>
        </p:spPr>
        <p:txBody>
          <a:bodyPr/>
          <a:lstStyle/>
          <a:p>
            <a:endParaRPr lang="es-MX"/>
          </a:p>
        </p:txBody>
      </p:sp>
      <p:sp>
        <p:nvSpPr>
          <p:cNvPr id="8" name="Rectángulo 7">
            <a:extLst>
              <a:ext uri="{FF2B5EF4-FFF2-40B4-BE49-F238E27FC236}">
                <a16:creationId xmlns:a16="http://schemas.microsoft.com/office/drawing/2014/main" id="{E698A8E1-AF30-45F0-B673-7AF6D4A77FFC}"/>
              </a:ext>
            </a:extLst>
          </p:cNvPr>
          <p:cNvSpPr>
            <a:spLocks noGrp="1"/>
          </p:cNvSpPr>
          <p:nvPr/>
        </p:nvSpPr>
        <p:spPr>
          <a:xfrm>
            <a:off x="781050" y="1504950"/>
            <a:ext cx="2476500" cy="323850"/>
          </a:xfrm>
          <a:prstGeom prst="rect">
            <a:avLst/>
          </a:prstGeom>
          <a:noFill/>
          <a:ln w="0">
            <a:noFill/>
            <a:prstDash val="solid"/>
          </a:ln>
        </p:spPr>
        <p:txBody>
          <a:bodyPr lIns="0" tIns="0" rIns="0" bIns="0" anchor="t">
            <a:normAutofit/>
          </a:bodyPr>
          <a:lstStyle/>
          <a:p>
            <a:pPr algn="l">
              <a:lnSpc>
                <a:spcPct val="100000"/>
              </a:lnSpc>
              <a:buNone/>
              <a:defRPr sz="1650" b="1">
                <a:solidFill>
                  <a:srgbClr val="2D6FB7"/>
                </a:solidFill>
                <a:latin typeface="Bahnschrift"/>
                <a:ea typeface="Bahnschrift"/>
                <a:cs typeface="Bahnschrift"/>
              </a:defRPr>
            </a:pPr>
            <a:r>
              <a:rPr sz="1650" b="1">
                <a:solidFill>
                  <a:srgbClr val="2D6FB7"/>
                </a:solidFill>
                <a:latin typeface="Bahnschrift"/>
                <a:ea typeface="Bahnschrift"/>
                <a:cs typeface="Bahnschrift"/>
              </a:rPr>
              <a:t>PROCESOS</a:t>
            </a:r>
          </a:p>
        </p:txBody>
      </p:sp>
      <p:sp>
        <p:nvSpPr>
          <p:cNvPr id="9" name="Rectángulo 8">
            <a:extLst>
              <a:ext uri="{FF2B5EF4-FFF2-40B4-BE49-F238E27FC236}">
                <a16:creationId xmlns:a16="http://schemas.microsoft.com/office/drawing/2014/main" id="{AC66F09D-7B4E-4E51-8D8B-0F0CE0C82CB5}"/>
              </a:ext>
            </a:extLst>
          </p:cNvPr>
          <p:cNvSpPr>
            <a:spLocks noGrp="1"/>
          </p:cNvSpPr>
          <p:nvPr/>
        </p:nvSpPr>
        <p:spPr>
          <a:xfrm>
            <a:off x="781050" y="1981200"/>
            <a:ext cx="4667250" cy="495300"/>
          </a:xfrm>
          <a:prstGeom prst="rect">
            <a:avLst/>
          </a:prstGeom>
          <a:noFill/>
          <a:ln w="0">
            <a:noFill/>
            <a:prstDash val="solid"/>
          </a:ln>
        </p:spPr>
        <p:txBody>
          <a:bodyPr lIns="0" tIns="0" rIns="0" bIns="0" anchor="t">
            <a:normAutofit/>
          </a:bodyPr>
          <a:lstStyle/>
          <a:p>
            <a:pPr algn="l">
              <a:lnSpc>
                <a:spcPct val="100000"/>
              </a:lnSpc>
              <a:buNone/>
              <a:defRPr sz="2550" b="1">
                <a:solidFill>
                  <a:srgbClr val="101820"/>
                </a:solidFill>
                <a:latin typeface="Arial Black"/>
                <a:ea typeface="Arial Black"/>
                <a:cs typeface="Arial Black"/>
              </a:defRPr>
            </a:pPr>
            <a:r>
              <a:rPr sz="2550" b="1">
                <a:solidFill>
                  <a:srgbClr val="101820"/>
                </a:solidFill>
                <a:latin typeface="Arial Black"/>
                <a:ea typeface="Arial Black"/>
                <a:cs typeface="Arial Black"/>
              </a:rPr>
              <a:t>Decide qué trabajo usa la CPU</a:t>
            </a:r>
          </a:p>
        </p:txBody>
      </p:sp>
      <p:sp>
        <p:nvSpPr>
          <p:cNvPr id="10" name="Rectángulo 9">
            <a:extLst>
              <a:ext uri="{FF2B5EF4-FFF2-40B4-BE49-F238E27FC236}">
                <a16:creationId xmlns:a16="http://schemas.microsoft.com/office/drawing/2014/main" id="{590FFBF5-E3ED-418D-8044-5A65FF3E3F46}"/>
              </a:ext>
            </a:extLst>
          </p:cNvPr>
          <p:cNvSpPr>
            <a:spLocks noGrp="1"/>
          </p:cNvSpPr>
          <p:nvPr/>
        </p:nvSpPr>
        <p:spPr>
          <a:xfrm>
            <a:off x="838200" y="2952750"/>
            <a:ext cx="381000" cy="285750"/>
          </a:xfrm>
          <a:prstGeom prst="rect">
            <a:avLst/>
          </a:prstGeom>
          <a:noFill/>
          <a:ln w="0">
            <a:noFill/>
            <a:prstDash val="solid"/>
          </a:ln>
        </p:spPr>
        <p:txBody>
          <a:bodyPr lIns="0" tIns="0" rIns="0" bIns="0" anchor="t">
            <a:normAutofit/>
          </a:bodyPr>
          <a:lstStyle/>
          <a:p>
            <a:pPr algn="l">
              <a:lnSpc>
                <a:spcPct val="100000"/>
              </a:lnSpc>
              <a:buNone/>
              <a:defRPr sz="1500" b="0">
                <a:solidFill>
                  <a:srgbClr val="2D6FB7"/>
                </a:solidFill>
                <a:latin typeface="Arial Black"/>
                <a:ea typeface="Arial Black"/>
                <a:cs typeface="Arial Black"/>
              </a:defRPr>
            </a:pPr>
            <a:r>
              <a:rPr sz="1500" b="0">
                <a:solidFill>
                  <a:srgbClr val="2D6FB7"/>
                </a:solidFill>
                <a:latin typeface="Arial Black"/>
                <a:ea typeface="Arial Black"/>
                <a:cs typeface="Arial Black"/>
              </a:rPr>
              <a:t>01</a:t>
            </a:r>
          </a:p>
        </p:txBody>
      </p:sp>
      <p:sp>
        <p:nvSpPr>
          <p:cNvPr id="11" name="Rectángulo 10">
            <a:extLst>
              <a:ext uri="{FF2B5EF4-FFF2-40B4-BE49-F238E27FC236}">
                <a16:creationId xmlns:a16="http://schemas.microsoft.com/office/drawing/2014/main" id="{E5BA486B-5D9F-478D-8127-C2B6BA0BF161}"/>
              </a:ext>
            </a:extLst>
          </p:cNvPr>
          <p:cNvSpPr>
            <a:spLocks noGrp="1"/>
          </p:cNvSpPr>
          <p:nvPr/>
        </p:nvSpPr>
        <p:spPr>
          <a:xfrm>
            <a:off x="1352550" y="2914650"/>
            <a:ext cx="4000500" cy="4000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Crear y terminar procesos</a:t>
            </a:r>
          </a:p>
        </p:txBody>
      </p:sp>
      <p:sp>
        <p:nvSpPr>
          <p:cNvPr id="12" name="Rectángulo 11">
            <a:extLst>
              <a:ext uri="{FF2B5EF4-FFF2-40B4-BE49-F238E27FC236}">
                <a16:creationId xmlns:a16="http://schemas.microsoft.com/office/drawing/2014/main" id="{707E5D61-E5B0-4413-A523-80D0E0014B7A}"/>
              </a:ext>
            </a:extLst>
          </p:cNvPr>
          <p:cNvSpPr>
            <a:spLocks noGrp="1"/>
          </p:cNvSpPr>
          <p:nvPr/>
        </p:nvSpPr>
        <p:spPr>
          <a:xfrm>
            <a:off x="838200" y="3676650"/>
            <a:ext cx="381000" cy="285750"/>
          </a:xfrm>
          <a:prstGeom prst="rect">
            <a:avLst/>
          </a:prstGeom>
          <a:noFill/>
          <a:ln w="0">
            <a:noFill/>
            <a:prstDash val="solid"/>
          </a:ln>
        </p:spPr>
        <p:txBody>
          <a:bodyPr lIns="0" tIns="0" rIns="0" bIns="0" anchor="t">
            <a:normAutofit/>
          </a:bodyPr>
          <a:lstStyle/>
          <a:p>
            <a:pPr algn="l">
              <a:lnSpc>
                <a:spcPct val="100000"/>
              </a:lnSpc>
              <a:buNone/>
              <a:defRPr sz="1500" b="0">
                <a:solidFill>
                  <a:srgbClr val="2D6FB7"/>
                </a:solidFill>
                <a:latin typeface="Arial Black"/>
                <a:ea typeface="Arial Black"/>
                <a:cs typeface="Arial Black"/>
              </a:defRPr>
            </a:pPr>
            <a:r>
              <a:rPr sz="1500" b="0">
                <a:solidFill>
                  <a:srgbClr val="2D6FB7"/>
                </a:solidFill>
                <a:latin typeface="Arial Black"/>
                <a:ea typeface="Arial Black"/>
                <a:cs typeface="Arial Black"/>
              </a:rPr>
              <a:t>02</a:t>
            </a:r>
          </a:p>
        </p:txBody>
      </p:sp>
      <p:sp>
        <p:nvSpPr>
          <p:cNvPr id="13" name="Rectángulo 12">
            <a:extLst>
              <a:ext uri="{FF2B5EF4-FFF2-40B4-BE49-F238E27FC236}">
                <a16:creationId xmlns:a16="http://schemas.microsoft.com/office/drawing/2014/main" id="{3F586EB5-744B-4945-9258-DC08F6413190}"/>
              </a:ext>
            </a:extLst>
          </p:cNvPr>
          <p:cNvSpPr>
            <a:spLocks noGrp="1"/>
          </p:cNvSpPr>
          <p:nvPr/>
        </p:nvSpPr>
        <p:spPr>
          <a:xfrm>
            <a:off x="1352550" y="3638550"/>
            <a:ext cx="4000500" cy="4000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Planificar procesos e hilos</a:t>
            </a:r>
          </a:p>
        </p:txBody>
      </p:sp>
      <p:sp>
        <p:nvSpPr>
          <p:cNvPr id="14" name="Rectángulo 13">
            <a:extLst>
              <a:ext uri="{FF2B5EF4-FFF2-40B4-BE49-F238E27FC236}">
                <a16:creationId xmlns:a16="http://schemas.microsoft.com/office/drawing/2014/main" id="{195514D5-B665-4FA0-8C0A-F6A389BAB6F8}"/>
              </a:ext>
            </a:extLst>
          </p:cNvPr>
          <p:cNvSpPr>
            <a:spLocks noGrp="1"/>
          </p:cNvSpPr>
          <p:nvPr/>
        </p:nvSpPr>
        <p:spPr>
          <a:xfrm>
            <a:off x="838200" y="4400550"/>
            <a:ext cx="381000" cy="285750"/>
          </a:xfrm>
          <a:prstGeom prst="rect">
            <a:avLst/>
          </a:prstGeom>
          <a:noFill/>
          <a:ln w="0">
            <a:noFill/>
            <a:prstDash val="solid"/>
          </a:ln>
        </p:spPr>
        <p:txBody>
          <a:bodyPr lIns="0" tIns="0" rIns="0" bIns="0" anchor="t">
            <a:normAutofit/>
          </a:bodyPr>
          <a:lstStyle/>
          <a:p>
            <a:pPr algn="l">
              <a:lnSpc>
                <a:spcPct val="100000"/>
              </a:lnSpc>
              <a:buNone/>
              <a:defRPr sz="1500" b="0">
                <a:solidFill>
                  <a:srgbClr val="2D6FB7"/>
                </a:solidFill>
                <a:latin typeface="Arial Black"/>
                <a:ea typeface="Arial Black"/>
                <a:cs typeface="Arial Black"/>
              </a:defRPr>
            </a:pPr>
            <a:r>
              <a:rPr sz="1500" b="0">
                <a:solidFill>
                  <a:srgbClr val="2D6FB7"/>
                </a:solidFill>
                <a:latin typeface="Arial Black"/>
                <a:ea typeface="Arial Black"/>
                <a:cs typeface="Arial Black"/>
              </a:rPr>
              <a:t>03</a:t>
            </a:r>
          </a:p>
        </p:txBody>
      </p:sp>
      <p:sp>
        <p:nvSpPr>
          <p:cNvPr id="15" name="Rectángulo 14">
            <a:extLst>
              <a:ext uri="{FF2B5EF4-FFF2-40B4-BE49-F238E27FC236}">
                <a16:creationId xmlns:a16="http://schemas.microsoft.com/office/drawing/2014/main" id="{A7E15E5B-A01C-42D1-8898-4D0518E004EA}"/>
              </a:ext>
            </a:extLst>
          </p:cNvPr>
          <p:cNvSpPr>
            <a:spLocks noGrp="1"/>
          </p:cNvSpPr>
          <p:nvPr/>
        </p:nvSpPr>
        <p:spPr>
          <a:xfrm>
            <a:off x="1352550" y="4362450"/>
            <a:ext cx="4000500" cy="4000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Suspender, reanudar y comunicar</a:t>
            </a:r>
          </a:p>
        </p:txBody>
      </p:sp>
      <p:sp>
        <p:nvSpPr>
          <p:cNvPr id="16" name="Rectángulo 15">
            <a:extLst>
              <a:ext uri="{FF2B5EF4-FFF2-40B4-BE49-F238E27FC236}">
                <a16:creationId xmlns:a16="http://schemas.microsoft.com/office/drawing/2014/main" id="{44A97CF2-34D7-450D-B1A3-3F3B35480827}"/>
              </a:ext>
            </a:extLst>
          </p:cNvPr>
          <p:cNvSpPr>
            <a:spLocks noGrp="1"/>
          </p:cNvSpPr>
          <p:nvPr/>
        </p:nvSpPr>
        <p:spPr>
          <a:xfrm>
            <a:off x="6648450" y="1504950"/>
            <a:ext cx="2476500" cy="323850"/>
          </a:xfrm>
          <a:prstGeom prst="rect">
            <a:avLst/>
          </a:prstGeom>
          <a:noFill/>
          <a:ln w="0">
            <a:noFill/>
            <a:prstDash val="solid"/>
          </a:ln>
        </p:spPr>
        <p:txBody>
          <a:bodyPr lIns="0" tIns="0" rIns="0" bIns="0" anchor="t">
            <a:normAutofit/>
          </a:bodyPr>
          <a:lstStyle/>
          <a:p>
            <a:pPr algn="l">
              <a:lnSpc>
                <a:spcPct val="100000"/>
              </a:lnSpc>
              <a:buNone/>
              <a:defRPr sz="1650" b="1">
                <a:solidFill>
                  <a:srgbClr val="2D6FB7"/>
                </a:solidFill>
                <a:latin typeface="Bahnschrift"/>
                <a:ea typeface="Bahnschrift"/>
                <a:cs typeface="Bahnschrift"/>
              </a:defRPr>
            </a:pPr>
            <a:r>
              <a:rPr sz="1650" b="1">
                <a:solidFill>
                  <a:srgbClr val="2D6FB7"/>
                </a:solidFill>
                <a:latin typeface="Bahnschrift"/>
                <a:ea typeface="Bahnschrift"/>
                <a:cs typeface="Bahnschrift"/>
              </a:rPr>
              <a:t>MEMORIA</a:t>
            </a:r>
          </a:p>
        </p:txBody>
      </p:sp>
      <p:sp>
        <p:nvSpPr>
          <p:cNvPr id="17" name="Rectángulo 16">
            <a:extLst>
              <a:ext uri="{FF2B5EF4-FFF2-40B4-BE49-F238E27FC236}">
                <a16:creationId xmlns:a16="http://schemas.microsoft.com/office/drawing/2014/main" id="{FF94E1DF-0017-4EFD-BC87-7F403EB3F3EA}"/>
              </a:ext>
            </a:extLst>
          </p:cNvPr>
          <p:cNvSpPr>
            <a:spLocks noGrp="1"/>
          </p:cNvSpPr>
          <p:nvPr/>
        </p:nvSpPr>
        <p:spPr>
          <a:xfrm>
            <a:off x="6648450" y="1981200"/>
            <a:ext cx="4667250" cy="742950"/>
          </a:xfrm>
          <a:prstGeom prst="rect">
            <a:avLst/>
          </a:prstGeom>
          <a:noFill/>
          <a:ln w="0">
            <a:noFill/>
            <a:prstDash val="solid"/>
          </a:ln>
        </p:spPr>
        <p:txBody>
          <a:bodyPr lIns="0" tIns="0" rIns="0" bIns="0" anchor="t">
            <a:normAutofit fontScale="95588"/>
          </a:bodyPr>
          <a:lstStyle/>
          <a:p>
            <a:pPr algn="l">
              <a:lnSpc>
                <a:spcPct val="100000"/>
              </a:lnSpc>
              <a:buNone/>
              <a:defRPr sz="2550" b="1">
                <a:solidFill>
                  <a:srgbClr val="101820"/>
                </a:solidFill>
                <a:latin typeface="Arial Black"/>
                <a:ea typeface="Arial Black"/>
                <a:cs typeface="Arial Black"/>
              </a:defRPr>
            </a:pPr>
            <a:r>
              <a:rPr sz="2550" b="1">
                <a:solidFill>
                  <a:srgbClr val="101820"/>
                </a:solidFill>
                <a:latin typeface="Arial Black"/>
                <a:ea typeface="Arial Black"/>
                <a:cs typeface="Arial Black"/>
              </a:rPr>
              <a:t>Mantiene espacios utilizables y separados</a:t>
            </a:r>
          </a:p>
        </p:txBody>
      </p:sp>
      <p:sp>
        <p:nvSpPr>
          <p:cNvPr id="18" name="Rectángulo 17">
            <a:extLst>
              <a:ext uri="{FF2B5EF4-FFF2-40B4-BE49-F238E27FC236}">
                <a16:creationId xmlns:a16="http://schemas.microsoft.com/office/drawing/2014/main" id="{558BCCB2-EE35-4974-A67C-2A81C964F2AF}"/>
              </a:ext>
            </a:extLst>
          </p:cNvPr>
          <p:cNvSpPr>
            <a:spLocks noGrp="1"/>
          </p:cNvSpPr>
          <p:nvPr/>
        </p:nvSpPr>
        <p:spPr>
          <a:xfrm>
            <a:off x="6705600" y="3028950"/>
            <a:ext cx="152400" cy="266700"/>
          </a:xfrm>
          <a:prstGeom prst="rect">
            <a:avLst/>
          </a:prstGeom>
          <a:solidFill>
            <a:srgbClr val="123A61"/>
          </a:solidFill>
          <a:ln w="0">
            <a:solidFill>
              <a:srgbClr val="123A61"/>
            </a:solidFill>
            <a:prstDash val="solid"/>
          </a:ln>
        </p:spPr>
        <p:txBody>
          <a:bodyPr/>
          <a:lstStyle/>
          <a:p>
            <a:endParaRPr lang="es-MX"/>
          </a:p>
        </p:txBody>
      </p:sp>
      <p:sp>
        <p:nvSpPr>
          <p:cNvPr id="19" name="Rectángulo 18">
            <a:extLst>
              <a:ext uri="{FF2B5EF4-FFF2-40B4-BE49-F238E27FC236}">
                <a16:creationId xmlns:a16="http://schemas.microsoft.com/office/drawing/2014/main" id="{0C1FBE89-D6D9-45D3-9ED5-6A9C856A03A6}"/>
              </a:ext>
            </a:extLst>
          </p:cNvPr>
          <p:cNvSpPr>
            <a:spLocks noGrp="1"/>
          </p:cNvSpPr>
          <p:nvPr/>
        </p:nvSpPr>
        <p:spPr>
          <a:xfrm>
            <a:off x="7467600" y="2952750"/>
            <a:ext cx="3524250" cy="4381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Registrar qué partes están en uso</a:t>
            </a:r>
          </a:p>
        </p:txBody>
      </p:sp>
      <p:sp>
        <p:nvSpPr>
          <p:cNvPr id="20" name="Rectángulo 19">
            <a:extLst>
              <a:ext uri="{FF2B5EF4-FFF2-40B4-BE49-F238E27FC236}">
                <a16:creationId xmlns:a16="http://schemas.microsoft.com/office/drawing/2014/main" id="{0763594F-E732-4914-A41B-8E8AF7936FD2}"/>
              </a:ext>
            </a:extLst>
          </p:cNvPr>
          <p:cNvSpPr>
            <a:spLocks noGrp="1"/>
          </p:cNvSpPr>
          <p:nvPr/>
        </p:nvSpPr>
        <p:spPr>
          <a:xfrm>
            <a:off x="6705600" y="3714750"/>
            <a:ext cx="342900" cy="266700"/>
          </a:xfrm>
          <a:prstGeom prst="rect">
            <a:avLst/>
          </a:prstGeom>
          <a:solidFill>
            <a:srgbClr val="2D6FB7"/>
          </a:solidFill>
          <a:ln w="0">
            <a:solidFill>
              <a:srgbClr val="2D6FB7"/>
            </a:solidFill>
            <a:prstDash val="solid"/>
          </a:ln>
        </p:spPr>
        <p:txBody>
          <a:bodyPr/>
          <a:lstStyle/>
          <a:p>
            <a:endParaRPr lang="es-MX"/>
          </a:p>
        </p:txBody>
      </p:sp>
      <p:sp>
        <p:nvSpPr>
          <p:cNvPr id="21" name="Rectángulo 20">
            <a:extLst>
              <a:ext uri="{FF2B5EF4-FFF2-40B4-BE49-F238E27FC236}">
                <a16:creationId xmlns:a16="http://schemas.microsoft.com/office/drawing/2014/main" id="{C4A32974-71C5-4AB9-8D9C-1059BB46F1CA}"/>
              </a:ext>
            </a:extLst>
          </p:cNvPr>
          <p:cNvSpPr>
            <a:spLocks noGrp="1"/>
          </p:cNvSpPr>
          <p:nvPr/>
        </p:nvSpPr>
        <p:spPr>
          <a:xfrm>
            <a:off x="7467600" y="3638550"/>
            <a:ext cx="3524250" cy="4381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Asignar y liberar espacio</a:t>
            </a:r>
          </a:p>
        </p:txBody>
      </p:sp>
      <p:sp>
        <p:nvSpPr>
          <p:cNvPr id="22" name="Rectángulo 21">
            <a:extLst>
              <a:ext uri="{FF2B5EF4-FFF2-40B4-BE49-F238E27FC236}">
                <a16:creationId xmlns:a16="http://schemas.microsoft.com/office/drawing/2014/main" id="{4E5D5822-601D-40D5-B9CE-1BA80F9B9CFB}"/>
              </a:ext>
            </a:extLst>
          </p:cNvPr>
          <p:cNvSpPr>
            <a:spLocks noGrp="1"/>
          </p:cNvSpPr>
          <p:nvPr/>
        </p:nvSpPr>
        <p:spPr>
          <a:xfrm>
            <a:off x="6705600" y="4400550"/>
            <a:ext cx="533400" cy="266700"/>
          </a:xfrm>
          <a:prstGeom prst="rect">
            <a:avLst/>
          </a:prstGeom>
          <a:solidFill>
            <a:srgbClr val="5A9BDC"/>
          </a:solidFill>
          <a:ln w="0">
            <a:solidFill>
              <a:srgbClr val="5A9BDC"/>
            </a:solidFill>
            <a:prstDash val="solid"/>
          </a:ln>
        </p:spPr>
        <p:txBody>
          <a:bodyPr/>
          <a:lstStyle/>
          <a:p>
            <a:endParaRPr lang="es-MX"/>
          </a:p>
        </p:txBody>
      </p:sp>
      <p:sp>
        <p:nvSpPr>
          <p:cNvPr id="23" name="Rectángulo 22">
            <a:extLst>
              <a:ext uri="{FF2B5EF4-FFF2-40B4-BE49-F238E27FC236}">
                <a16:creationId xmlns:a16="http://schemas.microsoft.com/office/drawing/2014/main" id="{6B79F168-4530-4E80-BB9D-FD13A43A0210}"/>
              </a:ext>
            </a:extLst>
          </p:cNvPr>
          <p:cNvSpPr>
            <a:spLocks noGrp="1"/>
          </p:cNvSpPr>
          <p:nvPr/>
        </p:nvSpPr>
        <p:spPr>
          <a:xfrm>
            <a:off x="7467600" y="4324350"/>
            <a:ext cx="3524250" cy="438150"/>
          </a:xfrm>
          <a:prstGeom prst="rect">
            <a:avLst/>
          </a:prstGeom>
          <a:noFill/>
          <a:ln w="0">
            <a:noFill/>
            <a:prstDash val="solid"/>
          </a:ln>
        </p:spPr>
        <p:txBody>
          <a:bodyPr lIns="0" tIns="0" rIns="0" bIns="0" anchor="t">
            <a:normAutofit/>
          </a:bodyPr>
          <a:lstStyle/>
          <a:p>
            <a:pPr algn="l">
              <a:lnSpc>
                <a:spcPct val="100000"/>
              </a:lnSpc>
              <a:buNone/>
              <a:defRPr sz="1650" b="0">
                <a:solidFill>
                  <a:srgbClr val="101820"/>
                </a:solidFill>
                <a:latin typeface="Arial"/>
                <a:ea typeface="Arial"/>
                <a:cs typeface="Arial"/>
              </a:defRPr>
            </a:pPr>
            <a:r>
              <a:rPr sz="1650" b="0">
                <a:solidFill>
                  <a:srgbClr val="101820"/>
                </a:solidFill>
                <a:latin typeface="Arial"/>
                <a:ea typeface="Arial"/>
                <a:cs typeface="Arial"/>
              </a:rPr>
              <a:t>Mover datos y proteger direcciones</a:t>
            </a:r>
          </a:p>
        </p:txBody>
      </p:sp>
      <p:sp>
        <p:nvSpPr>
          <p:cNvPr id="24" name="Rectángulo 23">
            <a:extLst>
              <a:ext uri="{FF2B5EF4-FFF2-40B4-BE49-F238E27FC236}">
                <a16:creationId xmlns:a16="http://schemas.microsoft.com/office/drawing/2014/main" id="{4236FE66-7923-4444-9893-8679B2DD7974}"/>
              </a:ext>
            </a:extLst>
          </p:cNvPr>
          <p:cNvSpPr>
            <a:spLocks noGrp="1"/>
          </p:cNvSpPr>
          <p:nvPr/>
        </p:nvSpPr>
        <p:spPr>
          <a:xfrm>
            <a:off x="781050" y="5562600"/>
            <a:ext cx="10191750" cy="457200"/>
          </a:xfrm>
          <a:prstGeom prst="rect">
            <a:avLst/>
          </a:prstGeom>
          <a:noFill/>
          <a:ln w="0">
            <a:noFill/>
            <a:prstDash val="solid"/>
          </a:ln>
        </p:spPr>
        <p:txBody>
          <a:bodyPr lIns="0" tIns="0" rIns="0" bIns="0" anchor="t">
            <a:normAutofit/>
          </a:bodyPr>
          <a:lstStyle/>
          <a:p>
            <a:pPr algn="l">
              <a:lnSpc>
                <a:spcPct val="100000"/>
              </a:lnSpc>
              <a:buNone/>
              <a:defRPr sz="1650" b="0">
                <a:solidFill>
                  <a:srgbClr val="667483"/>
                </a:solidFill>
                <a:latin typeface="Bahnschrift"/>
                <a:ea typeface="Bahnschrift"/>
                <a:cs typeface="Bahnschrift"/>
              </a:defRPr>
            </a:pPr>
            <a:r>
              <a:rPr sz="1650" b="0">
                <a:solidFill>
                  <a:srgbClr val="667483"/>
                </a:solidFill>
                <a:latin typeface="Bahnschrift"/>
                <a:ea typeface="Bahnschrift"/>
                <a:cs typeface="Bahnschrift"/>
              </a:rPr>
              <a:t>Juntas permiten que varios trabajos progresen sin compartir el control de forma desordenada.</a:t>
            </a:r>
          </a:p>
        </p:txBody>
      </p:sp>
    </p:spTree>
    <p:extLst>
      <p:ext uri="{BB962C8B-B14F-4D97-AF65-F5344CB8AC3E}">
        <p14:creationId xmlns:p14="http://schemas.microsoft.com/office/powerpoint/2010/main" val="1769981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5" name="Rectángulo 24">
            <a:extLst>
              <a:ext uri="{FF2B5EF4-FFF2-40B4-BE49-F238E27FC236}">
                <a16:creationId xmlns:a16="http://schemas.microsoft.com/office/drawing/2014/main" id="{06DA8261-C37B-445C-99FF-C9A64D86DE57}"/>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3 · FUNCIONES</a:t>
            </a:r>
          </a:p>
        </p:txBody>
      </p:sp>
      <p:sp>
        <p:nvSpPr>
          <p:cNvPr id="2" name="Rectángulo 1">
            <a:extLst>
              <a:ext uri="{FF2B5EF4-FFF2-40B4-BE49-F238E27FC236}">
                <a16:creationId xmlns:a16="http://schemas.microsoft.com/office/drawing/2014/main" id="{5D117276-9EC0-40EC-B659-E904824C3E1F}"/>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E/S, archivos y protección cierran el ciclo</a:t>
            </a:r>
          </a:p>
        </p:txBody>
      </p:sp>
      <p:sp>
        <p:nvSpPr>
          <p:cNvPr id="3" name="Conector recto 2">
            <a:extLst>
              <a:ext uri="{FF2B5EF4-FFF2-40B4-BE49-F238E27FC236}">
                <a16:creationId xmlns:a16="http://schemas.microsoft.com/office/drawing/2014/main" id="{8140F47D-143C-4AC8-9F05-27E23A0EC8B0}"/>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873A680C-8860-4080-AF2B-7A7E11B7D59D}"/>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487E3D01-172D-4DF6-A676-69086706D95B}"/>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3 · FUNCIONES</a:t>
            </a:r>
          </a:p>
        </p:txBody>
      </p:sp>
      <p:sp>
        <p:nvSpPr>
          <p:cNvPr id="6" name="Rectángulo 5">
            <a:extLst>
              <a:ext uri="{FF2B5EF4-FFF2-40B4-BE49-F238E27FC236}">
                <a16:creationId xmlns:a16="http://schemas.microsoft.com/office/drawing/2014/main" id="{A8103C3C-DB46-4757-B7BE-E0E37F84CD5B}"/>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05</a:t>
            </a:r>
          </a:p>
        </p:txBody>
      </p:sp>
      <p:sp>
        <p:nvSpPr>
          <p:cNvPr id="7" name="Rectángulo 6">
            <a:extLst>
              <a:ext uri="{FF2B5EF4-FFF2-40B4-BE49-F238E27FC236}">
                <a16:creationId xmlns:a16="http://schemas.microsoft.com/office/drawing/2014/main" id="{D3E0616A-D3EE-4C9C-8457-9F7CB54303C8}"/>
              </a:ext>
            </a:extLst>
          </p:cNvPr>
          <p:cNvSpPr>
            <a:spLocks noGrp="1"/>
          </p:cNvSpPr>
          <p:nvPr/>
        </p:nvSpPr>
        <p:spPr>
          <a:xfrm>
            <a:off x="723900" y="1390650"/>
            <a:ext cx="9334500" cy="552450"/>
          </a:xfrm>
          <a:prstGeom prst="rect">
            <a:avLst/>
          </a:prstGeom>
          <a:noFill/>
          <a:ln w="0">
            <a:noFill/>
            <a:prstDash val="solid"/>
          </a:ln>
        </p:spPr>
        <p:txBody>
          <a:bodyPr lIns="0" tIns="0" rIns="0" bIns="0" anchor="t">
            <a:normAutofit/>
          </a:bodyPr>
          <a:lstStyle/>
          <a:p>
            <a:pPr algn="l">
              <a:lnSpc>
                <a:spcPct val="100000"/>
              </a:lnSpc>
              <a:buNone/>
              <a:defRPr sz="1800" b="0">
                <a:solidFill>
                  <a:srgbClr val="AEB9C5"/>
                </a:solidFill>
                <a:latin typeface="Bahnschrift"/>
                <a:ea typeface="Bahnschrift"/>
                <a:cs typeface="Bahnschrift"/>
              </a:defRPr>
            </a:pPr>
            <a:r>
              <a:rPr sz="1800" b="0">
                <a:solidFill>
                  <a:srgbClr val="AEB9C5"/>
                </a:solidFill>
                <a:latin typeface="Bahnschrift"/>
                <a:ea typeface="Bahnschrift"/>
                <a:cs typeface="Bahnschrift"/>
              </a:rPr>
              <a:t>Una solicitud atraviesa capas hasta convertirse en una operación sobre un dispositivo o un dato persistente.</a:t>
            </a:r>
          </a:p>
        </p:txBody>
      </p:sp>
      <p:sp>
        <p:nvSpPr>
          <p:cNvPr id="8" name="Flecha: a la derecha 7">
            <a:extLst>
              <a:ext uri="{FF2B5EF4-FFF2-40B4-BE49-F238E27FC236}">
                <a16:creationId xmlns:a16="http://schemas.microsoft.com/office/drawing/2014/main" id="{CD1C4E50-1E89-484D-8656-E8CB6975B6C8}"/>
              </a:ext>
            </a:extLst>
          </p:cNvPr>
          <p:cNvSpPr>
            <a:spLocks noGrp="1"/>
          </p:cNvSpPr>
          <p:nvPr/>
        </p:nvSpPr>
        <p:spPr>
          <a:xfrm>
            <a:off x="2514600" y="3143250"/>
            <a:ext cx="1181100" cy="266700"/>
          </a:xfrm>
          <a:prstGeom prst="rightArrow">
            <a:avLst/>
          </a:prstGeom>
          <a:solidFill>
            <a:srgbClr val="284A68"/>
          </a:solidFill>
          <a:ln w="0">
            <a:solidFill>
              <a:srgbClr val="284A68"/>
            </a:solidFill>
            <a:prstDash val="solid"/>
          </a:ln>
        </p:spPr>
        <p:txBody>
          <a:bodyPr/>
          <a:lstStyle/>
          <a:p>
            <a:endParaRPr lang="es-MX"/>
          </a:p>
        </p:txBody>
      </p:sp>
      <p:sp>
        <p:nvSpPr>
          <p:cNvPr id="9" name="Flecha: a la derecha 8">
            <a:extLst>
              <a:ext uri="{FF2B5EF4-FFF2-40B4-BE49-F238E27FC236}">
                <a16:creationId xmlns:a16="http://schemas.microsoft.com/office/drawing/2014/main" id="{0CF4943E-E491-4D05-8A1F-81BD2AF9EF1E}"/>
              </a:ext>
            </a:extLst>
          </p:cNvPr>
          <p:cNvSpPr>
            <a:spLocks noGrp="1"/>
          </p:cNvSpPr>
          <p:nvPr/>
        </p:nvSpPr>
        <p:spPr>
          <a:xfrm>
            <a:off x="4838700" y="3143250"/>
            <a:ext cx="857250" cy="266700"/>
          </a:xfrm>
          <a:prstGeom prst="rightArrow">
            <a:avLst/>
          </a:prstGeom>
          <a:solidFill>
            <a:srgbClr val="284A68"/>
          </a:solidFill>
          <a:ln w="0">
            <a:solidFill>
              <a:srgbClr val="284A68"/>
            </a:solidFill>
            <a:prstDash val="solid"/>
          </a:ln>
        </p:spPr>
        <p:txBody>
          <a:bodyPr/>
          <a:lstStyle/>
          <a:p>
            <a:endParaRPr lang="es-MX"/>
          </a:p>
        </p:txBody>
      </p:sp>
      <p:sp>
        <p:nvSpPr>
          <p:cNvPr id="10" name="Flecha: a la derecha 9">
            <a:extLst>
              <a:ext uri="{FF2B5EF4-FFF2-40B4-BE49-F238E27FC236}">
                <a16:creationId xmlns:a16="http://schemas.microsoft.com/office/drawing/2014/main" id="{6C038B34-3596-4873-9E27-7457D4873EE0}"/>
              </a:ext>
            </a:extLst>
          </p:cNvPr>
          <p:cNvSpPr>
            <a:spLocks noGrp="1"/>
          </p:cNvSpPr>
          <p:nvPr/>
        </p:nvSpPr>
        <p:spPr>
          <a:xfrm>
            <a:off x="6953250" y="3143250"/>
            <a:ext cx="742950" cy="266700"/>
          </a:xfrm>
          <a:prstGeom prst="rightArrow">
            <a:avLst/>
          </a:prstGeom>
          <a:solidFill>
            <a:srgbClr val="284A68"/>
          </a:solidFill>
          <a:ln w="0">
            <a:solidFill>
              <a:srgbClr val="284A68"/>
            </a:solidFill>
            <a:prstDash val="solid"/>
          </a:ln>
        </p:spPr>
        <p:txBody>
          <a:bodyPr/>
          <a:lstStyle/>
          <a:p>
            <a:endParaRPr lang="es-MX"/>
          </a:p>
        </p:txBody>
      </p:sp>
      <p:sp>
        <p:nvSpPr>
          <p:cNvPr id="11" name="Flecha: a la derecha 10">
            <a:extLst>
              <a:ext uri="{FF2B5EF4-FFF2-40B4-BE49-F238E27FC236}">
                <a16:creationId xmlns:a16="http://schemas.microsoft.com/office/drawing/2014/main" id="{D5A308C1-50B6-4D13-9D7C-08E7979CD8A7}"/>
              </a:ext>
            </a:extLst>
          </p:cNvPr>
          <p:cNvSpPr>
            <a:spLocks noGrp="1"/>
          </p:cNvSpPr>
          <p:nvPr/>
        </p:nvSpPr>
        <p:spPr>
          <a:xfrm>
            <a:off x="9048750" y="3143250"/>
            <a:ext cx="647700" cy="266700"/>
          </a:xfrm>
          <a:prstGeom prst="rightArrow">
            <a:avLst/>
          </a:prstGeom>
          <a:solidFill>
            <a:srgbClr val="284A68"/>
          </a:solidFill>
          <a:ln w="0">
            <a:solidFill>
              <a:srgbClr val="284A68"/>
            </a:solidFill>
            <a:prstDash val="solid"/>
          </a:ln>
        </p:spPr>
        <p:txBody>
          <a:bodyPr/>
          <a:lstStyle/>
          <a:p>
            <a:endParaRPr lang="es-MX"/>
          </a:p>
        </p:txBody>
      </p:sp>
      <p:sp>
        <p:nvSpPr>
          <p:cNvPr id="12" name="Rectángulo 11">
            <a:extLst>
              <a:ext uri="{FF2B5EF4-FFF2-40B4-BE49-F238E27FC236}">
                <a16:creationId xmlns:a16="http://schemas.microsoft.com/office/drawing/2014/main" id="{246DF219-1696-46DB-9785-8FE3BB1DDE6C}"/>
              </a:ext>
            </a:extLst>
          </p:cNvPr>
          <p:cNvSpPr>
            <a:spLocks noGrp="1"/>
          </p:cNvSpPr>
          <p:nvPr/>
        </p:nvSpPr>
        <p:spPr>
          <a:xfrm>
            <a:off x="895350" y="2667000"/>
            <a:ext cx="1619250" cy="1028700"/>
          </a:xfrm>
          <a:prstGeom prst="rect">
            <a:avLst/>
          </a:prstGeom>
          <a:solidFill>
            <a:srgbClr val="0D1824"/>
          </a:solidFill>
          <a:ln w="9525">
            <a:solidFill>
              <a:srgbClr val="355D7A"/>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APLICACIÓN</a:t>
            </a:r>
          </a:p>
        </p:txBody>
      </p:sp>
      <p:sp>
        <p:nvSpPr>
          <p:cNvPr id="13" name="Rectángulo 12">
            <a:extLst>
              <a:ext uri="{FF2B5EF4-FFF2-40B4-BE49-F238E27FC236}">
                <a16:creationId xmlns:a16="http://schemas.microsoft.com/office/drawing/2014/main" id="{BF270109-A295-42A3-B819-2D3781B14574}"/>
              </a:ext>
            </a:extLst>
          </p:cNvPr>
          <p:cNvSpPr>
            <a:spLocks noGrp="1"/>
          </p:cNvSpPr>
          <p:nvPr/>
        </p:nvSpPr>
        <p:spPr>
          <a:xfrm>
            <a:off x="895350" y="3810000"/>
            <a:ext cx="1619250" cy="247650"/>
          </a:xfrm>
          <a:prstGeom prst="rect">
            <a:avLst/>
          </a:prstGeom>
          <a:noFill/>
          <a:ln w="0">
            <a:noFill/>
            <a:prstDash val="solid"/>
          </a:ln>
        </p:spPr>
        <p:txBody>
          <a:bodyPr lIns="0" tIns="0" rIns="0" bIns="0" anchor="t">
            <a:normAutofit/>
          </a:bodyPr>
          <a:lstStyle/>
          <a:p>
            <a:pPr algn="ctr">
              <a:lnSpc>
                <a:spcPct val="100000"/>
              </a:lnSpc>
              <a:buNone/>
              <a:defRPr sz="1200" b="0">
                <a:solidFill>
                  <a:srgbClr val="AEB9C5"/>
                </a:solidFill>
                <a:latin typeface="Bahnschrift"/>
                <a:ea typeface="Bahnschrift"/>
                <a:cs typeface="Bahnschrift"/>
              </a:defRPr>
            </a:pPr>
            <a:r>
              <a:rPr sz="1200" b="0">
                <a:solidFill>
                  <a:srgbClr val="AEB9C5"/>
                </a:solidFill>
                <a:latin typeface="Bahnschrift"/>
                <a:ea typeface="Bahnschrift"/>
                <a:cs typeface="Bahnschrift"/>
              </a:rPr>
              <a:t>solicita</a:t>
            </a:r>
          </a:p>
        </p:txBody>
      </p:sp>
      <p:sp>
        <p:nvSpPr>
          <p:cNvPr id="14" name="Rectángulo 13">
            <a:extLst>
              <a:ext uri="{FF2B5EF4-FFF2-40B4-BE49-F238E27FC236}">
                <a16:creationId xmlns:a16="http://schemas.microsoft.com/office/drawing/2014/main" id="{E2C95406-DA64-4856-9DDC-6EB830C537CE}"/>
              </a:ext>
            </a:extLst>
          </p:cNvPr>
          <p:cNvSpPr>
            <a:spLocks noGrp="1"/>
          </p:cNvSpPr>
          <p:nvPr/>
        </p:nvSpPr>
        <p:spPr>
          <a:xfrm>
            <a:off x="3219450" y="2667000"/>
            <a:ext cx="1619250" cy="1028700"/>
          </a:xfrm>
          <a:prstGeom prst="rect">
            <a:avLst/>
          </a:prstGeom>
          <a:solidFill>
            <a:srgbClr val="123A61"/>
          </a:solidFill>
          <a:ln w="9525">
            <a:solidFill>
              <a:srgbClr val="355D7A"/>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INTERFAZ E/S</a:t>
            </a:r>
          </a:p>
        </p:txBody>
      </p:sp>
      <p:sp>
        <p:nvSpPr>
          <p:cNvPr id="15" name="Rectángulo 14">
            <a:extLst>
              <a:ext uri="{FF2B5EF4-FFF2-40B4-BE49-F238E27FC236}">
                <a16:creationId xmlns:a16="http://schemas.microsoft.com/office/drawing/2014/main" id="{89F564E2-706A-40E5-8B04-8E1A64B04C8C}"/>
              </a:ext>
            </a:extLst>
          </p:cNvPr>
          <p:cNvSpPr>
            <a:spLocks noGrp="1"/>
          </p:cNvSpPr>
          <p:nvPr/>
        </p:nvSpPr>
        <p:spPr>
          <a:xfrm>
            <a:off x="3219450" y="3819525"/>
            <a:ext cx="1619250" cy="247650"/>
          </a:xfrm>
          <a:prstGeom prst="rect">
            <a:avLst/>
          </a:prstGeom>
          <a:noFill/>
          <a:ln w="0">
            <a:noFill/>
            <a:prstDash val="solid"/>
          </a:ln>
        </p:spPr>
        <p:txBody>
          <a:bodyPr lIns="0" tIns="0" rIns="0" bIns="0" anchor="t">
            <a:normAutofit/>
          </a:bodyPr>
          <a:lstStyle/>
          <a:p>
            <a:pPr algn="ctr">
              <a:lnSpc>
                <a:spcPct val="100000"/>
              </a:lnSpc>
              <a:buNone/>
              <a:defRPr sz="1200" b="0">
                <a:solidFill>
                  <a:srgbClr val="AEB9C5"/>
                </a:solidFill>
                <a:latin typeface="Bahnschrift"/>
                <a:ea typeface="Bahnschrift"/>
                <a:cs typeface="Bahnschrift"/>
              </a:defRPr>
            </a:pPr>
            <a:r>
              <a:rPr sz="1200" b="0" dirty="0" err="1">
                <a:solidFill>
                  <a:srgbClr val="AEB9C5"/>
                </a:solidFill>
                <a:latin typeface="Bahnschrift"/>
                <a:ea typeface="Bahnschrift"/>
                <a:cs typeface="Bahnschrift"/>
              </a:rPr>
              <a:t>uniforma</a:t>
            </a:r>
            <a:endParaRPr sz="1200" b="0" dirty="0">
              <a:solidFill>
                <a:srgbClr val="AEB9C5"/>
              </a:solidFill>
              <a:latin typeface="Bahnschrift"/>
              <a:ea typeface="Bahnschrift"/>
              <a:cs typeface="Bahnschrift"/>
            </a:endParaRPr>
          </a:p>
        </p:txBody>
      </p:sp>
      <p:sp>
        <p:nvSpPr>
          <p:cNvPr id="16" name="Rectángulo 15">
            <a:extLst>
              <a:ext uri="{FF2B5EF4-FFF2-40B4-BE49-F238E27FC236}">
                <a16:creationId xmlns:a16="http://schemas.microsoft.com/office/drawing/2014/main" id="{074AD0CC-2D0F-4CA8-85C1-C62B9D793D3E}"/>
              </a:ext>
            </a:extLst>
          </p:cNvPr>
          <p:cNvSpPr>
            <a:spLocks noGrp="1"/>
          </p:cNvSpPr>
          <p:nvPr/>
        </p:nvSpPr>
        <p:spPr>
          <a:xfrm>
            <a:off x="5334000" y="2687465"/>
            <a:ext cx="1619250" cy="1028700"/>
          </a:xfrm>
          <a:prstGeom prst="rect">
            <a:avLst/>
          </a:prstGeom>
          <a:solidFill>
            <a:srgbClr val="2D6FB7"/>
          </a:solidFill>
          <a:ln w="9525">
            <a:solidFill>
              <a:srgbClr val="355D7A"/>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DRIVER</a:t>
            </a:r>
          </a:p>
        </p:txBody>
      </p:sp>
      <p:sp>
        <p:nvSpPr>
          <p:cNvPr id="17" name="Rectángulo 16">
            <a:extLst>
              <a:ext uri="{FF2B5EF4-FFF2-40B4-BE49-F238E27FC236}">
                <a16:creationId xmlns:a16="http://schemas.microsoft.com/office/drawing/2014/main" id="{8E0E3169-7C15-4019-B7D9-0CD8C5C3BBA4}"/>
              </a:ext>
            </a:extLst>
          </p:cNvPr>
          <p:cNvSpPr>
            <a:spLocks noGrp="1"/>
          </p:cNvSpPr>
          <p:nvPr/>
        </p:nvSpPr>
        <p:spPr>
          <a:xfrm>
            <a:off x="5381625" y="3792365"/>
            <a:ext cx="1619250" cy="247650"/>
          </a:xfrm>
          <a:prstGeom prst="rect">
            <a:avLst/>
          </a:prstGeom>
          <a:noFill/>
          <a:ln w="0">
            <a:noFill/>
            <a:prstDash val="solid"/>
          </a:ln>
        </p:spPr>
        <p:txBody>
          <a:bodyPr lIns="0" tIns="0" rIns="0" bIns="0" anchor="t">
            <a:normAutofit/>
          </a:bodyPr>
          <a:lstStyle/>
          <a:p>
            <a:pPr algn="ctr">
              <a:lnSpc>
                <a:spcPct val="100000"/>
              </a:lnSpc>
              <a:buNone/>
              <a:defRPr sz="1200" b="0">
                <a:solidFill>
                  <a:srgbClr val="AEB9C5"/>
                </a:solidFill>
                <a:latin typeface="Bahnschrift"/>
                <a:ea typeface="Bahnschrift"/>
                <a:cs typeface="Bahnschrift"/>
              </a:defRPr>
            </a:pPr>
            <a:r>
              <a:rPr sz="1200" b="0" dirty="0">
                <a:solidFill>
                  <a:srgbClr val="AEB9C5"/>
                </a:solidFill>
                <a:latin typeface="Bahnschrift"/>
                <a:ea typeface="Bahnschrift"/>
                <a:cs typeface="Bahnschrift"/>
              </a:rPr>
              <a:t>traduce</a:t>
            </a:r>
          </a:p>
        </p:txBody>
      </p:sp>
      <p:sp>
        <p:nvSpPr>
          <p:cNvPr id="18" name="Rectángulo 17">
            <a:extLst>
              <a:ext uri="{FF2B5EF4-FFF2-40B4-BE49-F238E27FC236}">
                <a16:creationId xmlns:a16="http://schemas.microsoft.com/office/drawing/2014/main" id="{68F73432-375E-4299-9922-822E70432C74}"/>
              </a:ext>
            </a:extLst>
          </p:cNvPr>
          <p:cNvSpPr>
            <a:spLocks noGrp="1"/>
          </p:cNvSpPr>
          <p:nvPr/>
        </p:nvSpPr>
        <p:spPr>
          <a:xfrm>
            <a:off x="7543800" y="2667000"/>
            <a:ext cx="1619250" cy="1028700"/>
          </a:xfrm>
          <a:prstGeom prst="rect">
            <a:avLst/>
          </a:prstGeom>
          <a:solidFill>
            <a:srgbClr val="123A61"/>
          </a:solidFill>
          <a:ln w="9525">
            <a:solidFill>
              <a:srgbClr val="355D7A"/>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DISPOSITIVO</a:t>
            </a:r>
          </a:p>
        </p:txBody>
      </p:sp>
      <p:sp>
        <p:nvSpPr>
          <p:cNvPr id="19" name="Rectángulo 18">
            <a:extLst>
              <a:ext uri="{FF2B5EF4-FFF2-40B4-BE49-F238E27FC236}">
                <a16:creationId xmlns:a16="http://schemas.microsoft.com/office/drawing/2014/main" id="{30205A4B-BE7E-4558-B4C1-58FAE73B8217}"/>
              </a:ext>
            </a:extLst>
          </p:cNvPr>
          <p:cNvSpPr>
            <a:spLocks noGrp="1"/>
          </p:cNvSpPr>
          <p:nvPr/>
        </p:nvSpPr>
        <p:spPr>
          <a:xfrm>
            <a:off x="7543800" y="3810000"/>
            <a:ext cx="1619250" cy="247650"/>
          </a:xfrm>
          <a:prstGeom prst="rect">
            <a:avLst/>
          </a:prstGeom>
          <a:noFill/>
          <a:ln w="0">
            <a:noFill/>
            <a:prstDash val="solid"/>
          </a:ln>
        </p:spPr>
        <p:txBody>
          <a:bodyPr lIns="0" tIns="0" rIns="0" bIns="0" anchor="t">
            <a:normAutofit/>
          </a:bodyPr>
          <a:lstStyle/>
          <a:p>
            <a:pPr algn="ctr">
              <a:lnSpc>
                <a:spcPct val="100000"/>
              </a:lnSpc>
              <a:buNone/>
              <a:defRPr sz="1200" b="0">
                <a:solidFill>
                  <a:srgbClr val="AEB9C5"/>
                </a:solidFill>
                <a:latin typeface="Bahnschrift"/>
                <a:ea typeface="Bahnschrift"/>
                <a:cs typeface="Bahnschrift"/>
              </a:defRPr>
            </a:pPr>
            <a:r>
              <a:rPr sz="1200" b="0">
                <a:solidFill>
                  <a:srgbClr val="AEB9C5"/>
                </a:solidFill>
                <a:latin typeface="Bahnschrift"/>
                <a:ea typeface="Bahnschrift"/>
                <a:cs typeface="Bahnschrift"/>
              </a:rPr>
              <a:t>transfiere</a:t>
            </a:r>
          </a:p>
        </p:txBody>
      </p:sp>
      <p:sp>
        <p:nvSpPr>
          <p:cNvPr id="20" name="Rectángulo 19">
            <a:extLst>
              <a:ext uri="{FF2B5EF4-FFF2-40B4-BE49-F238E27FC236}">
                <a16:creationId xmlns:a16="http://schemas.microsoft.com/office/drawing/2014/main" id="{F7054EBD-EF0D-4A72-9B4E-95FEC159C193}"/>
              </a:ext>
            </a:extLst>
          </p:cNvPr>
          <p:cNvSpPr>
            <a:spLocks noGrp="1"/>
          </p:cNvSpPr>
          <p:nvPr/>
        </p:nvSpPr>
        <p:spPr>
          <a:xfrm>
            <a:off x="9544050" y="2667000"/>
            <a:ext cx="1619250" cy="1028700"/>
          </a:xfrm>
          <a:prstGeom prst="rect">
            <a:avLst/>
          </a:prstGeom>
          <a:solidFill>
            <a:srgbClr val="0D1824"/>
          </a:solidFill>
          <a:ln w="9525">
            <a:solidFill>
              <a:srgbClr val="355D7A"/>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ARCHIVO</a:t>
            </a:r>
          </a:p>
        </p:txBody>
      </p:sp>
      <p:sp>
        <p:nvSpPr>
          <p:cNvPr id="21" name="Rectángulo 20">
            <a:extLst>
              <a:ext uri="{FF2B5EF4-FFF2-40B4-BE49-F238E27FC236}">
                <a16:creationId xmlns:a16="http://schemas.microsoft.com/office/drawing/2014/main" id="{9C9758A5-37CE-445A-AE5C-E8EB7B044D78}"/>
              </a:ext>
            </a:extLst>
          </p:cNvPr>
          <p:cNvSpPr>
            <a:spLocks noGrp="1"/>
          </p:cNvSpPr>
          <p:nvPr/>
        </p:nvSpPr>
        <p:spPr>
          <a:xfrm>
            <a:off x="9544050" y="3810000"/>
            <a:ext cx="1619250" cy="247650"/>
          </a:xfrm>
          <a:prstGeom prst="rect">
            <a:avLst/>
          </a:prstGeom>
          <a:noFill/>
          <a:ln w="0">
            <a:noFill/>
            <a:prstDash val="solid"/>
          </a:ln>
        </p:spPr>
        <p:txBody>
          <a:bodyPr lIns="0" tIns="0" rIns="0" bIns="0" anchor="t">
            <a:normAutofit/>
          </a:bodyPr>
          <a:lstStyle/>
          <a:p>
            <a:pPr algn="ctr">
              <a:lnSpc>
                <a:spcPct val="100000"/>
              </a:lnSpc>
              <a:buNone/>
              <a:defRPr sz="1200" b="0">
                <a:solidFill>
                  <a:srgbClr val="AEB9C5"/>
                </a:solidFill>
                <a:latin typeface="Bahnschrift"/>
                <a:ea typeface="Bahnschrift"/>
                <a:cs typeface="Bahnschrift"/>
              </a:defRPr>
            </a:pPr>
            <a:r>
              <a:rPr sz="1200" b="0">
                <a:solidFill>
                  <a:srgbClr val="AEB9C5"/>
                </a:solidFill>
                <a:latin typeface="Bahnschrift"/>
                <a:ea typeface="Bahnschrift"/>
                <a:cs typeface="Bahnschrift"/>
              </a:rPr>
              <a:t>persiste</a:t>
            </a:r>
          </a:p>
        </p:txBody>
      </p:sp>
      <p:sp>
        <p:nvSpPr>
          <p:cNvPr id="22" name="Conector recto 21">
            <a:extLst>
              <a:ext uri="{FF2B5EF4-FFF2-40B4-BE49-F238E27FC236}">
                <a16:creationId xmlns:a16="http://schemas.microsoft.com/office/drawing/2014/main" id="{19FC2BA7-59CC-48A9-B47D-E4203663670A}"/>
              </a:ext>
            </a:extLst>
          </p:cNvPr>
          <p:cNvSpPr>
            <a:spLocks noGrp="1"/>
          </p:cNvSpPr>
          <p:nvPr/>
        </p:nvSpPr>
        <p:spPr>
          <a:xfrm>
            <a:off x="838200" y="4781550"/>
            <a:ext cx="10325100" cy="0"/>
          </a:xfrm>
          <a:prstGeom prst="line">
            <a:avLst/>
          </a:prstGeom>
          <a:noFill/>
          <a:ln w="28575">
            <a:solidFill>
              <a:srgbClr val="5A9BDC"/>
            </a:solidFill>
            <a:prstDash val="solid"/>
          </a:ln>
        </p:spPr>
        <p:txBody>
          <a:bodyPr/>
          <a:lstStyle/>
          <a:p>
            <a:endParaRPr lang="es-MX"/>
          </a:p>
        </p:txBody>
      </p:sp>
      <p:sp>
        <p:nvSpPr>
          <p:cNvPr id="23" name="Rectángulo 22">
            <a:extLst>
              <a:ext uri="{FF2B5EF4-FFF2-40B4-BE49-F238E27FC236}">
                <a16:creationId xmlns:a16="http://schemas.microsoft.com/office/drawing/2014/main" id="{51FEEA20-C934-47C8-BBCF-566DD645A558}"/>
              </a:ext>
            </a:extLst>
          </p:cNvPr>
          <p:cNvSpPr>
            <a:spLocks noGrp="1"/>
          </p:cNvSpPr>
          <p:nvPr/>
        </p:nvSpPr>
        <p:spPr>
          <a:xfrm>
            <a:off x="838200" y="4933950"/>
            <a:ext cx="2000250" cy="266700"/>
          </a:xfrm>
          <a:prstGeom prst="rect">
            <a:avLst/>
          </a:prstGeom>
          <a:noFill/>
          <a:ln w="0">
            <a:noFill/>
            <a:prstDash val="solid"/>
          </a:ln>
        </p:spPr>
        <p:txBody>
          <a:bodyPr lIns="0" tIns="0" rIns="0" bIns="0" anchor="t">
            <a:normAutofit/>
          </a:bodyPr>
          <a:lstStyle/>
          <a:p>
            <a:pPr algn="l">
              <a:lnSpc>
                <a:spcPct val="100000"/>
              </a:lnSpc>
              <a:buNone/>
              <a:defRPr sz="1500" b="1">
                <a:solidFill>
                  <a:srgbClr val="5A9BDC"/>
                </a:solidFill>
                <a:latin typeface="Bahnschrift"/>
                <a:ea typeface="Bahnschrift"/>
                <a:cs typeface="Bahnschrift"/>
              </a:defRPr>
            </a:pPr>
            <a:r>
              <a:rPr sz="1500" b="1">
                <a:solidFill>
                  <a:srgbClr val="5A9BDC"/>
                </a:solidFill>
                <a:latin typeface="Bahnschrift"/>
                <a:ea typeface="Bahnschrift"/>
                <a:cs typeface="Bahnschrift"/>
              </a:rPr>
              <a:t>PROTECCIÓN</a:t>
            </a:r>
          </a:p>
        </p:txBody>
      </p:sp>
      <p:sp>
        <p:nvSpPr>
          <p:cNvPr id="24" name="Rectángulo 23">
            <a:extLst>
              <a:ext uri="{FF2B5EF4-FFF2-40B4-BE49-F238E27FC236}">
                <a16:creationId xmlns:a16="http://schemas.microsoft.com/office/drawing/2014/main" id="{0DE1EB3D-A511-4EE4-854C-EEC5EF655814}"/>
              </a:ext>
            </a:extLst>
          </p:cNvPr>
          <p:cNvSpPr>
            <a:spLocks noGrp="1"/>
          </p:cNvSpPr>
          <p:nvPr/>
        </p:nvSpPr>
        <p:spPr>
          <a:xfrm>
            <a:off x="2857500" y="4895850"/>
            <a:ext cx="7239000" cy="400050"/>
          </a:xfrm>
          <a:prstGeom prst="rect">
            <a:avLst/>
          </a:prstGeom>
          <a:noFill/>
          <a:ln w="0">
            <a:noFill/>
            <a:prstDash val="solid"/>
          </a:ln>
        </p:spPr>
        <p:txBody>
          <a:bodyPr lIns="0" tIns="0" rIns="0" bIns="0" anchor="t">
            <a:normAutofit/>
          </a:bodyPr>
          <a:lstStyle/>
          <a:p>
            <a:pPr algn="l">
              <a:lnSpc>
                <a:spcPct val="100000"/>
              </a:lnSpc>
              <a:buNone/>
              <a:defRPr sz="1650" b="0">
                <a:solidFill>
                  <a:srgbClr val="F8FAFC"/>
                </a:solidFill>
                <a:latin typeface="Arial"/>
                <a:ea typeface="Arial"/>
                <a:cs typeface="Arial"/>
              </a:defRPr>
            </a:pPr>
            <a:r>
              <a:rPr sz="1650" b="0">
                <a:solidFill>
                  <a:srgbClr val="F8FAFC"/>
                </a:solidFill>
                <a:latin typeface="Arial"/>
                <a:ea typeface="Arial"/>
                <a:cs typeface="Arial"/>
              </a:rPr>
              <a:t>Controla quién puede pedir, leer, escribir o modificar cada recurso.</a:t>
            </a:r>
          </a:p>
        </p:txBody>
      </p:sp>
    </p:spTree>
    <p:extLst>
      <p:ext uri="{BB962C8B-B14F-4D97-AF65-F5344CB8AC3E}">
        <p14:creationId xmlns:p14="http://schemas.microsoft.com/office/powerpoint/2010/main" val="210208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2638A196-B8E3-4269-A807-FC6A09581AEE}"/>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4 · MANEJO DE RECURSOS</a:t>
            </a:r>
          </a:p>
        </p:txBody>
      </p:sp>
      <p:sp>
        <p:nvSpPr>
          <p:cNvPr id="2" name="Rectángulo 1">
            <a:extLst>
              <a:ext uri="{FF2B5EF4-FFF2-40B4-BE49-F238E27FC236}">
                <a16:creationId xmlns:a16="http://schemas.microsoft.com/office/drawing/2014/main" id="{977DAF97-D640-4A3D-9EA4-C3A53D8801AA}"/>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Asigna recursos y controla su uso</a:t>
            </a:r>
          </a:p>
        </p:txBody>
      </p:sp>
      <p:sp>
        <p:nvSpPr>
          <p:cNvPr id="3" name="Conector recto 2">
            <a:extLst>
              <a:ext uri="{FF2B5EF4-FFF2-40B4-BE49-F238E27FC236}">
                <a16:creationId xmlns:a16="http://schemas.microsoft.com/office/drawing/2014/main" id="{FFC19225-86D2-4D89-8A1B-E8E7D2BF6034}"/>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82142680-6D6C-410B-B290-61E5194FF937}"/>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BC77E639-7A9F-4156-A7FE-8ABDDFF75247}"/>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4 · MANEJO DE RECURSOS</a:t>
            </a:r>
          </a:p>
        </p:txBody>
      </p:sp>
      <p:sp>
        <p:nvSpPr>
          <p:cNvPr id="6" name="Rectángulo 5">
            <a:extLst>
              <a:ext uri="{FF2B5EF4-FFF2-40B4-BE49-F238E27FC236}">
                <a16:creationId xmlns:a16="http://schemas.microsoft.com/office/drawing/2014/main" id="{37D5E9FE-7CD2-480F-A1A7-D14BB40839F9}"/>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06</a:t>
            </a:r>
          </a:p>
        </p:txBody>
      </p:sp>
      <p:sp>
        <p:nvSpPr>
          <p:cNvPr id="7" name="Rectángulo 6">
            <a:extLst>
              <a:ext uri="{FF2B5EF4-FFF2-40B4-BE49-F238E27FC236}">
                <a16:creationId xmlns:a16="http://schemas.microsoft.com/office/drawing/2014/main" id="{05C056EA-B993-40BA-B578-52D8FEFB1B12}"/>
              </a:ext>
            </a:extLst>
          </p:cNvPr>
          <p:cNvSpPr>
            <a:spLocks noGrp="1"/>
          </p:cNvSpPr>
          <p:nvPr/>
        </p:nvSpPr>
        <p:spPr>
          <a:xfrm>
            <a:off x="781050" y="1571625"/>
            <a:ext cx="2381250" cy="266700"/>
          </a:xfrm>
          <a:prstGeom prst="rect">
            <a:avLst/>
          </a:prstGeom>
          <a:noFill/>
          <a:ln w="0">
            <a:noFill/>
            <a:prstDash val="solid"/>
          </a:ln>
        </p:spPr>
        <p:txBody>
          <a:bodyPr lIns="0" tIns="0" rIns="0" bIns="0" anchor="t">
            <a:normAutofit/>
          </a:bodyPr>
          <a:lstStyle/>
          <a:p>
            <a:pPr algn="l">
              <a:lnSpc>
                <a:spcPct val="100000"/>
              </a:lnSpc>
              <a:buNone/>
              <a:defRPr sz="1425" b="1">
                <a:solidFill>
                  <a:srgbClr val="2D6FB7"/>
                </a:solidFill>
                <a:latin typeface="Bahnschrift"/>
                <a:ea typeface="Bahnschrift"/>
                <a:cs typeface="Bahnschrift"/>
              </a:defRPr>
            </a:pPr>
            <a:r>
              <a:rPr sz="1425" b="1">
                <a:solidFill>
                  <a:srgbClr val="2D6FB7"/>
                </a:solidFill>
                <a:latin typeface="Bahnschrift"/>
                <a:ea typeface="Bahnschrift"/>
                <a:cs typeface="Bahnschrift"/>
              </a:rPr>
              <a:t>SOLICITUDES</a:t>
            </a:r>
          </a:p>
        </p:txBody>
      </p:sp>
      <p:sp>
        <p:nvSpPr>
          <p:cNvPr id="8" name="Rectángulo 7">
            <a:extLst>
              <a:ext uri="{FF2B5EF4-FFF2-40B4-BE49-F238E27FC236}">
                <a16:creationId xmlns:a16="http://schemas.microsoft.com/office/drawing/2014/main" id="{7762B8ED-BF97-47B1-82D6-DC8FA11E3DE7}"/>
              </a:ext>
            </a:extLst>
          </p:cNvPr>
          <p:cNvSpPr>
            <a:spLocks noGrp="1"/>
          </p:cNvSpPr>
          <p:nvPr/>
        </p:nvSpPr>
        <p:spPr>
          <a:xfrm>
            <a:off x="819150" y="2238375"/>
            <a:ext cx="1714500" cy="32385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Proceso A</a:t>
            </a:r>
          </a:p>
        </p:txBody>
      </p:sp>
      <p:sp>
        <p:nvSpPr>
          <p:cNvPr id="9" name="Rectángulo 8">
            <a:extLst>
              <a:ext uri="{FF2B5EF4-FFF2-40B4-BE49-F238E27FC236}">
                <a16:creationId xmlns:a16="http://schemas.microsoft.com/office/drawing/2014/main" id="{28C89AA4-6F45-4998-BC3D-07FA976C7F7E}"/>
              </a:ext>
            </a:extLst>
          </p:cNvPr>
          <p:cNvSpPr>
            <a:spLocks noGrp="1"/>
          </p:cNvSpPr>
          <p:nvPr/>
        </p:nvSpPr>
        <p:spPr>
          <a:xfrm>
            <a:off x="819150" y="3019425"/>
            <a:ext cx="1714500" cy="32385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Proceso B</a:t>
            </a:r>
          </a:p>
        </p:txBody>
      </p:sp>
      <p:sp>
        <p:nvSpPr>
          <p:cNvPr id="10" name="Rectángulo 9">
            <a:extLst>
              <a:ext uri="{FF2B5EF4-FFF2-40B4-BE49-F238E27FC236}">
                <a16:creationId xmlns:a16="http://schemas.microsoft.com/office/drawing/2014/main" id="{0BE7BE12-B679-407F-A668-33186A3EC6BC}"/>
              </a:ext>
            </a:extLst>
          </p:cNvPr>
          <p:cNvSpPr>
            <a:spLocks noGrp="1"/>
          </p:cNvSpPr>
          <p:nvPr/>
        </p:nvSpPr>
        <p:spPr>
          <a:xfrm>
            <a:off x="819150" y="3800475"/>
            <a:ext cx="1714500" cy="32385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Proceso C</a:t>
            </a:r>
          </a:p>
        </p:txBody>
      </p:sp>
      <p:sp>
        <p:nvSpPr>
          <p:cNvPr id="11" name="Flecha: a la derecha 10">
            <a:extLst>
              <a:ext uri="{FF2B5EF4-FFF2-40B4-BE49-F238E27FC236}">
                <a16:creationId xmlns:a16="http://schemas.microsoft.com/office/drawing/2014/main" id="{C03BD23A-B278-4F57-B83F-986E16E05ED6}"/>
              </a:ext>
            </a:extLst>
          </p:cNvPr>
          <p:cNvSpPr>
            <a:spLocks noGrp="1"/>
          </p:cNvSpPr>
          <p:nvPr/>
        </p:nvSpPr>
        <p:spPr>
          <a:xfrm>
            <a:off x="2724150" y="2352675"/>
            <a:ext cx="1238250" cy="228600"/>
          </a:xfrm>
          <a:prstGeom prst="rightArrow">
            <a:avLst/>
          </a:prstGeom>
          <a:solidFill>
            <a:srgbClr val="DCEAF7"/>
          </a:solidFill>
          <a:ln w="0">
            <a:solidFill>
              <a:srgbClr val="DCEAF7"/>
            </a:solidFill>
            <a:prstDash val="solid"/>
          </a:ln>
        </p:spPr>
        <p:txBody>
          <a:bodyPr/>
          <a:lstStyle/>
          <a:p>
            <a:endParaRPr lang="es-MX"/>
          </a:p>
        </p:txBody>
      </p:sp>
      <p:sp>
        <p:nvSpPr>
          <p:cNvPr id="12" name="Flecha: a la derecha 11">
            <a:extLst>
              <a:ext uri="{FF2B5EF4-FFF2-40B4-BE49-F238E27FC236}">
                <a16:creationId xmlns:a16="http://schemas.microsoft.com/office/drawing/2014/main" id="{C2DACCDC-0E75-41DD-8931-B1AE3A723C03}"/>
              </a:ext>
            </a:extLst>
          </p:cNvPr>
          <p:cNvSpPr>
            <a:spLocks noGrp="1"/>
          </p:cNvSpPr>
          <p:nvPr/>
        </p:nvSpPr>
        <p:spPr>
          <a:xfrm>
            <a:off x="2724150" y="3133725"/>
            <a:ext cx="1238250" cy="228600"/>
          </a:xfrm>
          <a:prstGeom prst="rightArrow">
            <a:avLst/>
          </a:prstGeom>
          <a:solidFill>
            <a:srgbClr val="DCEAF7"/>
          </a:solidFill>
          <a:ln w="0">
            <a:solidFill>
              <a:srgbClr val="DCEAF7"/>
            </a:solidFill>
            <a:prstDash val="solid"/>
          </a:ln>
        </p:spPr>
        <p:txBody>
          <a:bodyPr/>
          <a:lstStyle/>
          <a:p>
            <a:endParaRPr lang="es-MX"/>
          </a:p>
        </p:txBody>
      </p:sp>
      <p:sp>
        <p:nvSpPr>
          <p:cNvPr id="13" name="Flecha: a la derecha 12">
            <a:extLst>
              <a:ext uri="{FF2B5EF4-FFF2-40B4-BE49-F238E27FC236}">
                <a16:creationId xmlns:a16="http://schemas.microsoft.com/office/drawing/2014/main" id="{8984E9E7-16AF-452D-B647-A9069F728FD0}"/>
              </a:ext>
            </a:extLst>
          </p:cNvPr>
          <p:cNvSpPr>
            <a:spLocks noGrp="1"/>
          </p:cNvSpPr>
          <p:nvPr/>
        </p:nvSpPr>
        <p:spPr>
          <a:xfrm>
            <a:off x="2724150" y="3914775"/>
            <a:ext cx="1238250" cy="228600"/>
          </a:xfrm>
          <a:prstGeom prst="rightArrow">
            <a:avLst/>
          </a:prstGeom>
          <a:solidFill>
            <a:srgbClr val="DCEAF7"/>
          </a:solidFill>
          <a:ln w="0">
            <a:solidFill>
              <a:srgbClr val="DCEAF7"/>
            </a:solidFill>
            <a:prstDash val="solid"/>
          </a:ln>
        </p:spPr>
        <p:txBody>
          <a:bodyPr/>
          <a:lstStyle/>
          <a:p>
            <a:endParaRPr lang="es-MX"/>
          </a:p>
        </p:txBody>
      </p:sp>
      <p:sp>
        <p:nvSpPr>
          <p:cNvPr id="14" name="Rectángulo 13">
            <a:extLst>
              <a:ext uri="{FF2B5EF4-FFF2-40B4-BE49-F238E27FC236}">
                <a16:creationId xmlns:a16="http://schemas.microsoft.com/office/drawing/2014/main" id="{3AC61471-CF13-4C55-A02B-5EF4DF4196BA}"/>
              </a:ext>
            </a:extLst>
          </p:cNvPr>
          <p:cNvSpPr>
            <a:spLocks noGrp="1"/>
          </p:cNvSpPr>
          <p:nvPr/>
        </p:nvSpPr>
        <p:spPr>
          <a:xfrm>
            <a:off x="4095750" y="2171700"/>
            <a:ext cx="2762250" cy="2095500"/>
          </a:xfrm>
          <a:prstGeom prst="rect">
            <a:avLst/>
          </a:prstGeom>
          <a:solidFill>
            <a:srgbClr val="2D6FB7"/>
          </a:solidFill>
          <a:ln w="19050">
            <a:solidFill>
              <a:srgbClr val="123A61"/>
            </a:solidFill>
            <a:prstDash val="solid"/>
          </a:ln>
        </p:spPr>
        <p:txBody>
          <a:bodyPr lIns="76200" tIns="38100" rIns="76200" bIns="38100" anchor="ctr">
            <a:normAutofit/>
          </a:bodyPr>
          <a:lstStyle/>
          <a:p>
            <a:pPr algn="ctr">
              <a:defRPr sz="2250" b="1">
                <a:solidFill>
                  <a:srgbClr val="F8FAFC"/>
                </a:solidFill>
                <a:latin typeface="Arial Black"/>
                <a:ea typeface="Arial Black"/>
                <a:cs typeface="Arial Black"/>
              </a:defRPr>
            </a:pPr>
            <a:r>
              <a:rPr sz="2250" b="1">
                <a:solidFill>
                  <a:srgbClr val="F8FAFC"/>
                </a:solidFill>
                <a:latin typeface="Arial Black"/>
                <a:ea typeface="Arial Black"/>
                <a:cs typeface="Arial Black"/>
              </a:rPr>
              <a:t>SISTEMA</a:t>
            </a:r>
          </a:p>
          <a:p>
            <a:pPr algn="ctr">
              <a:defRPr sz="2250" b="1">
                <a:solidFill>
                  <a:srgbClr val="F8FAFC"/>
                </a:solidFill>
                <a:latin typeface="Arial Black"/>
                <a:ea typeface="Arial Black"/>
                <a:cs typeface="Arial Black"/>
              </a:defRPr>
            </a:pPr>
            <a:r>
              <a:rPr sz="2250" b="1">
                <a:solidFill>
                  <a:srgbClr val="F8FAFC"/>
                </a:solidFill>
                <a:latin typeface="Arial Black"/>
                <a:ea typeface="Arial Black"/>
                <a:cs typeface="Arial Black"/>
              </a:rPr>
              <a:t>OPERATIVO</a:t>
            </a:r>
          </a:p>
        </p:txBody>
      </p:sp>
      <p:sp>
        <p:nvSpPr>
          <p:cNvPr id="15" name="Rectángulo 14">
            <a:extLst>
              <a:ext uri="{FF2B5EF4-FFF2-40B4-BE49-F238E27FC236}">
                <a16:creationId xmlns:a16="http://schemas.microsoft.com/office/drawing/2014/main" id="{A481EA12-1D27-4601-A9D1-53C0417CC67E}"/>
              </a:ext>
            </a:extLst>
          </p:cNvPr>
          <p:cNvSpPr>
            <a:spLocks noGrp="1"/>
          </p:cNvSpPr>
          <p:nvPr/>
        </p:nvSpPr>
        <p:spPr>
          <a:xfrm>
            <a:off x="4095750" y="4476750"/>
            <a:ext cx="2762250" cy="3048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Bahnschrift"/>
                <a:ea typeface="Bahnschrift"/>
                <a:cs typeface="Bahnschrift"/>
              </a:defRPr>
            </a:pPr>
            <a:r>
              <a:rPr sz="1275" b="0">
                <a:solidFill>
                  <a:srgbClr val="667483"/>
                </a:solidFill>
                <a:latin typeface="Bahnschrift"/>
                <a:ea typeface="Bahnschrift"/>
                <a:cs typeface="Bahnschrift"/>
              </a:rPr>
              <a:t>decide quién · cuánto · cuándo</a:t>
            </a:r>
          </a:p>
        </p:txBody>
      </p:sp>
      <p:sp>
        <p:nvSpPr>
          <p:cNvPr id="16" name="Flecha: a la derecha 15">
            <a:extLst>
              <a:ext uri="{FF2B5EF4-FFF2-40B4-BE49-F238E27FC236}">
                <a16:creationId xmlns:a16="http://schemas.microsoft.com/office/drawing/2014/main" id="{CB0683CE-5CC4-4F3C-8646-FB0E634FAD47}"/>
              </a:ext>
            </a:extLst>
          </p:cNvPr>
          <p:cNvSpPr>
            <a:spLocks noGrp="1"/>
          </p:cNvSpPr>
          <p:nvPr/>
        </p:nvSpPr>
        <p:spPr>
          <a:xfrm>
            <a:off x="7029450" y="2352675"/>
            <a:ext cx="1143000" cy="228600"/>
          </a:xfrm>
          <a:prstGeom prst="rightArrow">
            <a:avLst/>
          </a:prstGeom>
          <a:solidFill>
            <a:srgbClr val="DCEAF7"/>
          </a:solidFill>
          <a:ln w="0">
            <a:solidFill>
              <a:srgbClr val="DCEAF7"/>
            </a:solidFill>
            <a:prstDash val="solid"/>
          </a:ln>
        </p:spPr>
        <p:txBody>
          <a:bodyPr/>
          <a:lstStyle/>
          <a:p>
            <a:endParaRPr lang="es-MX"/>
          </a:p>
        </p:txBody>
      </p:sp>
      <p:sp>
        <p:nvSpPr>
          <p:cNvPr id="17" name="Flecha: a la derecha 16">
            <a:extLst>
              <a:ext uri="{FF2B5EF4-FFF2-40B4-BE49-F238E27FC236}">
                <a16:creationId xmlns:a16="http://schemas.microsoft.com/office/drawing/2014/main" id="{A13757DF-12C5-4C81-B90D-648FAA8752E2}"/>
              </a:ext>
            </a:extLst>
          </p:cNvPr>
          <p:cNvSpPr>
            <a:spLocks noGrp="1"/>
          </p:cNvSpPr>
          <p:nvPr/>
        </p:nvSpPr>
        <p:spPr>
          <a:xfrm>
            <a:off x="7029450" y="3133725"/>
            <a:ext cx="1143000" cy="228600"/>
          </a:xfrm>
          <a:prstGeom prst="rightArrow">
            <a:avLst/>
          </a:prstGeom>
          <a:solidFill>
            <a:srgbClr val="DCEAF7"/>
          </a:solidFill>
          <a:ln w="0">
            <a:solidFill>
              <a:srgbClr val="DCEAF7"/>
            </a:solidFill>
            <a:prstDash val="solid"/>
          </a:ln>
        </p:spPr>
        <p:txBody>
          <a:bodyPr/>
          <a:lstStyle/>
          <a:p>
            <a:endParaRPr lang="es-MX"/>
          </a:p>
        </p:txBody>
      </p:sp>
      <p:sp>
        <p:nvSpPr>
          <p:cNvPr id="18" name="Flecha: a la derecha 17">
            <a:extLst>
              <a:ext uri="{FF2B5EF4-FFF2-40B4-BE49-F238E27FC236}">
                <a16:creationId xmlns:a16="http://schemas.microsoft.com/office/drawing/2014/main" id="{474E35D4-2774-4539-BB57-388170DF730A}"/>
              </a:ext>
            </a:extLst>
          </p:cNvPr>
          <p:cNvSpPr>
            <a:spLocks noGrp="1"/>
          </p:cNvSpPr>
          <p:nvPr/>
        </p:nvSpPr>
        <p:spPr>
          <a:xfrm>
            <a:off x="7029450" y="3914775"/>
            <a:ext cx="1143000" cy="228600"/>
          </a:xfrm>
          <a:prstGeom prst="rightArrow">
            <a:avLst/>
          </a:prstGeom>
          <a:solidFill>
            <a:srgbClr val="DCEAF7"/>
          </a:solidFill>
          <a:ln w="0">
            <a:solidFill>
              <a:srgbClr val="DCEAF7"/>
            </a:solidFill>
            <a:prstDash val="solid"/>
          </a:ln>
        </p:spPr>
        <p:txBody>
          <a:bodyPr/>
          <a:lstStyle/>
          <a:p>
            <a:endParaRPr lang="es-MX"/>
          </a:p>
        </p:txBody>
      </p:sp>
      <p:sp>
        <p:nvSpPr>
          <p:cNvPr id="19" name="Rectángulo 18">
            <a:extLst>
              <a:ext uri="{FF2B5EF4-FFF2-40B4-BE49-F238E27FC236}">
                <a16:creationId xmlns:a16="http://schemas.microsoft.com/office/drawing/2014/main" id="{933C851B-181D-442D-8389-CE2A0A9EBE6E}"/>
              </a:ext>
            </a:extLst>
          </p:cNvPr>
          <p:cNvSpPr>
            <a:spLocks noGrp="1"/>
          </p:cNvSpPr>
          <p:nvPr/>
        </p:nvSpPr>
        <p:spPr>
          <a:xfrm>
            <a:off x="8477250" y="2019300"/>
            <a:ext cx="1428750" cy="571500"/>
          </a:xfrm>
          <a:prstGeom prst="rect">
            <a:avLst/>
          </a:prstGeom>
          <a:solidFill>
            <a:srgbClr val="101820"/>
          </a:solidFill>
          <a:ln w="0">
            <a:solidFill>
              <a:srgbClr val="101820"/>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CPU</a:t>
            </a:r>
          </a:p>
        </p:txBody>
      </p:sp>
      <p:sp>
        <p:nvSpPr>
          <p:cNvPr id="20" name="Rectángulo 19">
            <a:extLst>
              <a:ext uri="{FF2B5EF4-FFF2-40B4-BE49-F238E27FC236}">
                <a16:creationId xmlns:a16="http://schemas.microsoft.com/office/drawing/2014/main" id="{D3E71ECB-DB77-419D-986D-784576C195BC}"/>
              </a:ext>
            </a:extLst>
          </p:cNvPr>
          <p:cNvSpPr>
            <a:spLocks noGrp="1"/>
          </p:cNvSpPr>
          <p:nvPr/>
        </p:nvSpPr>
        <p:spPr>
          <a:xfrm>
            <a:off x="9620250" y="2857500"/>
            <a:ext cx="1428750" cy="571500"/>
          </a:xfrm>
          <a:prstGeom prst="rect">
            <a:avLst/>
          </a:prstGeom>
          <a:solidFill>
            <a:srgbClr val="123A61"/>
          </a:solidFill>
          <a:ln w="0">
            <a:solidFill>
              <a:srgbClr val="123A61"/>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MEMORIA</a:t>
            </a:r>
          </a:p>
        </p:txBody>
      </p:sp>
      <p:sp>
        <p:nvSpPr>
          <p:cNvPr id="21" name="Rectángulo 20">
            <a:extLst>
              <a:ext uri="{FF2B5EF4-FFF2-40B4-BE49-F238E27FC236}">
                <a16:creationId xmlns:a16="http://schemas.microsoft.com/office/drawing/2014/main" id="{C7FF7FF3-EC1D-43DF-9AD4-6CA4D1AFF430}"/>
              </a:ext>
            </a:extLst>
          </p:cNvPr>
          <p:cNvSpPr>
            <a:spLocks noGrp="1"/>
          </p:cNvSpPr>
          <p:nvPr/>
        </p:nvSpPr>
        <p:spPr>
          <a:xfrm>
            <a:off x="8477250" y="3733800"/>
            <a:ext cx="1428750" cy="571500"/>
          </a:xfrm>
          <a:prstGeom prst="rect">
            <a:avLst/>
          </a:prstGeom>
          <a:solidFill>
            <a:srgbClr val="101820"/>
          </a:solidFill>
          <a:ln w="0">
            <a:solidFill>
              <a:srgbClr val="101820"/>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E/S</a:t>
            </a:r>
          </a:p>
        </p:txBody>
      </p:sp>
      <p:sp>
        <p:nvSpPr>
          <p:cNvPr id="22" name="Rectángulo 21">
            <a:extLst>
              <a:ext uri="{FF2B5EF4-FFF2-40B4-BE49-F238E27FC236}">
                <a16:creationId xmlns:a16="http://schemas.microsoft.com/office/drawing/2014/main" id="{3837AB85-5A7E-4284-9E69-FCD6BF02A76E}"/>
              </a:ext>
            </a:extLst>
          </p:cNvPr>
          <p:cNvSpPr>
            <a:spLocks noGrp="1"/>
          </p:cNvSpPr>
          <p:nvPr/>
        </p:nvSpPr>
        <p:spPr>
          <a:xfrm>
            <a:off x="9620250" y="4572000"/>
            <a:ext cx="1428750" cy="571500"/>
          </a:xfrm>
          <a:prstGeom prst="rect">
            <a:avLst/>
          </a:prstGeom>
          <a:solidFill>
            <a:srgbClr val="123A61"/>
          </a:solidFill>
          <a:ln w="0">
            <a:solidFill>
              <a:srgbClr val="123A61"/>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DISCO</a:t>
            </a:r>
          </a:p>
        </p:txBody>
      </p:sp>
      <p:sp>
        <p:nvSpPr>
          <p:cNvPr id="23" name="Rectángulo 22">
            <a:extLst>
              <a:ext uri="{FF2B5EF4-FFF2-40B4-BE49-F238E27FC236}">
                <a16:creationId xmlns:a16="http://schemas.microsoft.com/office/drawing/2014/main" id="{7DE7C2C8-CEA6-4C3D-9B44-6844E35FCE32}"/>
              </a:ext>
            </a:extLst>
          </p:cNvPr>
          <p:cNvSpPr>
            <a:spLocks noGrp="1"/>
          </p:cNvSpPr>
          <p:nvPr/>
        </p:nvSpPr>
        <p:spPr>
          <a:xfrm>
            <a:off x="781050" y="5562600"/>
            <a:ext cx="8572500" cy="438150"/>
          </a:xfrm>
          <a:prstGeom prst="rect">
            <a:avLst/>
          </a:prstGeom>
          <a:noFill/>
          <a:ln w="0">
            <a:noFill/>
            <a:prstDash val="solid"/>
          </a:ln>
        </p:spPr>
        <p:txBody>
          <a:bodyPr lIns="0" tIns="0" rIns="0" bIns="0" anchor="t">
            <a:normAutofit/>
          </a:bodyPr>
          <a:lstStyle/>
          <a:p>
            <a:pPr algn="l">
              <a:lnSpc>
                <a:spcPct val="100000"/>
              </a:lnSpc>
              <a:buNone/>
              <a:defRPr sz="1800" b="0">
                <a:solidFill>
                  <a:srgbClr val="667483"/>
                </a:solidFill>
                <a:latin typeface="Bahnschrift"/>
                <a:ea typeface="Bahnschrift"/>
                <a:cs typeface="Bahnschrift"/>
              </a:defRPr>
            </a:pPr>
            <a:r>
              <a:rPr sz="1800" b="0">
                <a:solidFill>
                  <a:srgbClr val="667483"/>
                </a:solidFill>
                <a:latin typeface="Bahnschrift"/>
                <a:ea typeface="Bahnschrift"/>
                <a:cs typeface="Bahnschrift"/>
              </a:rPr>
              <a:t>La decisión busca eficiencia, reparto razonable y ejecución estable.</a:t>
            </a:r>
          </a:p>
        </p:txBody>
      </p:sp>
    </p:spTree>
    <p:extLst>
      <p:ext uri="{BB962C8B-B14F-4D97-AF65-F5344CB8AC3E}">
        <p14:creationId xmlns:p14="http://schemas.microsoft.com/office/powerpoint/2010/main" val="1888482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8" name="Rectángulo 27">
            <a:extLst>
              <a:ext uri="{FF2B5EF4-FFF2-40B4-BE49-F238E27FC236}">
                <a16:creationId xmlns:a16="http://schemas.microsoft.com/office/drawing/2014/main" id="{583F16F8-E608-49E0-B33A-1A07FC6A1EC3}"/>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4 · MANEJO DE RECURSOS</a:t>
            </a:r>
          </a:p>
        </p:txBody>
      </p:sp>
      <p:sp>
        <p:nvSpPr>
          <p:cNvPr id="2" name="Rectángulo 1">
            <a:extLst>
              <a:ext uri="{FF2B5EF4-FFF2-40B4-BE49-F238E27FC236}">
                <a16:creationId xmlns:a16="http://schemas.microsoft.com/office/drawing/2014/main" id="{759BAB74-E9EB-4AC4-BA54-3A9CD4B2C8AF}"/>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La estrategia cambia entre sistemas</a:t>
            </a:r>
          </a:p>
        </p:txBody>
      </p:sp>
      <p:sp>
        <p:nvSpPr>
          <p:cNvPr id="3" name="Conector recto 2">
            <a:extLst>
              <a:ext uri="{FF2B5EF4-FFF2-40B4-BE49-F238E27FC236}">
                <a16:creationId xmlns:a16="http://schemas.microsoft.com/office/drawing/2014/main" id="{6E0F5C57-49B1-44FC-AC96-AF43ABAFE048}"/>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CD3C0D97-76AB-4F76-91AD-57E10685CE2C}"/>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134699B9-DEDE-4CE6-B758-EA6930584080}"/>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4 · MANEJO DE RECURSOS</a:t>
            </a:r>
          </a:p>
        </p:txBody>
      </p:sp>
      <p:sp>
        <p:nvSpPr>
          <p:cNvPr id="6" name="Rectángulo 5">
            <a:extLst>
              <a:ext uri="{FF2B5EF4-FFF2-40B4-BE49-F238E27FC236}">
                <a16:creationId xmlns:a16="http://schemas.microsoft.com/office/drawing/2014/main" id="{769BCDDC-DACD-4D7C-8E19-43AC352DABAC}"/>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07</a:t>
            </a:r>
          </a:p>
        </p:txBody>
      </p:sp>
      <p:sp>
        <p:nvSpPr>
          <p:cNvPr id="7" name="Rectángulo 6">
            <a:extLst>
              <a:ext uri="{FF2B5EF4-FFF2-40B4-BE49-F238E27FC236}">
                <a16:creationId xmlns:a16="http://schemas.microsoft.com/office/drawing/2014/main" id="{D0E1A830-6687-4EFE-A9A3-6C3468ACDE6A}"/>
              </a:ext>
            </a:extLst>
          </p:cNvPr>
          <p:cNvSpPr>
            <a:spLocks noGrp="1"/>
          </p:cNvSpPr>
          <p:nvPr/>
        </p:nvSpPr>
        <p:spPr>
          <a:xfrm>
            <a:off x="723900" y="1390650"/>
            <a:ext cx="7620000" cy="361950"/>
          </a:xfrm>
          <a:prstGeom prst="rect">
            <a:avLst/>
          </a:prstGeom>
          <a:noFill/>
          <a:ln w="0">
            <a:noFill/>
            <a:prstDash val="solid"/>
          </a:ln>
        </p:spPr>
        <p:txBody>
          <a:bodyPr lIns="0" tIns="0" rIns="0" bIns="0" anchor="t">
            <a:normAutofit/>
          </a:bodyPr>
          <a:lstStyle/>
          <a:p>
            <a:pPr algn="l">
              <a:lnSpc>
                <a:spcPct val="100000"/>
              </a:lnSpc>
              <a:buNone/>
              <a:defRPr sz="1875" b="0">
                <a:solidFill>
                  <a:srgbClr val="AEB9C5"/>
                </a:solidFill>
                <a:latin typeface="Bahnschrift"/>
                <a:ea typeface="Bahnschrift"/>
                <a:cs typeface="Bahnschrift"/>
              </a:defRPr>
            </a:pPr>
            <a:r>
              <a:rPr sz="1875" b="0">
                <a:solidFill>
                  <a:srgbClr val="AEB9C5"/>
                </a:solidFill>
                <a:latin typeface="Bahnschrift"/>
                <a:ea typeface="Bahnschrift"/>
                <a:cs typeface="Bahnschrift"/>
              </a:rPr>
              <a:t>Mismas responsabilidades; organización interna distinta.</a:t>
            </a:r>
          </a:p>
        </p:txBody>
      </p:sp>
      <p:sp>
        <p:nvSpPr>
          <p:cNvPr id="8" name="Rectángulo 7">
            <a:extLst>
              <a:ext uri="{FF2B5EF4-FFF2-40B4-BE49-F238E27FC236}">
                <a16:creationId xmlns:a16="http://schemas.microsoft.com/office/drawing/2014/main" id="{080B8175-699F-4B8A-B2D6-A5965917722C}"/>
              </a:ext>
            </a:extLst>
          </p:cNvPr>
          <p:cNvSpPr>
            <a:spLocks noGrp="1"/>
          </p:cNvSpPr>
          <p:nvPr/>
        </p:nvSpPr>
        <p:spPr>
          <a:xfrm>
            <a:off x="723900" y="2286000"/>
            <a:ext cx="2381250" cy="304800"/>
          </a:xfrm>
          <a:prstGeom prst="rect">
            <a:avLst/>
          </a:prstGeom>
          <a:noFill/>
          <a:ln w="0">
            <a:noFill/>
            <a:prstDash val="solid"/>
          </a:ln>
        </p:spPr>
        <p:txBody>
          <a:bodyPr lIns="0" tIns="0" rIns="0" bIns="0" anchor="t">
            <a:normAutofit/>
          </a:bodyPr>
          <a:lstStyle/>
          <a:p>
            <a:pPr algn="l">
              <a:lnSpc>
                <a:spcPct val="100000"/>
              </a:lnSpc>
              <a:buNone/>
              <a:defRPr sz="1650" b="1">
                <a:solidFill>
                  <a:srgbClr val="F8FAFC"/>
                </a:solidFill>
                <a:latin typeface="Arial Black"/>
                <a:ea typeface="Arial Black"/>
                <a:cs typeface="Arial Black"/>
              </a:defRPr>
            </a:pPr>
            <a:r>
              <a:rPr sz="1650" b="1">
                <a:solidFill>
                  <a:srgbClr val="F8FAFC"/>
                </a:solidFill>
                <a:latin typeface="Arial Black"/>
                <a:ea typeface="Arial Black"/>
                <a:cs typeface="Arial Black"/>
              </a:rPr>
              <a:t>LINUX</a:t>
            </a:r>
          </a:p>
        </p:txBody>
      </p:sp>
      <p:sp>
        <p:nvSpPr>
          <p:cNvPr id="9" name="Rectángulo 8">
            <a:extLst>
              <a:ext uri="{FF2B5EF4-FFF2-40B4-BE49-F238E27FC236}">
                <a16:creationId xmlns:a16="http://schemas.microsoft.com/office/drawing/2014/main" id="{1F12248B-D67F-46C8-88B3-82B595756D1D}"/>
              </a:ext>
            </a:extLst>
          </p:cNvPr>
          <p:cNvSpPr>
            <a:spLocks noGrp="1"/>
          </p:cNvSpPr>
          <p:nvPr/>
        </p:nvSpPr>
        <p:spPr>
          <a:xfrm>
            <a:off x="723900" y="2809875"/>
            <a:ext cx="2190750" cy="114300"/>
          </a:xfrm>
          <a:prstGeom prst="rect">
            <a:avLst/>
          </a:prstGeom>
          <a:solidFill>
            <a:srgbClr val="5A9BDC"/>
          </a:solidFill>
          <a:ln w="0">
            <a:solidFill>
              <a:srgbClr val="5A9BDC"/>
            </a:solidFill>
            <a:prstDash val="solid"/>
          </a:ln>
        </p:spPr>
        <p:txBody>
          <a:bodyPr/>
          <a:lstStyle/>
          <a:p>
            <a:endParaRPr lang="es-MX"/>
          </a:p>
        </p:txBody>
      </p:sp>
      <p:sp>
        <p:nvSpPr>
          <p:cNvPr id="10" name="Rectángulo 9">
            <a:extLst>
              <a:ext uri="{FF2B5EF4-FFF2-40B4-BE49-F238E27FC236}">
                <a16:creationId xmlns:a16="http://schemas.microsoft.com/office/drawing/2014/main" id="{670F0106-E280-4EE4-B525-F05E8270958D}"/>
              </a:ext>
            </a:extLst>
          </p:cNvPr>
          <p:cNvSpPr>
            <a:spLocks noGrp="1"/>
          </p:cNvSpPr>
          <p:nvPr/>
        </p:nvSpPr>
        <p:spPr>
          <a:xfrm>
            <a:off x="723900" y="3143250"/>
            <a:ext cx="2266950" cy="838200"/>
          </a:xfrm>
          <a:prstGeom prst="rect">
            <a:avLst/>
          </a:prstGeom>
          <a:noFill/>
          <a:ln w="0">
            <a:noFill/>
            <a:prstDash val="solid"/>
          </a:ln>
        </p:spPr>
        <p:txBody>
          <a:bodyPr lIns="0" tIns="0" rIns="0" bIns="0" anchor="t">
            <a:normAutofit/>
          </a:bodyPr>
          <a:lstStyle/>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Núcleo monolítico</a:t>
            </a:r>
          </a:p>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 módulos cargables</a:t>
            </a:r>
          </a:p>
        </p:txBody>
      </p:sp>
      <p:sp>
        <p:nvSpPr>
          <p:cNvPr id="11" name="Rectángulo 10">
            <a:extLst>
              <a:ext uri="{FF2B5EF4-FFF2-40B4-BE49-F238E27FC236}">
                <a16:creationId xmlns:a16="http://schemas.microsoft.com/office/drawing/2014/main" id="{7560D862-7B27-486B-BC33-E3A882BFDB31}"/>
              </a:ext>
            </a:extLst>
          </p:cNvPr>
          <p:cNvSpPr>
            <a:spLocks noGrp="1"/>
          </p:cNvSpPr>
          <p:nvPr/>
        </p:nvSpPr>
        <p:spPr>
          <a:xfrm>
            <a:off x="723900" y="4400550"/>
            <a:ext cx="22669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AEB9C5"/>
                </a:solidFill>
                <a:latin typeface="Arial"/>
                <a:ea typeface="Arial"/>
                <a:cs typeface="Arial"/>
              </a:defRPr>
            </a:pPr>
            <a:r>
              <a:rPr sz="1350" b="0">
                <a:solidFill>
                  <a:srgbClr val="AEB9C5"/>
                </a:solidFill>
                <a:latin typeface="Arial"/>
                <a:ea typeface="Arial"/>
                <a:cs typeface="Arial"/>
              </a:rPr>
              <a:t>flexibilidad</a:t>
            </a:r>
          </a:p>
        </p:txBody>
      </p:sp>
      <p:sp>
        <p:nvSpPr>
          <p:cNvPr id="12" name="Conector recto 11">
            <a:extLst>
              <a:ext uri="{FF2B5EF4-FFF2-40B4-BE49-F238E27FC236}">
                <a16:creationId xmlns:a16="http://schemas.microsoft.com/office/drawing/2014/main" id="{93FB07C0-BC7C-4B43-82F9-BAA9E7E0DC16}"/>
              </a:ext>
            </a:extLst>
          </p:cNvPr>
          <p:cNvSpPr>
            <a:spLocks noGrp="1"/>
          </p:cNvSpPr>
          <p:nvPr/>
        </p:nvSpPr>
        <p:spPr>
          <a:xfrm>
            <a:off x="3181350" y="2143125"/>
            <a:ext cx="0" cy="2952750"/>
          </a:xfrm>
          <a:prstGeom prst="line">
            <a:avLst/>
          </a:prstGeom>
          <a:noFill/>
          <a:ln w="9525">
            <a:solidFill>
              <a:srgbClr val="263A4D"/>
            </a:solidFill>
            <a:prstDash val="solid"/>
          </a:ln>
        </p:spPr>
        <p:txBody>
          <a:bodyPr/>
          <a:lstStyle/>
          <a:p>
            <a:endParaRPr lang="es-MX"/>
          </a:p>
        </p:txBody>
      </p:sp>
      <p:sp>
        <p:nvSpPr>
          <p:cNvPr id="13" name="Rectángulo 12">
            <a:extLst>
              <a:ext uri="{FF2B5EF4-FFF2-40B4-BE49-F238E27FC236}">
                <a16:creationId xmlns:a16="http://schemas.microsoft.com/office/drawing/2014/main" id="{2ED59CC0-D2AB-4B11-A0C8-CF752E2C75A1}"/>
              </a:ext>
            </a:extLst>
          </p:cNvPr>
          <p:cNvSpPr>
            <a:spLocks noGrp="1"/>
          </p:cNvSpPr>
          <p:nvPr/>
        </p:nvSpPr>
        <p:spPr>
          <a:xfrm>
            <a:off x="3457575" y="2286000"/>
            <a:ext cx="2381250" cy="304800"/>
          </a:xfrm>
          <a:prstGeom prst="rect">
            <a:avLst/>
          </a:prstGeom>
          <a:noFill/>
          <a:ln w="0">
            <a:noFill/>
            <a:prstDash val="solid"/>
          </a:ln>
        </p:spPr>
        <p:txBody>
          <a:bodyPr lIns="0" tIns="0" rIns="0" bIns="0" anchor="t">
            <a:normAutofit/>
          </a:bodyPr>
          <a:lstStyle/>
          <a:p>
            <a:pPr algn="l">
              <a:lnSpc>
                <a:spcPct val="100000"/>
              </a:lnSpc>
              <a:buNone/>
              <a:defRPr sz="1650" b="1">
                <a:solidFill>
                  <a:srgbClr val="F8FAFC"/>
                </a:solidFill>
                <a:latin typeface="Arial Black"/>
                <a:ea typeface="Arial Black"/>
                <a:cs typeface="Arial Black"/>
              </a:defRPr>
            </a:pPr>
            <a:r>
              <a:rPr sz="1650" b="1">
                <a:solidFill>
                  <a:srgbClr val="F8FAFC"/>
                </a:solidFill>
                <a:latin typeface="Arial Black"/>
                <a:ea typeface="Arial Black"/>
                <a:cs typeface="Arial Black"/>
              </a:rPr>
              <a:t>WINDOWS 10</a:t>
            </a:r>
          </a:p>
        </p:txBody>
      </p:sp>
      <p:sp>
        <p:nvSpPr>
          <p:cNvPr id="14" name="Rectángulo 13">
            <a:extLst>
              <a:ext uri="{FF2B5EF4-FFF2-40B4-BE49-F238E27FC236}">
                <a16:creationId xmlns:a16="http://schemas.microsoft.com/office/drawing/2014/main" id="{76D58E55-0A54-432E-865C-3142D87A4367}"/>
              </a:ext>
            </a:extLst>
          </p:cNvPr>
          <p:cNvSpPr>
            <a:spLocks noGrp="1"/>
          </p:cNvSpPr>
          <p:nvPr/>
        </p:nvSpPr>
        <p:spPr>
          <a:xfrm>
            <a:off x="3457575" y="2809875"/>
            <a:ext cx="2190750" cy="114300"/>
          </a:xfrm>
          <a:prstGeom prst="rect">
            <a:avLst/>
          </a:prstGeom>
          <a:solidFill>
            <a:srgbClr val="2D6FB7"/>
          </a:solidFill>
          <a:ln w="0">
            <a:solidFill>
              <a:srgbClr val="2D6FB7"/>
            </a:solidFill>
            <a:prstDash val="solid"/>
          </a:ln>
        </p:spPr>
        <p:txBody>
          <a:bodyPr/>
          <a:lstStyle/>
          <a:p>
            <a:endParaRPr lang="es-MX"/>
          </a:p>
        </p:txBody>
      </p:sp>
      <p:sp>
        <p:nvSpPr>
          <p:cNvPr id="15" name="Rectángulo 14">
            <a:extLst>
              <a:ext uri="{FF2B5EF4-FFF2-40B4-BE49-F238E27FC236}">
                <a16:creationId xmlns:a16="http://schemas.microsoft.com/office/drawing/2014/main" id="{53F40D20-45F2-4992-B0AA-FB8CCCCFE528}"/>
              </a:ext>
            </a:extLst>
          </p:cNvPr>
          <p:cNvSpPr>
            <a:spLocks noGrp="1"/>
          </p:cNvSpPr>
          <p:nvPr/>
        </p:nvSpPr>
        <p:spPr>
          <a:xfrm>
            <a:off x="3457575" y="3143250"/>
            <a:ext cx="2266950" cy="838200"/>
          </a:xfrm>
          <a:prstGeom prst="rect">
            <a:avLst/>
          </a:prstGeom>
          <a:noFill/>
          <a:ln w="0">
            <a:noFill/>
            <a:prstDash val="solid"/>
          </a:ln>
        </p:spPr>
        <p:txBody>
          <a:bodyPr lIns="0" tIns="0" rIns="0" bIns="0" anchor="t">
            <a:normAutofit/>
          </a:bodyPr>
          <a:lstStyle/>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Arquitectura híbrida</a:t>
            </a:r>
          </a:p>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 módulos</a:t>
            </a:r>
          </a:p>
        </p:txBody>
      </p:sp>
      <p:sp>
        <p:nvSpPr>
          <p:cNvPr id="16" name="Rectángulo 15">
            <a:extLst>
              <a:ext uri="{FF2B5EF4-FFF2-40B4-BE49-F238E27FC236}">
                <a16:creationId xmlns:a16="http://schemas.microsoft.com/office/drawing/2014/main" id="{B391E064-9170-4665-B263-55995CF2822D}"/>
              </a:ext>
            </a:extLst>
          </p:cNvPr>
          <p:cNvSpPr>
            <a:spLocks noGrp="1"/>
          </p:cNvSpPr>
          <p:nvPr/>
        </p:nvSpPr>
        <p:spPr>
          <a:xfrm>
            <a:off x="3457575" y="4400550"/>
            <a:ext cx="22669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AEB9C5"/>
                </a:solidFill>
                <a:latin typeface="Arial"/>
                <a:ea typeface="Arial"/>
                <a:cs typeface="Arial"/>
              </a:defRPr>
            </a:pPr>
            <a:r>
              <a:rPr sz="1350" b="0">
                <a:solidFill>
                  <a:srgbClr val="AEB9C5"/>
                </a:solidFill>
                <a:latin typeface="Arial"/>
                <a:ea typeface="Arial"/>
                <a:cs typeface="Arial"/>
              </a:rPr>
              <a:t>subsistemas</a:t>
            </a:r>
          </a:p>
        </p:txBody>
      </p:sp>
      <p:sp>
        <p:nvSpPr>
          <p:cNvPr id="17" name="Conector recto 16">
            <a:extLst>
              <a:ext uri="{FF2B5EF4-FFF2-40B4-BE49-F238E27FC236}">
                <a16:creationId xmlns:a16="http://schemas.microsoft.com/office/drawing/2014/main" id="{DAFB8BAB-D0AE-466F-BBF1-98CB0463595D}"/>
              </a:ext>
            </a:extLst>
          </p:cNvPr>
          <p:cNvSpPr>
            <a:spLocks noGrp="1"/>
          </p:cNvSpPr>
          <p:nvPr/>
        </p:nvSpPr>
        <p:spPr>
          <a:xfrm>
            <a:off x="5915025" y="2143125"/>
            <a:ext cx="0" cy="2952750"/>
          </a:xfrm>
          <a:prstGeom prst="line">
            <a:avLst/>
          </a:prstGeom>
          <a:noFill/>
          <a:ln w="9525">
            <a:solidFill>
              <a:srgbClr val="263A4D"/>
            </a:solidFill>
            <a:prstDash val="solid"/>
          </a:ln>
        </p:spPr>
        <p:txBody>
          <a:bodyPr/>
          <a:lstStyle/>
          <a:p>
            <a:endParaRPr lang="es-MX"/>
          </a:p>
        </p:txBody>
      </p:sp>
      <p:sp>
        <p:nvSpPr>
          <p:cNvPr id="18" name="Rectángulo 17">
            <a:extLst>
              <a:ext uri="{FF2B5EF4-FFF2-40B4-BE49-F238E27FC236}">
                <a16:creationId xmlns:a16="http://schemas.microsoft.com/office/drawing/2014/main" id="{BAD8E0EC-734A-49FF-95D8-45AB02D4917E}"/>
              </a:ext>
            </a:extLst>
          </p:cNvPr>
          <p:cNvSpPr>
            <a:spLocks noGrp="1"/>
          </p:cNvSpPr>
          <p:nvPr/>
        </p:nvSpPr>
        <p:spPr>
          <a:xfrm>
            <a:off x="6191250" y="2286000"/>
            <a:ext cx="2381250" cy="304800"/>
          </a:xfrm>
          <a:prstGeom prst="rect">
            <a:avLst/>
          </a:prstGeom>
          <a:noFill/>
          <a:ln w="0">
            <a:noFill/>
            <a:prstDash val="solid"/>
          </a:ln>
        </p:spPr>
        <p:txBody>
          <a:bodyPr lIns="0" tIns="0" rIns="0" bIns="0" anchor="t">
            <a:normAutofit/>
          </a:bodyPr>
          <a:lstStyle/>
          <a:p>
            <a:pPr algn="l">
              <a:lnSpc>
                <a:spcPct val="100000"/>
              </a:lnSpc>
              <a:buNone/>
              <a:defRPr sz="1650" b="1">
                <a:solidFill>
                  <a:srgbClr val="F8FAFC"/>
                </a:solidFill>
                <a:latin typeface="Arial Black"/>
                <a:ea typeface="Arial Black"/>
                <a:cs typeface="Arial Black"/>
              </a:defRPr>
            </a:pPr>
            <a:r>
              <a:rPr sz="1650" b="1">
                <a:solidFill>
                  <a:srgbClr val="F8FAFC"/>
                </a:solidFill>
                <a:latin typeface="Arial Black"/>
                <a:ea typeface="Arial Black"/>
                <a:cs typeface="Arial Black"/>
              </a:rPr>
              <a:t>macOS / iOS</a:t>
            </a:r>
          </a:p>
        </p:txBody>
      </p:sp>
      <p:sp>
        <p:nvSpPr>
          <p:cNvPr id="19" name="Rectángulo 18">
            <a:extLst>
              <a:ext uri="{FF2B5EF4-FFF2-40B4-BE49-F238E27FC236}">
                <a16:creationId xmlns:a16="http://schemas.microsoft.com/office/drawing/2014/main" id="{52F70235-C77D-478A-8747-4C9B9877F628}"/>
              </a:ext>
            </a:extLst>
          </p:cNvPr>
          <p:cNvSpPr>
            <a:spLocks noGrp="1"/>
          </p:cNvSpPr>
          <p:nvPr/>
        </p:nvSpPr>
        <p:spPr>
          <a:xfrm>
            <a:off x="6191250" y="2809875"/>
            <a:ext cx="2190750" cy="114300"/>
          </a:xfrm>
          <a:prstGeom prst="rect">
            <a:avLst/>
          </a:prstGeom>
          <a:solidFill>
            <a:srgbClr val="25557D"/>
          </a:solidFill>
          <a:ln w="0">
            <a:solidFill>
              <a:srgbClr val="25557D"/>
            </a:solidFill>
            <a:prstDash val="solid"/>
          </a:ln>
        </p:spPr>
        <p:txBody>
          <a:bodyPr/>
          <a:lstStyle/>
          <a:p>
            <a:endParaRPr lang="es-MX"/>
          </a:p>
        </p:txBody>
      </p:sp>
      <p:sp>
        <p:nvSpPr>
          <p:cNvPr id="20" name="Rectángulo 19">
            <a:extLst>
              <a:ext uri="{FF2B5EF4-FFF2-40B4-BE49-F238E27FC236}">
                <a16:creationId xmlns:a16="http://schemas.microsoft.com/office/drawing/2014/main" id="{C4A8BA9F-E977-448E-A8D5-2A0CAB53F81A}"/>
              </a:ext>
            </a:extLst>
          </p:cNvPr>
          <p:cNvSpPr>
            <a:spLocks noGrp="1"/>
          </p:cNvSpPr>
          <p:nvPr/>
        </p:nvSpPr>
        <p:spPr>
          <a:xfrm>
            <a:off x="6191250" y="3143250"/>
            <a:ext cx="2266950" cy="838200"/>
          </a:xfrm>
          <a:prstGeom prst="rect">
            <a:avLst/>
          </a:prstGeom>
          <a:noFill/>
          <a:ln w="0">
            <a:noFill/>
            <a:prstDash val="solid"/>
          </a:ln>
        </p:spPr>
        <p:txBody>
          <a:bodyPr lIns="0" tIns="0" rIns="0" bIns="0" anchor="t">
            <a:normAutofit/>
          </a:bodyPr>
          <a:lstStyle/>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Darwin = Mach + BSD</a:t>
            </a:r>
          </a:p>
        </p:txBody>
      </p:sp>
      <p:sp>
        <p:nvSpPr>
          <p:cNvPr id="21" name="Rectángulo 20">
            <a:extLst>
              <a:ext uri="{FF2B5EF4-FFF2-40B4-BE49-F238E27FC236}">
                <a16:creationId xmlns:a16="http://schemas.microsoft.com/office/drawing/2014/main" id="{1BC1E4FA-D03A-4F86-9F1F-E84360F6403E}"/>
              </a:ext>
            </a:extLst>
          </p:cNvPr>
          <p:cNvSpPr>
            <a:spLocks noGrp="1"/>
          </p:cNvSpPr>
          <p:nvPr/>
        </p:nvSpPr>
        <p:spPr>
          <a:xfrm>
            <a:off x="6191250" y="4400550"/>
            <a:ext cx="22669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AEB9C5"/>
                </a:solidFill>
                <a:latin typeface="Arial"/>
                <a:ea typeface="Arial"/>
                <a:cs typeface="Arial"/>
              </a:defRPr>
            </a:pPr>
            <a:r>
              <a:rPr sz="1350" b="0">
                <a:solidFill>
                  <a:srgbClr val="AEB9C5"/>
                </a:solidFill>
                <a:latin typeface="Arial"/>
                <a:ea typeface="Arial"/>
                <a:cs typeface="Arial"/>
              </a:rPr>
              <a:t>capas híbridas</a:t>
            </a:r>
          </a:p>
        </p:txBody>
      </p:sp>
      <p:sp>
        <p:nvSpPr>
          <p:cNvPr id="22" name="Conector recto 21">
            <a:extLst>
              <a:ext uri="{FF2B5EF4-FFF2-40B4-BE49-F238E27FC236}">
                <a16:creationId xmlns:a16="http://schemas.microsoft.com/office/drawing/2014/main" id="{457FBA90-8841-4984-A332-C00F404A8581}"/>
              </a:ext>
            </a:extLst>
          </p:cNvPr>
          <p:cNvSpPr>
            <a:spLocks noGrp="1"/>
          </p:cNvSpPr>
          <p:nvPr/>
        </p:nvSpPr>
        <p:spPr>
          <a:xfrm>
            <a:off x="8648700" y="2143125"/>
            <a:ext cx="0" cy="2952750"/>
          </a:xfrm>
          <a:prstGeom prst="line">
            <a:avLst/>
          </a:prstGeom>
          <a:noFill/>
          <a:ln w="9525">
            <a:solidFill>
              <a:srgbClr val="263A4D"/>
            </a:solidFill>
            <a:prstDash val="solid"/>
          </a:ln>
        </p:spPr>
        <p:txBody>
          <a:bodyPr/>
          <a:lstStyle/>
          <a:p>
            <a:endParaRPr lang="es-MX"/>
          </a:p>
        </p:txBody>
      </p:sp>
      <p:sp>
        <p:nvSpPr>
          <p:cNvPr id="23" name="Rectángulo 22">
            <a:extLst>
              <a:ext uri="{FF2B5EF4-FFF2-40B4-BE49-F238E27FC236}">
                <a16:creationId xmlns:a16="http://schemas.microsoft.com/office/drawing/2014/main" id="{DF4F67A8-366A-4263-8235-65971455AE75}"/>
              </a:ext>
            </a:extLst>
          </p:cNvPr>
          <p:cNvSpPr>
            <a:spLocks noGrp="1"/>
          </p:cNvSpPr>
          <p:nvPr/>
        </p:nvSpPr>
        <p:spPr>
          <a:xfrm>
            <a:off x="8924925" y="2286000"/>
            <a:ext cx="2381250" cy="304800"/>
          </a:xfrm>
          <a:prstGeom prst="rect">
            <a:avLst/>
          </a:prstGeom>
          <a:noFill/>
          <a:ln w="0">
            <a:noFill/>
            <a:prstDash val="solid"/>
          </a:ln>
        </p:spPr>
        <p:txBody>
          <a:bodyPr lIns="0" tIns="0" rIns="0" bIns="0" anchor="t">
            <a:normAutofit/>
          </a:bodyPr>
          <a:lstStyle/>
          <a:p>
            <a:pPr algn="l">
              <a:lnSpc>
                <a:spcPct val="100000"/>
              </a:lnSpc>
              <a:buNone/>
              <a:defRPr sz="1650" b="1">
                <a:solidFill>
                  <a:srgbClr val="F8FAFC"/>
                </a:solidFill>
                <a:latin typeface="Arial Black"/>
                <a:ea typeface="Arial Black"/>
                <a:cs typeface="Arial Black"/>
              </a:defRPr>
            </a:pPr>
            <a:r>
              <a:rPr sz="1650" b="1">
                <a:solidFill>
                  <a:srgbClr val="F8FAFC"/>
                </a:solidFill>
                <a:latin typeface="Arial Black"/>
                <a:ea typeface="Arial Black"/>
                <a:cs typeface="Arial Black"/>
              </a:rPr>
              <a:t>ANDROID</a:t>
            </a:r>
          </a:p>
        </p:txBody>
      </p:sp>
      <p:sp>
        <p:nvSpPr>
          <p:cNvPr id="24" name="Rectángulo 23">
            <a:extLst>
              <a:ext uri="{FF2B5EF4-FFF2-40B4-BE49-F238E27FC236}">
                <a16:creationId xmlns:a16="http://schemas.microsoft.com/office/drawing/2014/main" id="{86D7C299-B4DE-4648-8BE7-36A79BB837D9}"/>
              </a:ext>
            </a:extLst>
          </p:cNvPr>
          <p:cNvSpPr>
            <a:spLocks noGrp="1"/>
          </p:cNvSpPr>
          <p:nvPr/>
        </p:nvSpPr>
        <p:spPr>
          <a:xfrm>
            <a:off x="8924925" y="2809875"/>
            <a:ext cx="2190750" cy="114300"/>
          </a:xfrm>
          <a:prstGeom prst="rect">
            <a:avLst/>
          </a:prstGeom>
          <a:solidFill>
            <a:srgbClr val="123A61"/>
          </a:solidFill>
          <a:ln w="0">
            <a:solidFill>
              <a:srgbClr val="123A61"/>
            </a:solidFill>
            <a:prstDash val="solid"/>
          </a:ln>
        </p:spPr>
        <p:txBody>
          <a:bodyPr/>
          <a:lstStyle/>
          <a:p>
            <a:endParaRPr lang="es-MX"/>
          </a:p>
        </p:txBody>
      </p:sp>
      <p:sp>
        <p:nvSpPr>
          <p:cNvPr id="25" name="Rectángulo 24">
            <a:extLst>
              <a:ext uri="{FF2B5EF4-FFF2-40B4-BE49-F238E27FC236}">
                <a16:creationId xmlns:a16="http://schemas.microsoft.com/office/drawing/2014/main" id="{06C79073-F525-4042-A5DB-2822D96873AB}"/>
              </a:ext>
            </a:extLst>
          </p:cNvPr>
          <p:cNvSpPr>
            <a:spLocks noGrp="1"/>
          </p:cNvSpPr>
          <p:nvPr/>
        </p:nvSpPr>
        <p:spPr>
          <a:xfrm>
            <a:off x="8924925" y="3143250"/>
            <a:ext cx="2266950" cy="838200"/>
          </a:xfrm>
          <a:prstGeom prst="rect">
            <a:avLst/>
          </a:prstGeom>
          <a:noFill/>
          <a:ln w="0">
            <a:noFill/>
            <a:prstDash val="solid"/>
          </a:ln>
        </p:spPr>
        <p:txBody>
          <a:bodyPr lIns="0" tIns="0" rIns="0" bIns="0" anchor="t">
            <a:normAutofit/>
          </a:bodyPr>
          <a:lstStyle/>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Linux + HAL</a:t>
            </a:r>
          </a:p>
          <a:p>
            <a:pPr algn="l">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 frameworks</a:t>
            </a:r>
          </a:p>
        </p:txBody>
      </p:sp>
      <p:sp>
        <p:nvSpPr>
          <p:cNvPr id="26" name="Rectángulo 25">
            <a:extLst>
              <a:ext uri="{FF2B5EF4-FFF2-40B4-BE49-F238E27FC236}">
                <a16:creationId xmlns:a16="http://schemas.microsoft.com/office/drawing/2014/main" id="{E31170A3-5179-4394-9FC4-58330D07FDE5}"/>
              </a:ext>
            </a:extLst>
          </p:cNvPr>
          <p:cNvSpPr>
            <a:spLocks noGrp="1"/>
          </p:cNvSpPr>
          <p:nvPr/>
        </p:nvSpPr>
        <p:spPr>
          <a:xfrm>
            <a:off x="8924925" y="4400550"/>
            <a:ext cx="2266950" cy="438150"/>
          </a:xfrm>
          <a:prstGeom prst="rect">
            <a:avLst/>
          </a:prstGeom>
          <a:noFill/>
          <a:ln w="0">
            <a:noFill/>
            <a:prstDash val="solid"/>
          </a:ln>
        </p:spPr>
        <p:txBody>
          <a:bodyPr lIns="0" tIns="0" rIns="0" bIns="0" anchor="t">
            <a:normAutofit/>
          </a:bodyPr>
          <a:lstStyle/>
          <a:p>
            <a:pPr algn="l">
              <a:lnSpc>
                <a:spcPct val="100000"/>
              </a:lnSpc>
              <a:buNone/>
              <a:defRPr sz="1350" b="0">
                <a:solidFill>
                  <a:srgbClr val="AEB9C5"/>
                </a:solidFill>
                <a:latin typeface="Arial"/>
                <a:ea typeface="Arial"/>
                <a:cs typeface="Arial"/>
              </a:defRPr>
            </a:pPr>
            <a:r>
              <a:rPr sz="1350" b="0">
                <a:solidFill>
                  <a:srgbClr val="AEB9C5"/>
                </a:solidFill>
                <a:latin typeface="Arial"/>
                <a:ea typeface="Arial"/>
                <a:cs typeface="Arial"/>
              </a:rPr>
              <a:t>abstracción de hardware</a:t>
            </a:r>
          </a:p>
        </p:txBody>
      </p:sp>
      <p:sp>
        <p:nvSpPr>
          <p:cNvPr id="27" name="Rectángulo 26">
            <a:extLst>
              <a:ext uri="{FF2B5EF4-FFF2-40B4-BE49-F238E27FC236}">
                <a16:creationId xmlns:a16="http://schemas.microsoft.com/office/drawing/2014/main" id="{91C1F0CA-742E-42D1-8E61-8A6B4DC3CC6E}"/>
              </a:ext>
            </a:extLst>
          </p:cNvPr>
          <p:cNvSpPr>
            <a:spLocks noGrp="1"/>
          </p:cNvSpPr>
          <p:nvPr/>
        </p:nvSpPr>
        <p:spPr>
          <a:xfrm>
            <a:off x="723900" y="5543550"/>
            <a:ext cx="10001250" cy="4572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La estructura elegida influye en cómo se incorporan servicios, controladores y políticas de gestión.</a:t>
            </a:r>
          </a:p>
        </p:txBody>
      </p:sp>
    </p:spTree>
    <p:extLst>
      <p:ext uri="{BB962C8B-B14F-4D97-AF65-F5344CB8AC3E}">
        <p14:creationId xmlns:p14="http://schemas.microsoft.com/office/powerpoint/2010/main" val="2007102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5BE59EE9-FFCD-467E-9677-20E4E7AD5C18}"/>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5 · CLASIFICACIÓN POR USUARIOS</a:t>
            </a:r>
          </a:p>
        </p:txBody>
      </p:sp>
      <p:sp>
        <p:nvSpPr>
          <p:cNvPr id="2" name="Rectángulo 1">
            <a:extLst>
              <a:ext uri="{FF2B5EF4-FFF2-40B4-BE49-F238E27FC236}">
                <a16:creationId xmlns:a16="http://schemas.microsoft.com/office/drawing/2014/main" id="{760FC2DB-917D-4B48-8BE6-D910A02EAE18}"/>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El número de usuarios cambia las prioridades</a:t>
            </a:r>
          </a:p>
        </p:txBody>
      </p:sp>
      <p:sp>
        <p:nvSpPr>
          <p:cNvPr id="3" name="Conector recto 2">
            <a:extLst>
              <a:ext uri="{FF2B5EF4-FFF2-40B4-BE49-F238E27FC236}">
                <a16:creationId xmlns:a16="http://schemas.microsoft.com/office/drawing/2014/main" id="{5104A3A0-9F5A-4F6F-B0D9-BFE5D56526EA}"/>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ECA5960D-E385-4A90-9A08-0A9688FDEC24}"/>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1985EF57-C474-4448-8880-DCD03DA6B5DC}"/>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5 · CLASIFICACIÓN POR USUARIOS</a:t>
            </a:r>
          </a:p>
        </p:txBody>
      </p:sp>
      <p:sp>
        <p:nvSpPr>
          <p:cNvPr id="6" name="Rectángulo 5">
            <a:extLst>
              <a:ext uri="{FF2B5EF4-FFF2-40B4-BE49-F238E27FC236}">
                <a16:creationId xmlns:a16="http://schemas.microsoft.com/office/drawing/2014/main" id="{C99A6DBE-0F55-4C1C-BCEE-A3DBCACBFA9B}"/>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08</a:t>
            </a:r>
          </a:p>
        </p:txBody>
      </p:sp>
      <p:sp>
        <p:nvSpPr>
          <p:cNvPr id="7" name="Conector recto 6">
            <a:extLst>
              <a:ext uri="{FF2B5EF4-FFF2-40B4-BE49-F238E27FC236}">
                <a16:creationId xmlns:a16="http://schemas.microsoft.com/office/drawing/2014/main" id="{DD3D0271-6C48-4D3C-927B-4B204A93BA5C}"/>
              </a:ext>
            </a:extLst>
          </p:cNvPr>
          <p:cNvSpPr>
            <a:spLocks noGrp="1"/>
          </p:cNvSpPr>
          <p:nvPr/>
        </p:nvSpPr>
        <p:spPr>
          <a:xfrm>
            <a:off x="1143000" y="3333750"/>
            <a:ext cx="9810750" cy="0"/>
          </a:xfrm>
          <a:prstGeom prst="line">
            <a:avLst/>
          </a:prstGeom>
          <a:noFill/>
          <a:ln w="28575">
            <a:solidFill>
              <a:srgbClr val="101820"/>
            </a:solidFill>
            <a:prstDash val="solid"/>
          </a:ln>
        </p:spPr>
        <p:txBody>
          <a:bodyPr/>
          <a:lstStyle/>
          <a:p>
            <a:endParaRPr lang="es-MX"/>
          </a:p>
        </p:txBody>
      </p:sp>
      <p:sp>
        <p:nvSpPr>
          <p:cNvPr id="8" name="Elipse 7">
            <a:extLst>
              <a:ext uri="{FF2B5EF4-FFF2-40B4-BE49-F238E27FC236}">
                <a16:creationId xmlns:a16="http://schemas.microsoft.com/office/drawing/2014/main" id="{051BD898-E40C-408B-8EBA-E00028C9E13E}"/>
              </a:ext>
            </a:extLst>
          </p:cNvPr>
          <p:cNvSpPr>
            <a:spLocks noGrp="1"/>
          </p:cNvSpPr>
          <p:nvPr/>
        </p:nvSpPr>
        <p:spPr>
          <a:xfrm>
            <a:off x="1047750" y="3257550"/>
            <a:ext cx="171450" cy="171450"/>
          </a:xfrm>
          <a:prstGeom prst="ellipse">
            <a:avLst/>
          </a:prstGeom>
          <a:solidFill>
            <a:srgbClr val="2D6FB7"/>
          </a:solidFill>
          <a:ln w="0">
            <a:solidFill>
              <a:srgbClr val="2D6FB7"/>
            </a:solidFill>
            <a:prstDash val="solid"/>
          </a:ln>
        </p:spPr>
        <p:txBody>
          <a:bodyPr/>
          <a:lstStyle/>
          <a:p>
            <a:endParaRPr lang="es-MX"/>
          </a:p>
        </p:txBody>
      </p:sp>
      <p:sp>
        <p:nvSpPr>
          <p:cNvPr id="9" name="Elipse 8">
            <a:extLst>
              <a:ext uri="{FF2B5EF4-FFF2-40B4-BE49-F238E27FC236}">
                <a16:creationId xmlns:a16="http://schemas.microsoft.com/office/drawing/2014/main" id="{599D29FC-89D9-42A4-A3D6-E7401C8E24DC}"/>
              </a:ext>
            </a:extLst>
          </p:cNvPr>
          <p:cNvSpPr>
            <a:spLocks noGrp="1"/>
          </p:cNvSpPr>
          <p:nvPr/>
        </p:nvSpPr>
        <p:spPr>
          <a:xfrm>
            <a:off x="6000750" y="3257550"/>
            <a:ext cx="171450" cy="171450"/>
          </a:xfrm>
          <a:prstGeom prst="ellipse">
            <a:avLst/>
          </a:prstGeom>
          <a:solidFill>
            <a:srgbClr val="2D6FB7"/>
          </a:solidFill>
          <a:ln w="0">
            <a:solidFill>
              <a:srgbClr val="2D6FB7"/>
            </a:solidFill>
            <a:prstDash val="solid"/>
          </a:ln>
        </p:spPr>
        <p:txBody>
          <a:bodyPr/>
          <a:lstStyle/>
          <a:p>
            <a:endParaRPr lang="es-MX"/>
          </a:p>
        </p:txBody>
      </p:sp>
      <p:sp>
        <p:nvSpPr>
          <p:cNvPr id="10" name="Elipse 9">
            <a:extLst>
              <a:ext uri="{FF2B5EF4-FFF2-40B4-BE49-F238E27FC236}">
                <a16:creationId xmlns:a16="http://schemas.microsoft.com/office/drawing/2014/main" id="{B12206BC-EEE9-49CC-8003-1AAA85E239B8}"/>
              </a:ext>
            </a:extLst>
          </p:cNvPr>
          <p:cNvSpPr>
            <a:spLocks noGrp="1"/>
          </p:cNvSpPr>
          <p:nvPr/>
        </p:nvSpPr>
        <p:spPr>
          <a:xfrm>
            <a:off x="10858500" y="3257550"/>
            <a:ext cx="171450" cy="171450"/>
          </a:xfrm>
          <a:prstGeom prst="ellipse">
            <a:avLst/>
          </a:prstGeom>
          <a:solidFill>
            <a:srgbClr val="2D6FB7"/>
          </a:solidFill>
          <a:ln w="0">
            <a:solidFill>
              <a:srgbClr val="2D6FB7"/>
            </a:solidFill>
            <a:prstDash val="solid"/>
          </a:ln>
        </p:spPr>
        <p:txBody>
          <a:bodyPr/>
          <a:lstStyle/>
          <a:p>
            <a:endParaRPr lang="es-MX"/>
          </a:p>
        </p:txBody>
      </p:sp>
      <p:sp>
        <p:nvSpPr>
          <p:cNvPr id="11" name="Rectángulo 10">
            <a:extLst>
              <a:ext uri="{FF2B5EF4-FFF2-40B4-BE49-F238E27FC236}">
                <a16:creationId xmlns:a16="http://schemas.microsoft.com/office/drawing/2014/main" id="{D1F4EA4E-B940-430E-B9A6-7BB11A96E402}"/>
              </a:ext>
            </a:extLst>
          </p:cNvPr>
          <p:cNvSpPr>
            <a:spLocks noGrp="1"/>
          </p:cNvSpPr>
          <p:nvPr/>
        </p:nvSpPr>
        <p:spPr>
          <a:xfrm>
            <a:off x="895350" y="2000250"/>
            <a:ext cx="3238500" cy="342900"/>
          </a:xfrm>
          <a:prstGeom prst="rect">
            <a:avLst/>
          </a:prstGeom>
          <a:noFill/>
          <a:ln w="0">
            <a:noFill/>
            <a:prstDash val="solid"/>
          </a:ln>
        </p:spPr>
        <p:txBody>
          <a:bodyPr lIns="0" tIns="0" rIns="0" bIns="0" anchor="t">
            <a:normAutofit/>
          </a:bodyPr>
          <a:lstStyle/>
          <a:p>
            <a:pPr algn="l">
              <a:lnSpc>
                <a:spcPct val="100000"/>
              </a:lnSpc>
              <a:buNone/>
              <a:defRPr sz="1950" b="1">
                <a:solidFill>
                  <a:srgbClr val="101820"/>
                </a:solidFill>
                <a:latin typeface="Arial Black"/>
                <a:ea typeface="Arial Black"/>
                <a:cs typeface="Arial Black"/>
              </a:defRPr>
            </a:pPr>
            <a:r>
              <a:rPr sz="1950" b="1">
                <a:solidFill>
                  <a:srgbClr val="101820"/>
                </a:solidFill>
                <a:latin typeface="Arial Black"/>
                <a:ea typeface="Arial Black"/>
                <a:cs typeface="Arial Black"/>
              </a:rPr>
              <a:t>MONOUSUARIO</a:t>
            </a:r>
          </a:p>
        </p:txBody>
      </p:sp>
      <p:sp>
        <p:nvSpPr>
          <p:cNvPr id="12" name="Rectángulo 11">
            <a:extLst>
              <a:ext uri="{FF2B5EF4-FFF2-40B4-BE49-F238E27FC236}">
                <a16:creationId xmlns:a16="http://schemas.microsoft.com/office/drawing/2014/main" id="{F6F64E40-F6B3-4AD1-91E3-1E36E19691F5}"/>
              </a:ext>
            </a:extLst>
          </p:cNvPr>
          <p:cNvSpPr>
            <a:spLocks noGrp="1"/>
          </p:cNvSpPr>
          <p:nvPr/>
        </p:nvSpPr>
        <p:spPr>
          <a:xfrm>
            <a:off x="895350" y="2457450"/>
            <a:ext cx="3238500" cy="666750"/>
          </a:xfrm>
          <a:prstGeom prst="rect">
            <a:avLst/>
          </a:prstGeom>
          <a:noFill/>
          <a:ln w="0">
            <a:noFill/>
            <a:prstDash val="solid"/>
          </a:ln>
        </p:spPr>
        <p:txBody>
          <a:bodyPr lIns="0" tIns="0" rIns="0" bIns="0" anchor="t">
            <a:normAutofit/>
          </a:bodyPr>
          <a:lstStyle/>
          <a:p>
            <a:pPr algn="l">
              <a:lnSpc>
                <a:spcPct val="100000"/>
              </a:lnSpc>
              <a:buNone/>
              <a:defRPr sz="1650" b="0">
                <a:solidFill>
                  <a:srgbClr val="667483"/>
                </a:solidFill>
                <a:latin typeface="Arial"/>
                <a:ea typeface="Arial"/>
                <a:cs typeface="Arial"/>
              </a:defRPr>
            </a:pPr>
            <a:r>
              <a:rPr sz="1650" b="0">
                <a:solidFill>
                  <a:srgbClr val="667483"/>
                </a:solidFill>
                <a:latin typeface="Arial"/>
                <a:ea typeface="Arial"/>
                <a:cs typeface="Arial"/>
              </a:rPr>
              <a:t>Un usuario utiliza el sistema.</a:t>
            </a:r>
          </a:p>
          <a:p>
            <a:pPr algn="l">
              <a:lnSpc>
                <a:spcPct val="100000"/>
              </a:lnSpc>
              <a:buNone/>
              <a:defRPr sz="1650" b="0">
                <a:solidFill>
                  <a:srgbClr val="667483"/>
                </a:solidFill>
                <a:latin typeface="Arial"/>
                <a:ea typeface="Arial"/>
                <a:cs typeface="Arial"/>
              </a:defRPr>
            </a:pPr>
            <a:r>
              <a:rPr sz="1650" b="0">
                <a:solidFill>
                  <a:srgbClr val="667483"/>
                </a:solidFill>
                <a:latin typeface="Arial"/>
                <a:ea typeface="Arial"/>
                <a:cs typeface="Arial"/>
              </a:rPr>
              <a:t>Puede ejecutar varias tareas.</a:t>
            </a:r>
          </a:p>
        </p:txBody>
      </p:sp>
      <p:sp>
        <p:nvSpPr>
          <p:cNvPr id="13" name="Rectángulo 12">
            <a:extLst>
              <a:ext uri="{FF2B5EF4-FFF2-40B4-BE49-F238E27FC236}">
                <a16:creationId xmlns:a16="http://schemas.microsoft.com/office/drawing/2014/main" id="{332908A1-BFDE-4C6C-BB9C-588E7D7AE98A}"/>
              </a:ext>
            </a:extLst>
          </p:cNvPr>
          <p:cNvSpPr>
            <a:spLocks noGrp="1"/>
          </p:cNvSpPr>
          <p:nvPr/>
        </p:nvSpPr>
        <p:spPr>
          <a:xfrm>
            <a:off x="4524375" y="3619500"/>
            <a:ext cx="3048000" cy="342900"/>
          </a:xfrm>
          <a:prstGeom prst="rect">
            <a:avLst/>
          </a:prstGeom>
          <a:noFill/>
          <a:ln w="0">
            <a:noFill/>
            <a:prstDash val="solid"/>
          </a:ln>
        </p:spPr>
        <p:txBody>
          <a:bodyPr lIns="0" tIns="0" rIns="0" bIns="0" anchor="t">
            <a:normAutofit/>
          </a:bodyPr>
          <a:lstStyle/>
          <a:p>
            <a:pPr algn="ctr">
              <a:lnSpc>
                <a:spcPct val="100000"/>
              </a:lnSpc>
              <a:buNone/>
              <a:defRPr sz="1800" b="1">
                <a:solidFill>
                  <a:srgbClr val="2D6FB7"/>
                </a:solidFill>
                <a:latin typeface="Arial Black"/>
                <a:ea typeface="Arial Black"/>
                <a:cs typeface="Arial Black"/>
              </a:defRPr>
            </a:pPr>
            <a:r>
              <a:rPr sz="1800" b="1">
                <a:solidFill>
                  <a:srgbClr val="2D6FB7"/>
                </a:solidFill>
                <a:latin typeface="Arial Black"/>
                <a:ea typeface="Arial Black"/>
                <a:cs typeface="Arial Black"/>
              </a:rPr>
              <a:t>MULTITAREA</a:t>
            </a:r>
          </a:p>
        </p:txBody>
      </p:sp>
      <p:sp>
        <p:nvSpPr>
          <p:cNvPr id="14" name="Rectángulo 13">
            <a:extLst>
              <a:ext uri="{FF2B5EF4-FFF2-40B4-BE49-F238E27FC236}">
                <a16:creationId xmlns:a16="http://schemas.microsoft.com/office/drawing/2014/main" id="{7159B574-7243-494C-8855-AEEED4403D8E}"/>
              </a:ext>
            </a:extLst>
          </p:cNvPr>
          <p:cNvSpPr>
            <a:spLocks noGrp="1"/>
          </p:cNvSpPr>
          <p:nvPr/>
        </p:nvSpPr>
        <p:spPr>
          <a:xfrm>
            <a:off x="4457700" y="4057650"/>
            <a:ext cx="3181350" cy="628650"/>
          </a:xfrm>
          <a:prstGeom prst="rect">
            <a:avLst/>
          </a:prstGeom>
          <a:noFill/>
          <a:ln w="0">
            <a:noFill/>
            <a:prstDash val="solid"/>
          </a:ln>
        </p:spPr>
        <p:txBody>
          <a:bodyPr lIns="0" tIns="0" rIns="0" bIns="0" anchor="t">
            <a:normAutofit/>
          </a:bodyPr>
          <a:lstStyle/>
          <a:p>
            <a:pPr algn="ctr">
              <a:lnSpc>
                <a:spcPct val="100000"/>
              </a:lnSpc>
              <a:buNone/>
              <a:defRPr sz="1500" b="0">
                <a:solidFill>
                  <a:srgbClr val="667483"/>
                </a:solidFill>
                <a:latin typeface="Arial"/>
                <a:ea typeface="Arial"/>
                <a:cs typeface="Arial"/>
              </a:defRPr>
            </a:pPr>
            <a:r>
              <a:rPr sz="1500" b="0">
                <a:solidFill>
                  <a:srgbClr val="667483"/>
                </a:solidFill>
                <a:latin typeface="Arial"/>
                <a:ea typeface="Arial"/>
                <a:cs typeface="Arial"/>
              </a:rPr>
              <a:t>Describe programas simultáneos,</a:t>
            </a:r>
          </a:p>
          <a:p>
            <a:pPr algn="ctr">
              <a:lnSpc>
                <a:spcPct val="100000"/>
              </a:lnSpc>
              <a:buNone/>
              <a:defRPr sz="1500" b="0">
                <a:solidFill>
                  <a:srgbClr val="667483"/>
                </a:solidFill>
                <a:latin typeface="Arial"/>
                <a:ea typeface="Arial"/>
                <a:cs typeface="Arial"/>
              </a:defRPr>
            </a:pPr>
            <a:r>
              <a:rPr sz="1500" b="0">
                <a:solidFill>
                  <a:srgbClr val="667483"/>
                </a:solidFill>
                <a:latin typeface="Arial"/>
                <a:ea typeface="Arial"/>
                <a:cs typeface="Arial"/>
              </a:rPr>
              <a:t>no cantidad de usuarios.</a:t>
            </a:r>
          </a:p>
        </p:txBody>
      </p:sp>
      <p:sp>
        <p:nvSpPr>
          <p:cNvPr id="15" name="Rectángulo 14">
            <a:extLst>
              <a:ext uri="{FF2B5EF4-FFF2-40B4-BE49-F238E27FC236}">
                <a16:creationId xmlns:a16="http://schemas.microsoft.com/office/drawing/2014/main" id="{987C8D0E-951E-48BE-BE16-2C335D3C6047}"/>
              </a:ext>
            </a:extLst>
          </p:cNvPr>
          <p:cNvSpPr>
            <a:spLocks noGrp="1"/>
          </p:cNvSpPr>
          <p:nvPr/>
        </p:nvSpPr>
        <p:spPr>
          <a:xfrm>
            <a:off x="8096250" y="2000250"/>
            <a:ext cx="3143250" cy="342900"/>
          </a:xfrm>
          <a:prstGeom prst="rect">
            <a:avLst/>
          </a:prstGeom>
          <a:noFill/>
          <a:ln w="0">
            <a:noFill/>
            <a:prstDash val="solid"/>
          </a:ln>
        </p:spPr>
        <p:txBody>
          <a:bodyPr lIns="0" tIns="0" rIns="0" bIns="0" anchor="t">
            <a:normAutofit/>
          </a:bodyPr>
          <a:lstStyle/>
          <a:p>
            <a:pPr algn="r">
              <a:lnSpc>
                <a:spcPct val="100000"/>
              </a:lnSpc>
              <a:buNone/>
              <a:defRPr sz="1950" b="1">
                <a:solidFill>
                  <a:srgbClr val="101820"/>
                </a:solidFill>
                <a:latin typeface="Arial Black"/>
                <a:ea typeface="Arial Black"/>
                <a:cs typeface="Arial Black"/>
              </a:defRPr>
            </a:pPr>
            <a:r>
              <a:rPr sz="1950" b="1">
                <a:solidFill>
                  <a:srgbClr val="101820"/>
                </a:solidFill>
                <a:latin typeface="Arial Black"/>
                <a:ea typeface="Arial Black"/>
                <a:cs typeface="Arial Black"/>
              </a:rPr>
              <a:t>MULTIUSUARIO</a:t>
            </a:r>
          </a:p>
        </p:txBody>
      </p:sp>
      <p:sp>
        <p:nvSpPr>
          <p:cNvPr id="16" name="Rectángulo 15">
            <a:extLst>
              <a:ext uri="{FF2B5EF4-FFF2-40B4-BE49-F238E27FC236}">
                <a16:creationId xmlns:a16="http://schemas.microsoft.com/office/drawing/2014/main" id="{82FE30EB-E492-49BA-A691-F281522FEE44}"/>
              </a:ext>
            </a:extLst>
          </p:cNvPr>
          <p:cNvSpPr>
            <a:spLocks noGrp="1"/>
          </p:cNvSpPr>
          <p:nvPr/>
        </p:nvSpPr>
        <p:spPr>
          <a:xfrm>
            <a:off x="7810500" y="2457450"/>
            <a:ext cx="3429000" cy="666750"/>
          </a:xfrm>
          <a:prstGeom prst="rect">
            <a:avLst/>
          </a:prstGeom>
          <a:noFill/>
          <a:ln w="0">
            <a:noFill/>
            <a:prstDash val="solid"/>
          </a:ln>
        </p:spPr>
        <p:txBody>
          <a:bodyPr lIns="0" tIns="0" rIns="0" bIns="0" anchor="t">
            <a:normAutofit/>
          </a:bodyPr>
          <a:lstStyle/>
          <a:p>
            <a:pPr algn="r">
              <a:lnSpc>
                <a:spcPct val="100000"/>
              </a:lnSpc>
              <a:buNone/>
              <a:defRPr sz="1650" b="0">
                <a:solidFill>
                  <a:srgbClr val="667483"/>
                </a:solidFill>
                <a:latin typeface="Arial"/>
                <a:ea typeface="Arial"/>
                <a:cs typeface="Arial"/>
              </a:defRPr>
            </a:pPr>
            <a:r>
              <a:rPr sz="1650" b="0">
                <a:solidFill>
                  <a:srgbClr val="667483"/>
                </a:solidFill>
                <a:latin typeface="Arial"/>
                <a:ea typeface="Arial"/>
                <a:cs typeface="Arial"/>
              </a:rPr>
              <a:t>Varios usuarios comparten recursos.</a:t>
            </a:r>
          </a:p>
          <a:p>
            <a:pPr algn="r">
              <a:lnSpc>
                <a:spcPct val="100000"/>
              </a:lnSpc>
              <a:buNone/>
              <a:defRPr sz="1650" b="0">
                <a:solidFill>
                  <a:srgbClr val="667483"/>
                </a:solidFill>
                <a:latin typeface="Arial"/>
                <a:ea typeface="Arial"/>
                <a:cs typeface="Arial"/>
              </a:defRPr>
            </a:pPr>
            <a:r>
              <a:rPr sz="1650" b="0">
                <a:solidFill>
                  <a:srgbClr val="667483"/>
                </a:solidFill>
                <a:latin typeface="Arial"/>
                <a:ea typeface="Arial"/>
                <a:cs typeface="Arial"/>
              </a:rPr>
              <a:t>Requiere mayor control y protección.</a:t>
            </a:r>
          </a:p>
        </p:txBody>
      </p:sp>
      <p:sp>
        <p:nvSpPr>
          <p:cNvPr id="17" name="Rectángulo 16">
            <a:extLst>
              <a:ext uri="{FF2B5EF4-FFF2-40B4-BE49-F238E27FC236}">
                <a16:creationId xmlns:a16="http://schemas.microsoft.com/office/drawing/2014/main" id="{87605625-7044-4342-8509-13301C9F0464}"/>
              </a:ext>
            </a:extLst>
          </p:cNvPr>
          <p:cNvSpPr>
            <a:spLocks noGrp="1"/>
          </p:cNvSpPr>
          <p:nvPr/>
        </p:nvSpPr>
        <p:spPr>
          <a:xfrm>
            <a:off x="1524000" y="5429250"/>
            <a:ext cx="9144000" cy="438150"/>
          </a:xfrm>
          <a:prstGeom prst="rect">
            <a:avLst/>
          </a:prstGeom>
          <a:noFill/>
          <a:ln w="0">
            <a:noFill/>
            <a:prstDash val="solid"/>
          </a:ln>
        </p:spPr>
        <p:txBody>
          <a:bodyPr lIns="0" tIns="0" rIns="0" bIns="0" anchor="t">
            <a:normAutofit/>
          </a:bodyPr>
          <a:lstStyle/>
          <a:p>
            <a:pPr algn="ctr">
              <a:lnSpc>
                <a:spcPct val="100000"/>
              </a:lnSpc>
              <a:buNone/>
              <a:defRPr sz="1800" b="0">
                <a:solidFill>
                  <a:srgbClr val="101820"/>
                </a:solidFill>
                <a:latin typeface="Bahnschrift"/>
                <a:ea typeface="Bahnschrift"/>
                <a:cs typeface="Bahnschrift"/>
              </a:defRPr>
            </a:pPr>
            <a:r>
              <a:rPr sz="1800" b="0">
                <a:solidFill>
                  <a:srgbClr val="101820"/>
                </a:solidFill>
                <a:latin typeface="Bahnschrift"/>
                <a:ea typeface="Bahnschrift"/>
                <a:cs typeface="Bahnschrift"/>
              </a:rPr>
              <a:t>La misión básica no cambia: asignar recursos y mantener separadas las actividades.</a:t>
            </a:r>
          </a:p>
        </p:txBody>
      </p:sp>
    </p:spTree>
    <p:extLst>
      <p:ext uri="{BB962C8B-B14F-4D97-AF65-F5344CB8AC3E}">
        <p14:creationId xmlns:p14="http://schemas.microsoft.com/office/powerpoint/2010/main" val="211427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77B73B21-DC73-4819-B687-A6482B3D9B8A}"/>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6 · GLOSARIO BÁSICO</a:t>
            </a:r>
          </a:p>
        </p:txBody>
      </p:sp>
      <p:sp>
        <p:nvSpPr>
          <p:cNvPr id="2" name="Rectángulo 1">
            <a:extLst>
              <a:ext uri="{FF2B5EF4-FFF2-40B4-BE49-F238E27FC236}">
                <a16:creationId xmlns:a16="http://schemas.microsoft.com/office/drawing/2014/main" id="{50BFFFA2-2833-43D9-9F56-8FE523D67C81}"/>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El vocabulario explica la ejecución</a:t>
            </a:r>
          </a:p>
        </p:txBody>
      </p:sp>
      <p:sp>
        <p:nvSpPr>
          <p:cNvPr id="3" name="Conector recto 2">
            <a:extLst>
              <a:ext uri="{FF2B5EF4-FFF2-40B4-BE49-F238E27FC236}">
                <a16:creationId xmlns:a16="http://schemas.microsoft.com/office/drawing/2014/main" id="{AE5E317E-B4A5-4EB8-B8F3-53E3512AB466}"/>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2B785FAF-D167-4B63-B0C1-CA830300A596}"/>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0C0932AA-2AA7-4116-AACB-628B48DEF67F}"/>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6 · GLOSARIO BÁSICO</a:t>
            </a:r>
          </a:p>
        </p:txBody>
      </p:sp>
      <p:sp>
        <p:nvSpPr>
          <p:cNvPr id="6" name="Rectángulo 5">
            <a:extLst>
              <a:ext uri="{FF2B5EF4-FFF2-40B4-BE49-F238E27FC236}">
                <a16:creationId xmlns:a16="http://schemas.microsoft.com/office/drawing/2014/main" id="{D9193829-B55F-4E99-80CE-F83C688B3043}"/>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09</a:t>
            </a:r>
          </a:p>
        </p:txBody>
      </p:sp>
      <p:sp>
        <p:nvSpPr>
          <p:cNvPr id="7" name="Rectángulo 6">
            <a:extLst>
              <a:ext uri="{FF2B5EF4-FFF2-40B4-BE49-F238E27FC236}">
                <a16:creationId xmlns:a16="http://schemas.microsoft.com/office/drawing/2014/main" id="{A9855FFF-B259-4735-8F20-BB824F8A34FD}"/>
              </a:ext>
            </a:extLst>
          </p:cNvPr>
          <p:cNvSpPr>
            <a:spLocks noGrp="1"/>
          </p:cNvSpPr>
          <p:nvPr/>
        </p:nvSpPr>
        <p:spPr>
          <a:xfrm>
            <a:off x="723900" y="1657350"/>
            <a:ext cx="2381250" cy="400050"/>
          </a:xfrm>
          <a:prstGeom prst="rect">
            <a:avLst/>
          </a:prstGeom>
          <a:noFill/>
          <a:ln w="0">
            <a:noFill/>
            <a:prstDash val="solid"/>
          </a:ln>
        </p:spPr>
        <p:txBody>
          <a:bodyPr lIns="0" tIns="0" rIns="0" bIns="0" anchor="t">
            <a:normAutofit/>
          </a:bodyPr>
          <a:lstStyle/>
          <a:p>
            <a:pPr algn="l">
              <a:lnSpc>
                <a:spcPct val="100000"/>
              </a:lnSpc>
              <a:buNone/>
              <a:defRPr sz="2325" b="0">
                <a:solidFill>
                  <a:srgbClr val="5A9BDC"/>
                </a:solidFill>
                <a:latin typeface="Arial Black"/>
                <a:ea typeface="Arial Black"/>
                <a:cs typeface="Arial Black"/>
              </a:defRPr>
            </a:pPr>
            <a:r>
              <a:rPr sz="2325" b="0">
                <a:solidFill>
                  <a:srgbClr val="5A9BDC"/>
                </a:solidFill>
                <a:latin typeface="Arial Black"/>
                <a:ea typeface="Arial Black"/>
                <a:cs typeface="Arial Black"/>
              </a:rPr>
              <a:t>EJECUCIÓN</a:t>
            </a:r>
          </a:p>
        </p:txBody>
      </p:sp>
      <p:sp>
        <p:nvSpPr>
          <p:cNvPr id="8" name="Rectángulo 7">
            <a:extLst>
              <a:ext uri="{FF2B5EF4-FFF2-40B4-BE49-F238E27FC236}">
                <a16:creationId xmlns:a16="http://schemas.microsoft.com/office/drawing/2014/main" id="{DE2BA623-25CF-48D4-BE29-7D002275EE40}"/>
              </a:ext>
            </a:extLst>
          </p:cNvPr>
          <p:cNvSpPr>
            <a:spLocks noGrp="1"/>
          </p:cNvSpPr>
          <p:nvPr/>
        </p:nvSpPr>
        <p:spPr>
          <a:xfrm>
            <a:off x="723900" y="2190750"/>
            <a:ext cx="2476500" cy="1047750"/>
          </a:xfrm>
          <a:prstGeom prst="rect">
            <a:avLst/>
          </a:prstGeom>
          <a:noFill/>
          <a:ln w="0">
            <a:noFill/>
            <a:prstDash val="solid"/>
          </a:ln>
        </p:spPr>
        <p:txBody>
          <a:bodyPr lIns="0" tIns="0" rIns="0" bIns="0" anchor="t">
            <a:normAutofit fontScale="99638"/>
          </a:bodyPr>
          <a:lstStyle/>
          <a:p>
            <a:pPr algn="l">
              <a:lnSpc>
                <a:spcPct val="100000"/>
              </a:lnSpc>
              <a:buNone/>
              <a:defRPr sz="1725" b="0">
                <a:solidFill>
                  <a:srgbClr val="AEB9C5"/>
                </a:solidFill>
                <a:latin typeface="Bahnschrift"/>
                <a:ea typeface="Bahnschrift"/>
                <a:cs typeface="Bahnschrift"/>
              </a:defRPr>
            </a:pPr>
            <a:r>
              <a:rPr sz="1725" b="0">
                <a:solidFill>
                  <a:srgbClr val="AEB9C5"/>
                </a:solidFill>
                <a:latin typeface="Bahnschrift"/>
                <a:ea typeface="Bahnschrift"/>
                <a:cs typeface="Bahnschrift"/>
              </a:rPr>
              <a:t>Una secuencia de conceptos que conecta la aplicación con el procesador.</a:t>
            </a:r>
          </a:p>
        </p:txBody>
      </p:sp>
      <p:sp>
        <p:nvSpPr>
          <p:cNvPr id="9" name="Conector recto 8">
            <a:extLst>
              <a:ext uri="{FF2B5EF4-FFF2-40B4-BE49-F238E27FC236}">
                <a16:creationId xmlns:a16="http://schemas.microsoft.com/office/drawing/2014/main" id="{7CD3763D-DDF6-455D-990C-B309BCD628CC}"/>
              </a:ext>
            </a:extLst>
          </p:cNvPr>
          <p:cNvSpPr>
            <a:spLocks noGrp="1"/>
          </p:cNvSpPr>
          <p:nvPr/>
        </p:nvSpPr>
        <p:spPr>
          <a:xfrm>
            <a:off x="3638550" y="1695450"/>
            <a:ext cx="0" cy="4000500"/>
          </a:xfrm>
          <a:prstGeom prst="line">
            <a:avLst/>
          </a:prstGeom>
          <a:noFill/>
          <a:ln w="19050">
            <a:solidFill>
              <a:srgbClr val="29445D"/>
            </a:solidFill>
            <a:prstDash val="solid"/>
          </a:ln>
        </p:spPr>
        <p:txBody>
          <a:bodyPr/>
          <a:lstStyle/>
          <a:p>
            <a:endParaRPr lang="es-MX"/>
          </a:p>
        </p:txBody>
      </p:sp>
      <p:sp>
        <p:nvSpPr>
          <p:cNvPr id="10" name="Rectángulo 9">
            <a:extLst>
              <a:ext uri="{FF2B5EF4-FFF2-40B4-BE49-F238E27FC236}">
                <a16:creationId xmlns:a16="http://schemas.microsoft.com/office/drawing/2014/main" id="{54DEB331-9A76-4B00-9494-90317BF8F461}"/>
              </a:ext>
            </a:extLst>
          </p:cNvPr>
          <p:cNvSpPr>
            <a:spLocks noGrp="1"/>
          </p:cNvSpPr>
          <p:nvPr/>
        </p:nvSpPr>
        <p:spPr>
          <a:xfrm>
            <a:off x="4095750" y="15621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KERNEL / NÚCLEO</a:t>
            </a:r>
          </a:p>
        </p:txBody>
      </p:sp>
      <p:sp>
        <p:nvSpPr>
          <p:cNvPr id="11" name="Rectángulo 10">
            <a:extLst>
              <a:ext uri="{FF2B5EF4-FFF2-40B4-BE49-F238E27FC236}">
                <a16:creationId xmlns:a16="http://schemas.microsoft.com/office/drawing/2014/main" id="{6A795B35-3C29-4298-8791-59F36E70D52A}"/>
              </a:ext>
            </a:extLst>
          </p:cNvPr>
          <p:cNvSpPr>
            <a:spLocks noGrp="1"/>
          </p:cNvSpPr>
          <p:nvPr/>
        </p:nvSpPr>
        <p:spPr>
          <a:xfrm>
            <a:off x="7124700" y="15621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programa central que permanece activo</a:t>
            </a:r>
          </a:p>
        </p:txBody>
      </p:sp>
      <p:sp>
        <p:nvSpPr>
          <p:cNvPr id="12" name="Conector recto 11">
            <a:extLst>
              <a:ext uri="{FF2B5EF4-FFF2-40B4-BE49-F238E27FC236}">
                <a16:creationId xmlns:a16="http://schemas.microsoft.com/office/drawing/2014/main" id="{D6DAE79E-F055-48F8-BB86-F4C8DF470F67}"/>
              </a:ext>
            </a:extLst>
          </p:cNvPr>
          <p:cNvSpPr>
            <a:spLocks noGrp="1"/>
          </p:cNvSpPr>
          <p:nvPr/>
        </p:nvSpPr>
        <p:spPr>
          <a:xfrm>
            <a:off x="4095750" y="2076450"/>
            <a:ext cx="7029450" cy="0"/>
          </a:xfrm>
          <a:prstGeom prst="line">
            <a:avLst/>
          </a:prstGeom>
          <a:noFill/>
          <a:ln w="9525">
            <a:solidFill>
              <a:srgbClr val="223548"/>
            </a:solidFill>
            <a:prstDash val="solid"/>
          </a:ln>
        </p:spPr>
        <p:txBody>
          <a:bodyPr/>
          <a:lstStyle/>
          <a:p>
            <a:endParaRPr lang="es-MX"/>
          </a:p>
        </p:txBody>
      </p:sp>
      <p:sp>
        <p:nvSpPr>
          <p:cNvPr id="13" name="Rectángulo 12">
            <a:extLst>
              <a:ext uri="{FF2B5EF4-FFF2-40B4-BE49-F238E27FC236}">
                <a16:creationId xmlns:a16="http://schemas.microsoft.com/office/drawing/2014/main" id="{CC909D1A-734C-474C-BCE6-6CCB4C0429F1}"/>
              </a:ext>
            </a:extLst>
          </p:cNvPr>
          <p:cNvSpPr>
            <a:spLocks noGrp="1"/>
          </p:cNvSpPr>
          <p:nvPr/>
        </p:nvSpPr>
        <p:spPr>
          <a:xfrm>
            <a:off x="4095750" y="22860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5A9BDC"/>
                </a:solidFill>
                <a:latin typeface="Bahnschrift"/>
                <a:ea typeface="Bahnschrift"/>
                <a:cs typeface="Bahnschrift"/>
              </a:defRPr>
            </a:pPr>
            <a:r>
              <a:rPr sz="1425" b="1">
                <a:solidFill>
                  <a:srgbClr val="5A9BDC"/>
                </a:solidFill>
                <a:latin typeface="Bahnschrift"/>
                <a:ea typeface="Bahnschrift"/>
                <a:cs typeface="Bahnschrift"/>
              </a:rPr>
              <a:t>PROCESO</a:t>
            </a:r>
          </a:p>
        </p:txBody>
      </p:sp>
      <p:sp>
        <p:nvSpPr>
          <p:cNvPr id="14" name="Rectángulo 13">
            <a:extLst>
              <a:ext uri="{FF2B5EF4-FFF2-40B4-BE49-F238E27FC236}">
                <a16:creationId xmlns:a16="http://schemas.microsoft.com/office/drawing/2014/main" id="{8D02DA5D-68B5-42E0-91E2-62C022EF63DF}"/>
              </a:ext>
            </a:extLst>
          </p:cNvPr>
          <p:cNvSpPr>
            <a:spLocks noGrp="1"/>
          </p:cNvSpPr>
          <p:nvPr/>
        </p:nvSpPr>
        <p:spPr>
          <a:xfrm>
            <a:off x="7124700" y="22860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programa en ejecución con estado y recursos</a:t>
            </a:r>
          </a:p>
        </p:txBody>
      </p:sp>
      <p:sp>
        <p:nvSpPr>
          <p:cNvPr id="15" name="Conector recto 14">
            <a:extLst>
              <a:ext uri="{FF2B5EF4-FFF2-40B4-BE49-F238E27FC236}">
                <a16:creationId xmlns:a16="http://schemas.microsoft.com/office/drawing/2014/main" id="{92AC5938-F508-4390-BE73-1D080CF548A7}"/>
              </a:ext>
            </a:extLst>
          </p:cNvPr>
          <p:cNvSpPr>
            <a:spLocks noGrp="1"/>
          </p:cNvSpPr>
          <p:nvPr/>
        </p:nvSpPr>
        <p:spPr>
          <a:xfrm>
            <a:off x="4095750" y="2800350"/>
            <a:ext cx="7029450" cy="0"/>
          </a:xfrm>
          <a:prstGeom prst="line">
            <a:avLst/>
          </a:prstGeom>
          <a:noFill/>
          <a:ln w="9525">
            <a:solidFill>
              <a:srgbClr val="223548"/>
            </a:solidFill>
            <a:prstDash val="solid"/>
          </a:ln>
        </p:spPr>
        <p:txBody>
          <a:bodyPr/>
          <a:lstStyle/>
          <a:p>
            <a:endParaRPr lang="es-MX"/>
          </a:p>
        </p:txBody>
      </p:sp>
      <p:sp>
        <p:nvSpPr>
          <p:cNvPr id="16" name="Rectángulo 15">
            <a:extLst>
              <a:ext uri="{FF2B5EF4-FFF2-40B4-BE49-F238E27FC236}">
                <a16:creationId xmlns:a16="http://schemas.microsoft.com/office/drawing/2014/main" id="{E81C9C15-69C8-4B23-807B-D07EF543AC10}"/>
              </a:ext>
            </a:extLst>
          </p:cNvPr>
          <p:cNvSpPr>
            <a:spLocks noGrp="1"/>
          </p:cNvSpPr>
          <p:nvPr/>
        </p:nvSpPr>
        <p:spPr>
          <a:xfrm>
            <a:off x="4095750" y="30099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THREAD / HILO</a:t>
            </a:r>
          </a:p>
        </p:txBody>
      </p:sp>
      <p:sp>
        <p:nvSpPr>
          <p:cNvPr id="17" name="Rectángulo 16">
            <a:extLst>
              <a:ext uri="{FF2B5EF4-FFF2-40B4-BE49-F238E27FC236}">
                <a16:creationId xmlns:a16="http://schemas.microsoft.com/office/drawing/2014/main" id="{E32B37CE-2909-4630-8EC7-70D4577CE6EA}"/>
              </a:ext>
            </a:extLst>
          </p:cNvPr>
          <p:cNvSpPr>
            <a:spLocks noGrp="1"/>
          </p:cNvSpPr>
          <p:nvPr/>
        </p:nvSpPr>
        <p:spPr>
          <a:xfrm>
            <a:off x="7124700" y="30099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unidad de ejecución dentro de un proceso</a:t>
            </a:r>
          </a:p>
        </p:txBody>
      </p:sp>
      <p:sp>
        <p:nvSpPr>
          <p:cNvPr id="18" name="Conector recto 17">
            <a:extLst>
              <a:ext uri="{FF2B5EF4-FFF2-40B4-BE49-F238E27FC236}">
                <a16:creationId xmlns:a16="http://schemas.microsoft.com/office/drawing/2014/main" id="{06B8B64C-9DB6-4EA2-B783-350164535C39}"/>
              </a:ext>
            </a:extLst>
          </p:cNvPr>
          <p:cNvSpPr>
            <a:spLocks noGrp="1"/>
          </p:cNvSpPr>
          <p:nvPr/>
        </p:nvSpPr>
        <p:spPr>
          <a:xfrm>
            <a:off x="4095750" y="3524250"/>
            <a:ext cx="7029450" cy="0"/>
          </a:xfrm>
          <a:prstGeom prst="line">
            <a:avLst/>
          </a:prstGeom>
          <a:noFill/>
          <a:ln w="9525">
            <a:solidFill>
              <a:srgbClr val="223548"/>
            </a:solidFill>
            <a:prstDash val="solid"/>
          </a:ln>
        </p:spPr>
        <p:txBody>
          <a:bodyPr/>
          <a:lstStyle/>
          <a:p>
            <a:endParaRPr lang="es-MX"/>
          </a:p>
        </p:txBody>
      </p:sp>
      <p:sp>
        <p:nvSpPr>
          <p:cNvPr id="19" name="Rectángulo 18">
            <a:extLst>
              <a:ext uri="{FF2B5EF4-FFF2-40B4-BE49-F238E27FC236}">
                <a16:creationId xmlns:a16="http://schemas.microsoft.com/office/drawing/2014/main" id="{1989687B-8E37-4E09-B447-1394F96EB4D2}"/>
              </a:ext>
            </a:extLst>
          </p:cNvPr>
          <p:cNvSpPr>
            <a:spLocks noGrp="1"/>
          </p:cNvSpPr>
          <p:nvPr/>
        </p:nvSpPr>
        <p:spPr>
          <a:xfrm>
            <a:off x="4095750" y="37338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5A9BDC"/>
                </a:solidFill>
                <a:latin typeface="Bahnschrift"/>
                <a:ea typeface="Bahnschrift"/>
                <a:cs typeface="Bahnschrift"/>
              </a:defRPr>
            </a:pPr>
            <a:r>
              <a:rPr sz="1425" b="1">
                <a:solidFill>
                  <a:srgbClr val="5A9BDC"/>
                </a:solidFill>
                <a:latin typeface="Bahnschrift"/>
                <a:ea typeface="Bahnschrift"/>
                <a:cs typeface="Bahnschrift"/>
              </a:rPr>
              <a:t>CPU SCHEDULING</a:t>
            </a:r>
          </a:p>
        </p:txBody>
      </p:sp>
      <p:sp>
        <p:nvSpPr>
          <p:cNvPr id="20" name="Rectángulo 19">
            <a:extLst>
              <a:ext uri="{FF2B5EF4-FFF2-40B4-BE49-F238E27FC236}">
                <a16:creationId xmlns:a16="http://schemas.microsoft.com/office/drawing/2014/main" id="{6A37624C-0BD8-4552-8B9B-BE24D078DA0A}"/>
              </a:ext>
            </a:extLst>
          </p:cNvPr>
          <p:cNvSpPr>
            <a:spLocks noGrp="1"/>
          </p:cNvSpPr>
          <p:nvPr/>
        </p:nvSpPr>
        <p:spPr>
          <a:xfrm>
            <a:off x="7124700" y="37338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selección del trabajo que usará la CPU</a:t>
            </a:r>
          </a:p>
        </p:txBody>
      </p:sp>
      <p:sp>
        <p:nvSpPr>
          <p:cNvPr id="21" name="Conector recto 20">
            <a:extLst>
              <a:ext uri="{FF2B5EF4-FFF2-40B4-BE49-F238E27FC236}">
                <a16:creationId xmlns:a16="http://schemas.microsoft.com/office/drawing/2014/main" id="{7E3AC57A-E1A0-452E-8702-B31F7C211D03}"/>
              </a:ext>
            </a:extLst>
          </p:cNvPr>
          <p:cNvSpPr>
            <a:spLocks noGrp="1"/>
          </p:cNvSpPr>
          <p:nvPr/>
        </p:nvSpPr>
        <p:spPr>
          <a:xfrm>
            <a:off x="4095750" y="4248150"/>
            <a:ext cx="7029450" cy="0"/>
          </a:xfrm>
          <a:prstGeom prst="line">
            <a:avLst/>
          </a:prstGeom>
          <a:noFill/>
          <a:ln w="9525">
            <a:solidFill>
              <a:srgbClr val="223548"/>
            </a:solidFill>
            <a:prstDash val="solid"/>
          </a:ln>
        </p:spPr>
        <p:txBody>
          <a:bodyPr/>
          <a:lstStyle/>
          <a:p>
            <a:endParaRPr lang="es-MX"/>
          </a:p>
        </p:txBody>
      </p:sp>
      <p:sp>
        <p:nvSpPr>
          <p:cNvPr id="22" name="Rectángulo 21">
            <a:extLst>
              <a:ext uri="{FF2B5EF4-FFF2-40B4-BE49-F238E27FC236}">
                <a16:creationId xmlns:a16="http://schemas.microsoft.com/office/drawing/2014/main" id="{E8A5E611-11C0-479F-99AA-26DA65A88DD4}"/>
              </a:ext>
            </a:extLst>
          </p:cNvPr>
          <p:cNvSpPr>
            <a:spLocks noGrp="1"/>
          </p:cNvSpPr>
          <p:nvPr/>
        </p:nvSpPr>
        <p:spPr>
          <a:xfrm>
            <a:off x="4095750" y="44577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CONTEXT SWITCH</a:t>
            </a:r>
          </a:p>
        </p:txBody>
      </p:sp>
      <p:sp>
        <p:nvSpPr>
          <p:cNvPr id="23" name="Rectángulo 22">
            <a:extLst>
              <a:ext uri="{FF2B5EF4-FFF2-40B4-BE49-F238E27FC236}">
                <a16:creationId xmlns:a16="http://schemas.microsoft.com/office/drawing/2014/main" id="{AF10AC9D-3A88-44C1-BF7E-01D9EC392F14}"/>
              </a:ext>
            </a:extLst>
          </p:cNvPr>
          <p:cNvSpPr>
            <a:spLocks noGrp="1"/>
          </p:cNvSpPr>
          <p:nvPr/>
        </p:nvSpPr>
        <p:spPr>
          <a:xfrm>
            <a:off x="7124700" y="44577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guardar un estado y restaurar otro</a:t>
            </a:r>
          </a:p>
        </p:txBody>
      </p:sp>
      <p:sp>
        <p:nvSpPr>
          <p:cNvPr id="24" name="Conector recto 23">
            <a:extLst>
              <a:ext uri="{FF2B5EF4-FFF2-40B4-BE49-F238E27FC236}">
                <a16:creationId xmlns:a16="http://schemas.microsoft.com/office/drawing/2014/main" id="{76BE3B1C-099E-4C52-B4ED-A639E5DA9787}"/>
              </a:ext>
            </a:extLst>
          </p:cNvPr>
          <p:cNvSpPr>
            <a:spLocks noGrp="1"/>
          </p:cNvSpPr>
          <p:nvPr/>
        </p:nvSpPr>
        <p:spPr>
          <a:xfrm>
            <a:off x="4095750" y="4972050"/>
            <a:ext cx="7029450" cy="0"/>
          </a:xfrm>
          <a:prstGeom prst="line">
            <a:avLst/>
          </a:prstGeom>
          <a:noFill/>
          <a:ln w="9525">
            <a:solidFill>
              <a:srgbClr val="223548"/>
            </a:solidFill>
            <a:prstDash val="solid"/>
          </a:ln>
        </p:spPr>
        <p:txBody>
          <a:bodyPr/>
          <a:lstStyle/>
          <a:p>
            <a:endParaRPr lang="es-MX"/>
          </a:p>
        </p:txBody>
      </p:sp>
      <p:sp>
        <p:nvSpPr>
          <p:cNvPr id="25" name="Rectángulo 24">
            <a:extLst>
              <a:ext uri="{FF2B5EF4-FFF2-40B4-BE49-F238E27FC236}">
                <a16:creationId xmlns:a16="http://schemas.microsoft.com/office/drawing/2014/main" id="{7ED69375-D888-45AA-8023-72FA2F1FBBEB}"/>
              </a:ext>
            </a:extLst>
          </p:cNvPr>
          <p:cNvSpPr>
            <a:spLocks noGrp="1"/>
          </p:cNvSpPr>
          <p:nvPr/>
        </p:nvSpPr>
        <p:spPr>
          <a:xfrm>
            <a:off x="4095750" y="5181600"/>
            <a:ext cx="2857500" cy="266700"/>
          </a:xfrm>
          <a:prstGeom prst="rect">
            <a:avLst/>
          </a:prstGeom>
          <a:noFill/>
          <a:ln w="0">
            <a:noFill/>
            <a:prstDash val="solid"/>
          </a:ln>
        </p:spPr>
        <p:txBody>
          <a:bodyPr lIns="0" tIns="0" rIns="0" bIns="0" anchor="t">
            <a:normAutofit/>
          </a:bodyPr>
          <a:lstStyle/>
          <a:p>
            <a:pPr algn="l">
              <a:lnSpc>
                <a:spcPct val="100000"/>
              </a:lnSpc>
              <a:buNone/>
              <a:defRPr sz="1425" b="1">
                <a:solidFill>
                  <a:srgbClr val="5A9BDC"/>
                </a:solidFill>
                <a:latin typeface="Bahnschrift"/>
                <a:ea typeface="Bahnschrift"/>
                <a:cs typeface="Bahnschrift"/>
              </a:defRPr>
            </a:pPr>
            <a:r>
              <a:rPr sz="1425" b="1">
                <a:solidFill>
                  <a:srgbClr val="5A9BDC"/>
                </a:solidFill>
                <a:latin typeface="Bahnschrift"/>
                <a:ea typeface="Bahnschrift"/>
                <a:cs typeface="Bahnschrift"/>
              </a:rPr>
              <a:t>SYSTEM CALL</a:t>
            </a:r>
          </a:p>
        </p:txBody>
      </p:sp>
      <p:sp>
        <p:nvSpPr>
          <p:cNvPr id="26" name="Rectángulo 25">
            <a:extLst>
              <a:ext uri="{FF2B5EF4-FFF2-40B4-BE49-F238E27FC236}">
                <a16:creationId xmlns:a16="http://schemas.microsoft.com/office/drawing/2014/main" id="{3E38FCEC-A12B-43D1-8AA4-0E5017680810}"/>
              </a:ext>
            </a:extLst>
          </p:cNvPr>
          <p:cNvSpPr>
            <a:spLocks noGrp="1"/>
          </p:cNvSpPr>
          <p:nvPr/>
        </p:nvSpPr>
        <p:spPr>
          <a:xfrm>
            <a:off x="7124700" y="5181600"/>
            <a:ext cx="4000500" cy="4000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petición controlada de un servicio del núcleo</a:t>
            </a:r>
          </a:p>
        </p:txBody>
      </p:sp>
    </p:spTree>
    <p:extLst>
      <p:ext uri="{BB962C8B-B14F-4D97-AF65-F5344CB8AC3E}">
        <p14:creationId xmlns:p14="http://schemas.microsoft.com/office/powerpoint/2010/main" val="1128459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E87D76FF-D6B6-4DD3-A1EA-6DC131ACE8D6}"/>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6 · GLOSARIO BÁSICO</a:t>
            </a:r>
          </a:p>
        </p:txBody>
      </p:sp>
      <p:sp>
        <p:nvSpPr>
          <p:cNvPr id="2" name="Rectángulo 1">
            <a:extLst>
              <a:ext uri="{FF2B5EF4-FFF2-40B4-BE49-F238E27FC236}">
                <a16:creationId xmlns:a16="http://schemas.microsoft.com/office/drawing/2014/main" id="{BA166B36-2E1B-466F-88FE-1DF6E6BA0103}"/>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2800" b="1" dirty="0">
                <a:solidFill>
                  <a:srgbClr val="101820"/>
                </a:solidFill>
                <a:latin typeface="Arial Black"/>
                <a:ea typeface="Arial Black"/>
                <a:cs typeface="Arial Black"/>
              </a:rPr>
              <a:t>Memoria y </a:t>
            </a:r>
            <a:r>
              <a:rPr sz="2800" b="1" dirty="0" err="1">
                <a:solidFill>
                  <a:srgbClr val="101820"/>
                </a:solidFill>
                <a:latin typeface="Arial Black"/>
                <a:ea typeface="Arial Black"/>
                <a:cs typeface="Arial Black"/>
              </a:rPr>
              <a:t>almacenamiento</a:t>
            </a:r>
            <a:r>
              <a:rPr sz="2800" b="1" dirty="0">
                <a:solidFill>
                  <a:srgbClr val="101820"/>
                </a:solidFill>
                <a:latin typeface="Arial Black"/>
                <a:ea typeface="Arial Black"/>
                <a:cs typeface="Arial Black"/>
              </a:rPr>
              <a:t> </a:t>
            </a:r>
            <a:r>
              <a:rPr sz="2800" b="1" dirty="0" err="1">
                <a:solidFill>
                  <a:srgbClr val="101820"/>
                </a:solidFill>
                <a:latin typeface="Arial Black"/>
                <a:ea typeface="Arial Black"/>
                <a:cs typeface="Arial Black"/>
              </a:rPr>
              <a:t>tienen</a:t>
            </a:r>
            <a:r>
              <a:rPr sz="2800" b="1" dirty="0">
                <a:solidFill>
                  <a:srgbClr val="101820"/>
                </a:solidFill>
                <a:latin typeface="Arial Black"/>
                <a:ea typeface="Arial Black"/>
                <a:cs typeface="Arial Black"/>
              </a:rPr>
              <a:t> </a:t>
            </a:r>
            <a:r>
              <a:rPr sz="2800" b="1" dirty="0" err="1">
                <a:solidFill>
                  <a:srgbClr val="101820"/>
                </a:solidFill>
                <a:latin typeface="Arial Black"/>
                <a:ea typeface="Arial Black"/>
                <a:cs typeface="Arial Black"/>
              </a:rPr>
              <a:t>otro</a:t>
            </a:r>
            <a:r>
              <a:rPr sz="2800" b="1" dirty="0">
                <a:solidFill>
                  <a:srgbClr val="101820"/>
                </a:solidFill>
                <a:latin typeface="Arial Black"/>
                <a:ea typeface="Arial Black"/>
                <a:cs typeface="Arial Black"/>
              </a:rPr>
              <a:t> </a:t>
            </a:r>
            <a:r>
              <a:rPr sz="2800" b="1" dirty="0" err="1">
                <a:solidFill>
                  <a:srgbClr val="101820"/>
                </a:solidFill>
                <a:latin typeface="Arial Black"/>
                <a:ea typeface="Arial Black"/>
                <a:cs typeface="Arial Black"/>
              </a:rPr>
              <a:t>vocabulario</a:t>
            </a:r>
            <a:endParaRPr sz="2800" b="1" dirty="0">
              <a:solidFill>
                <a:srgbClr val="101820"/>
              </a:solidFill>
              <a:latin typeface="Arial Black"/>
              <a:ea typeface="Arial Black"/>
              <a:cs typeface="Arial Black"/>
            </a:endParaRPr>
          </a:p>
        </p:txBody>
      </p:sp>
      <p:sp>
        <p:nvSpPr>
          <p:cNvPr id="3" name="Conector recto 2">
            <a:extLst>
              <a:ext uri="{FF2B5EF4-FFF2-40B4-BE49-F238E27FC236}">
                <a16:creationId xmlns:a16="http://schemas.microsoft.com/office/drawing/2014/main" id="{08FC2661-F64B-4162-94E1-EEAA5661F66D}"/>
              </a:ext>
            </a:extLst>
          </p:cNvPr>
          <p:cNvSpPr>
            <a:spLocks noGrp="1"/>
          </p:cNvSpPr>
          <p:nvPr/>
        </p:nvSpPr>
        <p:spPr>
          <a:xfrm>
            <a:off x="685800" y="1014663"/>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9C45FEC6-6B96-47CE-A3CF-B6B047CED4A0}"/>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D704486D-C8F0-4031-AC9E-D4E5B845C994}"/>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6 · GLOSARIO BÁSICO</a:t>
            </a:r>
          </a:p>
        </p:txBody>
      </p:sp>
      <p:sp>
        <p:nvSpPr>
          <p:cNvPr id="6" name="Rectángulo 5">
            <a:extLst>
              <a:ext uri="{FF2B5EF4-FFF2-40B4-BE49-F238E27FC236}">
                <a16:creationId xmlns:a16="http://schemas.microsoft.com/office/drawing/2014/main" id="{0FABC98A-60B4-43FF-96EA-C0EB6B31EA94}"/>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10</a:t>
            </a:r>
          </a:p>
        </p:txBody>
      </p:sp>
      <p:sp>
        <p:nvSpPr>
          <p:cNvPr id="7" name="Conector recto 6">
            <a:extLst>
              <a:ext uri="{FF2B5EF4-FFF2-40B4-BE49-F238E27FC236}">
                <a16:creationId xmlns:a16="http://schemas.microsoft.com/office/drawing/2014/main" id="{3578DECB-D54F-45D9-95DC-FDF53EFA859D}"/>
              </a:ext>
            </a:extLst>
          </p:cNvPr>
          <p:cNvSpPr>
            <a:spLocks noGrp="1"/>
          </p:cNvSpPr>
          <p:nvPr/>
        </p:nvSpPr>
        <p:spPr>
          <a:xfrm>
            <a:off x="1143000" y="2171700"/>
            <a:ext cx="9858375" cy="0"/>
          </a:xfrm>
          <a:prstGeom prst="line">
            <a:avLst/>
          </a:prstGeom>
          <a:noFill/>
          <a:ln w="28575">
            <a:solidFill>
              <a:srgbClr val="CBD4DE"/>
            </a:solidFill>
            <a:prstDash val="solid"/>
          </a:ln>
        </p:spPr>
        <p:txBody>
          <a:bodyPr/>
          <a:lstStyle/>
          <a:p>
            <a:endParaRPr lang="es-MX"/>
          </a:p>
        </p:txBody>
      </p:sp>
      <p:sp>
        <p:nvSpPr>
          <p:cNvPr id="8" name="Elipse 7">
            <a:extLst>
              <a:ext uri="{FF2B5EF4-FFF2-40B4-BE49-F238E27FC236}">
                <a16:creationId xmlns:a16="http://schemas.microsoft.com/office/drawing/2014/main" id="{5DBAAD64-CCB0-4DB7-B4F4-250A281DE614}"/>
              </a:ext>
            </a:extLst>
          </p:cNvPr>
          <p:cNvSpPr>
            <a:spLocks noGrp="1"/>
          </p:cNvSpPr>
          <p:nvPr/>
        </p:nvSpPr>
        <p:spPr>
          <a:xfrm>
            <a:off x="1123950" y="2057400"/>
            <a:ext cx="209550" cy="209550"/>
          </a:xfrm>
          <a:prstGeom prst="ellipse">
            <a:avLst/>
          </a:prstGeom>
          <a:solidFill>
            <a:srgbClr val="123A61"/>
          </a:solidFill>
          <a:ln w="0">
            <a:solidFill>
              <a:srgbClr val="123A61"/>
            </a:solidFill>
            <a:prstDash val="solid"/>
          </a:ln>
        </p:spPr>
        <p:txBody>
          <a:bodyPr/>
          <a:lstStyle/>
          <a:p>
            <a:endParaRPr lang="es-MX"/>
          </a:p>
        </p:txBody>
      </p:sp>
      <p:sp>
        <p:nvSpPr>
          <p:cNvPr id="9" name="Rectángulo 8">
            <a:extLst>
              <a:ext uri="{FF2B5EF4-FFF2-40B4-BE49-F238E27FC236}">
                <a16:creationId xmlns:a16="http://schemas.microsoft.com/office/drawing/2014/main" id="{60F3EDBE-9878-46F8-A8DA-861D04E2D8E9}"/>
              </a:ext>
            </a:extLst>
          </p:cNvPr>
          <p:cNvSpPr>
            <a:spLocks noGrp="1"/>
          </p:cNvSpPr>
          <p:nvPr/>
        </p:nvSpPr>
        <p:spPr>
          <a:xfrm>
            <a:off x="85725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ESPACIO DE DIRECCIONES</a:t>
            </a:r>
          </a:p>
        </p:txBody>
      </p:sp>
      <p:sp>
        <p:nvSpPr>
          <p:cNvPr id="10" name="Rectángulo 9">
            <a:extLst>
              <a:ext uri="{FF2B5EF4-FFF2-40B4-BE49-F238E27FC236}">
                <a16:creationId xmlns:a16="http://schemas.microsoft.com/office/drawing/2014/main" id="{72D10887-A8A5-46EF-B1BC-C5606E97531B}"/>
              </a:ext>
            </a:extLst>
          </p:cNvPr>
          <p:cNvSpPr>
            <a:spLocks noGrp="1"/>
          </p:cNvSpPr>
          <p:nvPr/>
        </p:nvSpPr>
        <p:spPr>
          <a:xfrm>
            <a:off x="85725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vista lógica de la memoria de un proceso</a:t>
            </a:r>
          </a:p>
        </p:txBody>
      </p:sp>
      <p:sp>
        <p:nvSpPr>
          <p:cNvPr id="11" name="Elipse 10">
            <a:extLst>
              <a:ext uri="{FF2B5EF4-FFF2-40B4-BE49-F238E27FC236}">
                <a16:creationId xmlns:a16="http://schemas.microsoft.com/office/drawing/2014/main" id="{E4F8037D-C3E4-415D-9D24-0B6DDF9A2DD3}"/>
              </a:ext>
            </a:extLst>
          </p:cNvPr>
          <p:cNvSpPr>
            <a:spLocks noGrp="1"/>
          </p:cNvSpPr>
          <p:nvPr/>
        </p:nvSpPr>
        <p:spPr>
          <a:xfrm>
            <a:off x="2933700" y="2057400"/>
            <a:ext cx="209550" cy="209550"/>
          </a:xfrm>
          <a:prstGeom prst="ellipse">
            <a:avLst/>
          </a:prstGeom>
          <a:solidFill>
            <a:srgbClr val="2D6FB7"/>
          </a:solidFill>
          <a:ln w="0">
            <a:solidFill>
              <a:srgbClr val="2D6FB7"/>
            </a:solidFill>
            <a:prstDash val="solid"/>
          </a:ln>
        </p:spPr>
        <p:txBody>
          <a:bodyPr/>
          <a:lstStyle/>
          <a:p>
            <a:endParaRPr lang="es-MX"/>
          </a:p>
        </p:txBody>
      </p:sp>
      <p:sp>
        <p:nvSpPr>
          <p:cNvPr id="12" name="Rectángulo 11">
            <a:extLst>
              <a:ext uri="{FF2B5EF4-FFF2-40B4-BE49-F238E27FC236}">
                <a16:creationId xmlns:a16="http://schemas.microsoft.com/office/drawing/2014/main" id="{13E9ED09-FC37-4A50-BBFC-87884F1DB245}"/>
              </a:ext>
            </a:extLst>
          </p:cNvPr>
          <p:cNvSpPr>
            <a:spLocks noGrp="1"/>
          </p:cNvSpPr>
          <p:nvPr/>
        </p:nvSpPr>
        <p:spPr>
          <a:xfrm>
            <a:off x="266700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dirty="0">
                <a:solidFill>
                  <a:srgbClr val="101820"/>
                </a:solidFill>
                <a:latin typeface="Bahnschrift"/>
                <a:ea typeface="Bahnschrift"/>
                <a:cs typeface="Bahnschrift"/>
              </a:rPr>
              <a:t>MEMORIA VIRTUAL</a:t>
            </a:r>
          </a:p>
        </p:txBody>
      </p:sp>
      <p:sp>
        <p:nvSpPr>
          <p:cNvPr id="13" name="Rectángulo 12">
            <a:extLst>
              <a:ext uri="{FF2B5EF4-FFF2-40B4-BE49-F238E27FC236}">
                <a16:creationId xmlns:a16="http://schemas.microsoft.com/office/drawing/2014/main" id="{C77CB940-81DA-4E5B-BE0E-4E3A4FC1F5D8}"/>
              </a:ext>
            </a:extLst>
          </p:cNvPr>
          <p:cNvSpPr>
            <a:spLocks noGrp="1"/>
          </p:cNvSpPr>
          <p:nvPr/>
        </p:nvSpPr>
        <p:spPr>
          <a:xfrm>
            <a:off x="266700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separa la memoria lógica de la física</a:t>
            </a:r>
          </a:p>
        </p:txBody>
      </p:sp>
      <p:sp>
        <p:nvSpPr>
          <p:cNvPr id="14" name="Elipse 13">
            <a:extLst>
              <a:ext uri="{FF2B5EF4-FFF2-40B4-BE49-F238E27FC236}">
                <a16:creationId xmlns:a16="http://schemas.microsoft.com/office/drawing/2014/main" id="{45CDB758-6F54-4837-BE38-25F31C5BF3D6}"/>
              </a:ext>
            </a:extLst>
          </p:cNvPr>
          <p:cNvSpPr>
            <a:spLocks noGrp="1"/>
          </p:cNvSpPr>
          <p:nvPr/>
        </p:nvSpPr>
        <p:spPr>
          <a:xfrm>
            <a:off x="4743450" y="2057400"/>
            <a:ext cx="209550" cy="209550"/>
          </a:xfrm>
          <a:prstGeom prst="ellipse">
            <a:avLst/>
          </a:prstGeom>
          <a:solidFill>
            <a:srgbClr val="123A61"/>
          </a:solidFill>
          <a:ln w="0">
            <a:solidFill>
              <a:srgbClr val="123A61"/>
            </a:solidFill>
            <a:prstDash val="solid"/>
          </a:ln>
        </p:spPr>
        <p:txBody>
          <a:bodyPr/>
          <a:lstStyle/>
          <a:p>
            <a:endParaRPr lang="es-MX"/>
          </a:p>
        </p:txBody>
      </p:sp>
      <p:sp>
        <p:nvSpPr>
          <p:cNvPr id="15" name="Rectángulo 14">
            <a:extLst>
              <a:ext uri="{FF2B5EF4-FFF2-40B4-BE49-F238E27FC236}">
                <a16:creationId xmlns:a16="http://schemas.microsoft.com/office/drawing/2014/main" id="{B90AC28D-DB50-49A9-B4EB-AF0A1E59BAC4}"/>
              </a:ext>
            </a:extLst>
          </p:cNvPr>
          <p:cNvSpPr>
            <a:spLocks noGrp="1"/>
          </p:cNvSpPr>
          <p:nvPr/>
        </p:nvSpPr>
        <p:spPr>
          <a:xfrm>
            <a:off x="447675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E/S</a:t>
            </a:r>
          </a:p>
        </p:txBody>
      </p:sp>
      <p:sp>
        <p:nvSpPr>
          <p:cNvPr id="16" name="Rectángulo 15">
            <a:extLst>
              <a:ext uri="{FF2B5EF4-FFF2-40B4-BE49-F238E27FC236}">
                <a16:creationId xmlns:a16="http://schemas.microsoft.com/office/drawing/2014/main" id="{4EB75917-C921-4B25-9846-48CA413F04C4}"/>
              </a:ext>
            </a:extLst>
          </p:cNvPr>
          <p:cNvSpPr>
            <a:spLocks noGrp="1"/>
          </p:cNvSpPr>
          <p:nvPr/>
        </p:nvSpPr>
        <p:spPr>
          <a:xfrm>
            <a:off x="447675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intercambio con dispositivos</a:t>
            </a:r>
          </a:p>
        </p:txBody>
      </p:sp>
      <p:sp>
        <p:nvSpPr>
          <p:cNvPr id="17" name="Elipse 16">
            <a:extLst>
              <a:ext uri="{FF2B5EF4-FFF2-40B4-BE49-F238E27FC236}">
                <a16:creationId xmlns:a16="http://schemas.microsoft.com/office/drawing/2014/main" id="{B52A2B2A-D3D2-42F2-B2D7-58E5216A5881}"/>
              </a:ext>
            </a:extLst>
          </p:cNvPr>
          <p:cNvSpPr>
            <a:spLocks noGrp="1"/>
          </p:cNvSpPr>
          <p:nvPr/>
        </p:nvSpPr>
        <p:spPr>
          <a:xfrm>
            <a:off x="6553200" y="2057400"/>
            <a:ext cx="209550" cy="209550"/>
          </a:xfrm>
          <a:prstGeom prst="ellipse">
            <a:avLst/>
          </a:prstGeom>
          <a:solidFill>
            <a:srgbClr val="2D6FB7"/>
          </a:solidFill>
          <a:ln w="0">
            <a:solidFill>
              <a:srgbClr val="2D6FB7"/>
            </a:solidFill>
            <a:prstDash val="solid"/>
          </a:ln>
        </p:spPr>
        <p:txBody>
          <a:bodyPr/>
          <a:lstStyle/>
          <a:p>
            <a:endParaRPr lang="es-MX"/>
          </a:p>
        </p:txBody>
      </p:sp>
      <p:sp>
        <p:nvSpPr>
          <p:cNvPr id="18" name="Rectángulo 17">
            <a:extLst>
              <a:ext uri="{FF2B5EF4-FFF2-40B4-BE49-F238E27FC236}">
                <a16:creationId xmlns:a16="http://schemas.microsoft.com/office/drawing/2014/main" id="{D3D47ADC-2059-467A-94EE-E296A1C121BF}"/>
              </a:ext>
            </a:extLst>
          </p:cNvPr>
          <p:cNvSpPr>
            <a:spLocks noGrp="1"/>
          </p:cNvSpPr>
          <p:nvPr/>
        </p:nvSpPr>
        <p:spPr>
          <a:xfrm>
            <a:off x="628650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DEVICE DRIVER</a:t>
            </a:r>
          </a:p>
        </p:txBody>
      </p:sp>
      <p:sp>
        <p:nvSpPr>
          <p:cNvPr id="19" name="Rectángulo 18">
            <a:extLst>
              <a:ext uri="{FF2B5EF4-FFF2-40B4-BE49-F238E27FC236}">
                <a16:creationId xmlns:a16="http://schemas.microsoft.com/office/drawing/2014/main" id="{6009F242-7AD9-4424-9569-76FDCA62CC76}"/>
              </a:ext>
            </a:extLst>
          </p:cNvPr>
          <p:cNvSpPr>
            <a:spLocks noGrp="1"/>
          </p:cNvSpPr>
          <p:nvPr/>
        </p:nvSpPr>
        <p:spPr>
          <a:xfrm>
            <a:off x="628650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traduce una interfaz uniforme al dispositivo</a:t>
            </a:r>
          </a:p>
        </p:txBody>
      </p:sp>
      <p:sp>
        <p:nvSpPr>
          <p:cNvPr id="20" name="Elipse 19">
            <a:extLst>
              <a:ext uri="{FF2B5EF4-FFF2-40B4-BE49-F238E27FC236}">
                <a16:creationId xmlns:a16="http://schemas.microsoft.com/office/drawing/2014/main" id="{F8631218-83CD-423D-8C0C-131300CFFD9D}"/>
              </a:ext>
            </a:extLst>
          </p:cNvPr>
          <p:cNvSpPr>
            <a:spLocks noGrp="1"/>
          </p:cNvSpPr>
          <p:nvPr/>
        </p:nvSpPr>
        <p:spPr>
          <a:xfrm>
            <a:off x="8362950" y="2057400"/>
            <a:ext cx="209550" cy="209550"/>
          </a:xfrm>
          <a:prstGeom prst="ellipse">
            <a:avLst/>
          </a:prstGeom>
          <a:solidFill>
            <a:srgbClr val="123A61"/>
          </a:solidFill>
          <a:ln w="0">
            <a:solidFill>
              <a:srgbClr val="123A61"/>
            </a:solidFill>
            <a:prstDash val="solid"/>
          </a:ln>
        </p:spPr>
        <p:txBody>
          <a:bodyPr/>
          <a:lstStyle/>
          <a:p>
            <a:endParaRPr lang="es-MX"/>
          </a:p>
        </p:txBody>
      </p:sp>
      <p:sp>
        <p:nvSpPr>
          <p:cNvPr id="21" name="Rectángulo 20">
            <a:extLst>
              <a:ext uri="{FF2B5EF4-FFF2-40B4-BE49-F238E27FC236}">
                <a16:creationId xmlns:a16="http://schemas.microsoft.com/office/drawing/2014/main" id="{D28AFD2B-7C8C-402B-9E5E-78EA63F99BB0}"/>
              </a:ext>
            </a:extLst>
          </p:cNvPr>
          <p:cNvSpPr>
            <a:spLocks noGrp="1"/>
          </p:cNvSpPr>
          <p:nvPr/>
        </p:nvSpPr>
        <p:spPr>
          <a:xfrm>
            <a:off x="809625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SISTEMA DE ARCHIVOS</a:t>
            </a:r>
          </a:p>
        </p:txBody>
      </p:sp>
      <p:sp>
        <p:nvSpPr>
          <p:cNvPr id="22" name="Rectángulo 21">
            <a:extLst>
              <a:ext uri="{FF2B5EF4-FFF2-40B4-BE49-F238E27FC236}">
                <a16:creationId xmlns:a16="http://schemas.microsoft.com/office/drawing/2014/main" id="{6254C4DB-69D6-4207-BF75-724A6616C121}"/>
              </a:ext>
            </a:extLst>
          </p:cNvPr>
          <p:cNvSpPr>
            <a:spLocks noGrp="1"/>
          </p:cNvSpPr>
          <p:nvPr/>
        </p:nvSpPr>
        <p:spPr>
          <a:xfrm>
            <a:off x="809625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organiza y recupera datos persistentes</a:t>
            </a:r>
          </a:p>
        </p:txBody>
      </p:sp>
      <p:sp>
        <p:nvSpPr>
          <p:cNvPr id="23" name="Elipse 22">
            <a:extLst>
              <a:ext uri="{FF2B5EF4-FFF2-40B4-BE49-F238E27FC236}">
                <a16:creationId xmlns:a16="http://schemas.microsoft.com/office/drawing/2014/main" id="{15DFFD17-B829-4120-BFC6-A640ED097935}"/>
              </a:ext>
            </a:extLst>
          </p:cNvPr>
          <p:cNvSpPr>
            <a:spLocks noGrp="1"/>
          </p:cNvSpPr>
          <p:nvPr/>
        </p:nvSpPr>
        <p:spPr>
          <a:xfrm>
            <a:off x="10172700" y="2057400"/>
            <a:ext cx="209550" cy="209550"/>
          </a:xfrm>
          <a:prstGeom prst="ellipse">
            <a:avLst/>
          </a:prstGeom>
          <a:solidFill>
            <a:srgbClr val="2D6FB7"/>
          </a:solidFill>
          <a:ln w="0">
            <a:solidFill>
              <a:srgbClr val="2D6FB7"/>
            </a:solidFill>
            <a:prstDash val="solid"/>
          </a:ln>
        </p:spPr>
        <p:txBody>
          <a:bodyPr/>
          <a:lstStyle/>
          <a:p>
            <a:endParaRPr lang="es-MX"/>
          </a:p>
        </p:txBody>
      </p:sp>
      <p:sp>
        <p:nvSpPr>
          <p:cNvPr id="24" name="Rectángulo 23">
            <a:extLst>
              <a:ext uri="{FF2B5EF4-FFF2-40B4-BE49-F238E27FC236}">
                <a16:creationId xmlns:a16="http://schemas.microsoft.com/office/drawing/2014/main" id="{ACB5036A-4E2A-4E79-B0FE-8DD21D3F9FA6}"/>
              </a:ext>
            </a:extLst>
          </p:cNvPr>
          <p:cNvSpPr>
            <a:spLocks noGrp="1"/>
          </p:cNvSpPr>
          <p:nvPr/>
        </p:nvSpPr>
        <p:spPr>
          <a:xfrm>
            <a:off x="9906000" y="2571750"/>
            <a:ext cx="1666875" cy="55245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PROTECCIÓN</a:t>
            </a:r>
          </a:p>
        </p:txBody>
      </p:sp>
      <p:sp>
        <p:nvSpPr>
          <p:cNvPr id="25" name="Rectángulo 24">
            <a:extLst>
              <a:ext uri="{FF2B5EF4-FFF2-40B4-BE49-F238E27FC236}">
                <a16:creationId xmlns:a16="http://schemas.microsoft.com/office/drawing/2014/main" id="{C3AED119-F1E9-42C6-A711-E50D983A845B}"/>
              </a:ext>
            </a:extLst>
          </p:cNvPr>
          <p:cNvSpPr>
            <a:spLocks noGrp="1"/>
          </p:cNvSpPr>
          <p:nvPr/>
        </p:nvSpPr>
        <p:spPr>
          <a:xfrm>
            <a:off x="9906000" y="3295650"/>
            <a:ext cx="1666875" cy="1123950"/>
          </a:xfrm>
          <a:prstGeom prst="rect">
            <a:avLst/>
          </a:prstGeom>
          <a:noFill/>
          <a:ln w="0">
            <a:noFill/>
            <a:prstDash val="solid"/>
          </a:ln>
        </p:spPr>
        <p:txBody>
          <a:bodyPr lIns="0" tIns="0" rIns="0" bIns="0" anchor="t">
            <a:normAutofit/>
          </a:bodyPr>
          <a:lstStyle/>
          <a:p>
            <a:pPr algn="ctr">
              <a:lnSpc>
                <a:spcPct val="100000"/>
              </a:lnSpc>
              <a:buNone/>
              <a:defRPr sz="1350" b="0">
                <a:solidFill>
                  <a:srgbClr val="667483"/>
                </a:solidFill>
                <a:latin typeface="Arial"/>
                <a:ea typeface="Arial"/>
                <a:cs typeface="Arial"/>
              </a:defRPr>
            </a:pPr>
            <a:r>
              <a:rPr sz="1350" b="0">
                <a:solidFill>
                  <a:srgbClr val="667483"/>
                </a:solidFill>
                <a:latin typeface="Arial"/>
                <a:ea typeface="Arial"/>
                <a:cs typeface="Arial"/>
              </a:rPr>
              <a:t>controla el acceso a recursos</a:t>
            </a:r>
          </a:p>
        </p:txBody>
      </p:sp>
      <p:sp>
        <p:nvSpPr>
          <p:cNvPr id="26" name="Rectángulo 25">
            <a:extLst>
              <a:ext uri="{FF2B5EF4-FFF2-40B4-BE49-F238E27FC236}">
                <a16:creationId xmlns:a16="http://schemas.microsoft.com/office/drawing/2014/main" id="{92C69E33-8137-4C00-B803-E1117EE3A640}"/>
              </a:ext>
            </a:extLst>
          </p:cNvPr>
          <p:cNvSpPr>
            <a:spLocks noGrp="1"/>
          </p:cNvSpPr>
          <p:nvPr/>
        </p:nvSpPr>
        <p:spPr>
          <a:xfrm>
            <a:off x="1428750" y="5391150"/>
            <a:ext cx="9334500" cy="476250"/>
          </a:xfrm>
          <a:prstGeom prst="rect">
            <a:avLst/>
          </a:prstGeom>
          <a:noFill/>
          <a:ln w="0">
            <a:noFill/>
            <a:prstDash val="solid"/>
          </a:ln>
        </p:spPr>
        <p:txBody>
          <a:bodyPr lIns="0" tIns="0" rIns="0" bIns="0" anchor="t">
            <a:normAutofit fontScale="98935"/>
          </a:bodyPr>
          <a:lstStyle/>
          <a:p>
            <a:pPr algn="ctr">
              <a:lnSpc>
                <a:spcPct val="100000"/>
              </a:lnSpc>
              <a:buNone/>
              <a:defRPr sz="1800" b="0">
                <a:solidFill>
                  <a:srgbClr val="101820"/>
                </a:solidFill>
                <a:latin typeface="Bahnschrift"/>
                <a:ea typeface="Bahnschrift"/>
                <a:cs typeface="Bahnschrift"/>
              </a:defRPr>
            </a:pPr>
            <a:r>
              <a:rPr sz="1800" b="0">
                <a:solidFill>
                  <a:srgbClr val="101820"/>
                </a:solidFill>
                <a:latin typeface="Bahnschrift"/>
                <a:ea typeface="Bahnschrift"/>
                <a:cs typeface="Bahnschrift"/>
              </a:rPr>
              <a:t>Los términos describen cómo el sistema abstrae, conserva y limita el uso de la información.</a:t>
            </a:r>
          </a:p>
        </p:txBody>
      </p:sp>
    </p:spTree>
    <p:extLst>
      <p:ext uri="{BB962C8B-B14F-4D97-AF65-F5344CB8AC3E}">
        <p14:creationId xmlns:p14="http://schemas.microsoft.com/office/powerpoint/2010/main" val="289016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1F07EDDB-2F02-46C3-A28A-0D2BF0FE4DFD}"/>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7 · PARTES DEL SISTEMA</a:t>
            </a:r>
          </a:p>
        </p:txBody>
      </p:sp>
      <p:sp>
        <p:nvSpPr>
          <p:cNvPr id="2" name="Rectángulo 1">
            <a:extLst>
              <a:ext uri="{FF2B5EF4-FFF2-40B4-BE49-F238E27FC236}">
                <a16:creationId xmlns:a16="http://schemas.microsoft.com/office/drawing/2014/main" id="{4D16FCD7-50C0-4ED2-9C2A-36A76F9B3DFD}"/>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El núcleo es el centro, pero no es todo</a:t>
            </a:r>
          </a:p>
        </p:txBody>
      </p:sp>
      <p:sp>
        <p:nvSpPr>
          <p:cNvPr id="3" name="Conector recto 2">
            <a:extLst>
              <a:ext uri="{FF2B5EF4-FFF2-40B4-BE49-F238E27FC236}">
                <a16:creationId xmlns:a16="http://schemas.microsoft.com/office/drawing/2014/main" id="{06910362-1CF3-4329-BE29-2A1E18EF2F79}"/>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18AD2D57-0ACD-42A5-BD18-9427579ED517}"/>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15079432-489E-4969-A634-167AF3836E9C}"/>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7 · PARTES DEL SISTEMA</a:t>
            </a:r>
          </a:p>
        </p:txBody>
      </p:sp>
      <p:sp>
        <p:nvSpPr>
          <p:cNvPr id="6" name="Rectángulo 5">
            <a:extLst>
              <a:ext uri="{FF2B5EF4-FFF2-40B4-BE49-F238E27FC236}">
                <a16:creationId xmlns:a16="http://schemas.microsoft.com/office/drawing/2014/main" id="{20CC7030-F41B-4A20-9A5A-4A5A3F772CA1}"/>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11</a:t>
            </a:r>
          </a:p>
        </p:txBody>
      </p:sp>
      <p:sp>
        <p:nvSpPr>
          <p:cNvPr id="7" name="Rectángulo 6">
            <a:extLst>
              <a:ext uri="{FF2B5EF4-FFF2-40B4-BE49-F238E27FC236}">
                <a16:creationId xmlns:a16="http://schemas.microsoft.com/office/drawing/2014/main" id="{214125AB-0115-4BD1-8194-7AC180628036}"/>
              </a:ext>
            </a:extLst>
          </p:cNvPr>
          <p:cNvSpPr>
            <a:spLocks noGrp="1"/>
          </p:cNvSpPr>
          <p:nvPr/>
        </p:nvSpPr>
        <p:spPr>
          <a:xfrm>
            <a:off x="1619250" y="1847850"/>
            <a:ext cx="8953500" cy="590550"/>
          </a:xfrm>
          <a:prstGeom prst="rect">
            <a:avLst/>
          </a:prstGeom>
          <a:solidFill>
            <a:srgbClr val="17283A"/>
          </a:solidFill>
          <a:ln w="9525">
            <a:solidFill>
              <a:srgbClr val="31506C"/>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INTERFACES Y APLICACIONES</a:t>
            </a:r>
          </a:p>
        </p:txBody>
      </p:sp>
      <p:sp>
        <p:nvSpPr>
          <p:cNvPr id="8" name="Rectángulo 7">
            <a:extLst>
              <a:ext uri="{FF2B5EF4-FFF2-40B4-BE49-F238E27FC236}">
                <a16:creationId xmlns:a16="http://schemas.microsoft.com/office/drawing/2014/main" id="{39DF2CB4-A2E1-458A-9314-6BE64047A36D}"/>
              </a:ext>
            </a:extLst>
          </p:cNvPr>
          <p:cNvSpPr>
            <a:spLocks noGrp="1"/>
          </p:cNvSpPr>
          <p:nvPr/>
        </p:nvSpPr>
        <p:spPr>
          <a:xfrm>
            <a:off x="2095500" y="2609850"/>
            <a:ext cx="8001000" cy="666750"/>
          </a:xfrm>
          <a:prstGeom prst="rect">
            <a:avLst/>
          </a:prstGeom>
          <a:solidFill>
            <a:srgbClr val="123A61"/>
          </a:solidFill>
          <a:ln w="9525">
            <a:solidFill>
              <a:srgbClr val="31506C"/>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PROGRAMAS DE SISTEMA + MIDDLEWARE</a:t>
            </a:r>
          </a:p>
        </p:txBody>
      </p:sp>
      <p:sp>
        <p:nvSpPr>
          <p:cNvPr id="9" name="Rectángulo 8">
            <a:extLst>
              <a:ext uri="{FF2B5EF4-FFF2-40B4-BE49-F238E27FC236}">
                <a16:creationId xmlns:a16="http://schemas.microsoft.com/office/drawing/2014/main" id="{090CA737-11B3-4866-A19D-445BB6FD5DA4}"/>
              </a:ext>
            </a:extLst>
          </p:cNvPr>
          <p:cNvSpPr>
            <a:spLocks noGrp="1"/>
          </p:cNvSpPr>
          <p:nvPr/>
        </p:nvSpPr>
        <p:spPr>
          <a:xfrm>
            <a:off x="2571750" y="3448050"/>
            <a:ext cx="7048500" cy="590550"/>
          </a:xfrm>
          <a:prstGeom prst="rect">
            <a:avLst/>
          </a:prstGeom>
          <a:solidFill>
            <a:srgbClr val="2D6FB7"/>
          </a:solidFill>
          <a:ln w="9525">
            <a:solidFill>
              <a:srgbClr val="31506C"/>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INTERFAZ DE LLAMADAS AL SISTEMA</a:t>
            </a:r>
          </a:p>
        </p:txBody>
      </p:sp>
      <p:sp>
        <p:nvSpPr>
          <p:cNvPr id="10" name="Rectángulo 9">
            <a:extLst>
              <a:ext uri="{FF2B5EF4-FFF2-40B4-BE49-F238E27FC236}">
                <a16:creationId xmlns:a16="http://schemas.microsoft.com/office/drawing/2014/main" id="{8D921710-2EB3-437F-8B2B-08DC4724C0C2}"/>
              </a:ext>
            </a:extLst>
          </p:cNvPr>
          <p:cNvSpPr>
            <a:spLocks noGrp="1"/>
          </p:cNvSpPr>
          <p:nvPr/>
        </p:nvSpPr>
        <p:spPr>
          <a:xfrm>
            <a:off x="3238500" y="4210050"/>
            <a:ext cx="5715000" cy="781050"/>
          </a:xfrm>
          <a:prstGeom prst="rect">
            <a:avLst/>
          </a:prstGeom>
          <a:solidFill>
            <a:srgbClr val="215D92"/>
          </a:solidFill>
          <a:ln w="9525">
            <a:solidFill>
              <a:srgbClr val="31506C"/>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KERNEL / NÚCLEO</a:t>
            </a:r>
          </a:p>
        </p:txBody>
      </p:sp>
      <p:sp>
        <p:nvSpPr>
          <p:cNvPr id="11" name="Rectángulo 10">
            <a:extLst>
              <a:ext uri="{FF2B5EF4-FFF2-40B4-BE49-F238E27FC236}">
                <a16:creationId xmlns:a16="http://schemas.microsoft.com/office/drawing/2014/main" id="{E307EC06-E37F-4BB9-B24A-C1D664F2634E}"/>
              </a:ext>
            </a:extLst>
          </p:cNvPr>
          <p:cNvSpPr>
            <a:spLocks noGrp="1"/>
          </p:cNvSpPr>
          <p:nvPr/>
        </p:nvSpPr>
        <p:spPr>
          <a:xfrm>
            <a:off x="3905250" y="5162550"/>
            <a:ext cx="4381500" cy="590550"/>
          </a:xfrm>
          <a:prstGeom prst="rect">
            <a:avLst/>
          </a:prstGeom>
          <a:solidFill>
            <a:srgbClr val="101820"/>
          </a:solidFill>
          <a:ln w="9525">
            <a:solidFill>
              <a:srgbClr val="31506C"/>
            </a:solidFill>
            <a:prstDash val="solid"/>
          </a:ln>
        </p:spPr>
        <p:txBody>
          <a:bodyPr lIns="76200" tIns="38100" rIns="76200" bIns="38100" anchor="ctr">
            <a:normAutofit/>
          </a:bodyPr>
          <a:lstStyle/>
          <a:p>
            <a:pPr algn="ctr">
              <a:defRPr sz="1425" b="1">
                <a:solidFill>
                  <a:srgbClr val="F8FAFC"/>
                </a:solidFill>
                <a:latin typeface="Bahnschrift"/>
                <a:ea typeface="Bahnschrift"/>
                <a:cs typeface="Bahnschrift"/>
              </a:defRPr>
            </a:pPr>
            <a:r>
              <a:rPr sz="1425" b="1">
                <a:solidFill>
                  <a:srgbClr val="F8FAFC"/>
                </a:solidFill>
                <a:latin typeface="Bahnschrift"/>
                <a:ea typeface="Bahnschrift"/>
                <a:cs typeface="Bahnschrift"/>
              </a:rPr>
              <a:t>HARDWARE</a:t>
            </a:r>
          </a:p>
        </p:txBody>
      </p:sp>
      <p:sp>
        <p:nvSpPr>
          <p:cNvPr id="12" name="Rectángulo 11">
            <a:extLst>
              <a:ext uri="{FF2B5EF4-FFF2-40B4-BE49-F238E27FC236}">
                <a16:creationId xmlns:a16="http://schemas.microsoft.com/office/drawing/2014/main" id="{AB6F1246-B0B7-4621-ABAC-D3ADAD95ABC8}"/>
              </a:ext>
            </a:extLst>
          </p:cNvPr>
          <p:cNvSpPr>
            <a:spLocks noGrp="1"/>
          </p:cNvSpPr>
          <p:nvPr/>
        </p:nvSpPr>
        <p:spPr>
          <a:xfrm>
            <a:off x="9067800" y="4438650"/>
            <a:ext cx="1619250" cy="266700"/>
          </a:xfrm>
          <a:prstGeom prst="rect">
            <a:avLst/>
          </a:prstGeom>
          <a:noFill/>
          <a:ln w="0">
            <a:noFill/>
            <a:prstDash val="solid"/>
          </a:ln>
        </p:spPr>
        <p:txBody>
          <a:bodyPr lIns="0" tIns="0" rIns="0" bIns="0" anchor="t">
            <a:normAutofit/>
          </a:bodyPr>
          <a:lstStyle/>
          <a:p>
            <a:pPr algn="l">
              <a:lnSpc>
                <a:spcPct val="100000"/>
              </a:lnSpc>
              <a:buNone/>
              <a:defRPr sz="1275" b="0">
                <a:solidFill>
                  <a:srgbClr val="5A9BDC"/>
                </a:solidFill>
                <a:latin typeface="Bahnschrift"/>
                <a:ea typeface="Bahnschrift"/>
                <a:cs typeface="Bahnschrift"/>
              </a:defRPr>
            </a:pPr>
            <a:r>
              <a:rPr sz="1275" b="0">
                <a:solidFill>
                  <a:srgbClr val="5A9BDC"/>
                </a:solidFill>
                <a:latin typeface="Bahnschrift"/>
                <a:ea typeface="Bahnschrift"/>
                <a:cs typeface="Bahnschrift"/>
              </a:rPr>
              <a:t>siempre activo</a:t>
            </a:r>
          </a:p>
        </p:txBody>
      </p:sp>
      <p:sp>
        <p:nvSpPr>
          <p:cNvPr id="13" name="Conector recto 12">
            <a:extLst>
              <a:ext uri="{FF2B5EF4-FFF2-40B4-BE49-F238E27FC236}">
                <a16:creationId xmlns:a16="http://schemas.microsoft.com/office/drawing/2014/main" id="{BA21C5BF-FEC4-4F51-9D4C-E8A5F83F5FB2}"/>
              </a:ext>
            </a:extLst>
          </p:cNvPr>
          <p:cNvSpPr>
            <a:spLocks noGrp="1"/>
          </p:cNvSpPr>
          <p:nvPr/>
        </p:nvSpPr>
        <p:spPr>
          <a:xfrm>
            <a:off x="8877300" y="4581525"/>
            <a:ext cx="171450" cy="0"/>
          </a:xfrm>
          <a:prstGeom prst="line">
            <a:avLst/>
          </a:prstGeom>
          <a:noFill/>
          <a:ln w="19050">
            <a:solidFill>
              <a:srgbClr val="5A9BDC"/>
            </a:solidFill>
            <a:prstDash val="solid"/>
          </a:ln>
        </p:spPr>
        <p:txBody>
          <a:bodyPr/>
          <a:lstStyle/>
          <a:p>
            <a:endParaRPr lang="es-MX"/>
          </a:p>
        </p:txBody>
      </p:sp>
      <p:sp>
        <p:nvSpPr>
          <p:cNvPr id="14" name="Rectángulo 13">
            <a:extLst>
              <a:ext uri="{FF2B5EF4-FFF2-40B4-BE49-F238E27FC236}">
                <a16:creationId xmlns:a16="http://schemas.microsoft.com/office/drawing/2014/main" id="{25D14644-1D69-42AB-B2EF-E5A2AF2C9237}"/>
              </a:ext>
            </a:extLst>
          </p:cNvPr>
          <p:cNvSpPr>
            <a:spLocks noGrp="1"/>
          </p:cNvSpPr>
          <p:nvPr/>
        </p:nvSpPr>
        <p:spPr>
          <a:xfrm>
            <a:off x="704850" y="5848350"/>
            <a:ext cx="8763000" cy="323850"/>
          </a:xfrm>
          <a:prstGeom prst="rect">
            <a:avLst/>
          </a:prstGeom>
          <a:noFill/>
          <a:ln w="0">
            <a:noFill/>
            <a:prstDash val="solid"/>
          </a:ln>
        </p:spPr>
        <p:txBody>
          <a:bodyPr lIns="0" tIns="0" rIns="0" bIns="0" anchor="t">
            <a:normAutofit/>
          </a:bodyPr>
          <a:lstStyle/>
          <a:p>
            <a:pPr algn="l">
              <a:lnSpc>
                <a:spcPct val="100000"/>
              </a:lnSpc>
              <a:buNone/>
              <a:defRPr sz="1500" b="0">
                <a:solidFill>
                  <a:srgbClr val="AEB9C5"/>
                </a:solidFill>
                <a:latin typeface="Arial"/>
                <a:ea typeface="Arial"/>
                <a:cs typeface="Arial"/>
              </a:defRPr>
            </a:pPr>
            <a:r>
              <a:rPr sz="1500" b="0">
                <a:solidFill>
                  <a:srgbClr val="AEB9C5"/>
                </a:solidFill>
                <a:latin typeface="Arial"/>
                <a:ea typeface="Arial"/>
                <a:cs typeface="Arial"/>
              </a:rPr>
              <a:t>Las capas superiores extienden los servicios y ofrecen formas de interacción.</a:t>
            </a:r>
          </a:p>
        </p:txBody>
      </p:sp>
    </p:spTree>
    <p:extLst>
      <p:ext uri="{BB962C8B-B14F-4D97-AF65-F5344CB8AC3E}">
        <p14:creationId xmlns:p14="http://schemas.microsoft.com/office/powerpoint/2010/main" val="2013171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37" name="Rectángulo 36">
            <a:extLst>
              <a:ext uri="{FF2B5EF4-FFF2-40B4-BE49-F238E27FC236}">
                <a16:creationId xmlns:a16="http://schemas.microsoft.com/office/drawing/2014/main" id="{90628208-8DE3-4CA1-B4FE-47FC0CA48DEE}"/>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7 · PARTES DEL SISTEMA</a:t>
            </a:r>
          </a:p>
        </p:txBody>
      </p:sp>
      <p:sp>
        <p:nvSpPr>
          <p:cNvPr id="2" name="Rectángulo 1">
            <a:extLst>
              <a:ext uri="{FF2B5EF4-FFF2-40B4-BE49-F238E27FC236}">
                <a16:creationId xmlns:a16="http://schemas.microsoft.com/office/drawing/2014/main" id="{2B00BBE6-C751-45B1-B2D7-C021F20BDFAA}"/>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La arquitectura organiza el núcleo</a:t>
            </a:r>
          </a:p>
        </p:txBody>
      </p:sp>
      <p:sp>
        <p:nvSpPr>
          <p:cNvPr id="3" name="Conector recto 2">
            <a:extLst>
              <a:ext uri="{FF2B5EF4-FFF2-40B4-BE49-F238E27FC236}">
                <a16:creationId xmlns:a16="http://schemas.microsoft.com/office/drawing/2014/main" id="{30DB09A4-5A52-48A8-9430-19BAFAD6F43E}"/>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62F489AD-802D-4643-B2D3-213870DE485B}"/>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8FF35F9F-A1B2-4404-92D9-087D4470250D}"/>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7 · PARTES DEL SISTEMA</a:t>
            </a:r>
          </a:p>
        </p:txBody>
      </p:sp>
      <p:sp>
        <p:nvSpPr>
          <p:cNvPr id="6" name="Rectángulo 5">
            <a:extLst>
              <a:ext uri="{FF2B5EF4-FFF2-40B4-BE49-F238E27FC236}">
                <a16:creationId xmlns:a16="http://schemas.microsoft.com/office/drawing/2014/main" id="{ED8DD76B-62A0-4DA0-A1D5-E7B1B3F34607}"/>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12</a:t>
            </a:r>
          </a:p>
        </p:txBody>
      </p:sp>
      <p:sp>
        <p:nvSpPr>
          <p:cNvPr id="7" name="Rectángulo 6">
            <a:extLst>
              <a:ext uri="{FF2B5EF4-FFF2-40B4-BE49-F238E27FC236}">
                <a16:creationId xmlns:a16="http://schemas.microsoft.com/office/drawing/2014/main" id="{E76AEF3F-CE84-4E15-B9B8-DE93C3FBFD08}"/>
              </a:ext>
            </a:extLst>
          </p:cNvPr>
          <p:cNvSpPr>
            <a:spLocks noGrp="1"/>
          </p:cNvSpPr>
          <p:nvPr/>
        </p:nvSpPr>
        <p:spPr>
          <a:xfrm>
            <a:off x="723900" y="1390650"/>
            <a:ext cx="8763000" cy="361950"/>
          </a:xfrm>
          <a:prstGeom prst="rect">
            <a:avLst/>
          </a:prstGeom>
          <a:noFill/>
          <a:ln w="0">
            <a:noFill/>
            <a:prstDash val="solid"/>
          </a:ln>
        </p:spPr>
        <p:txBody>
          <a:bodyPr lIns="0" tIns="0" rIns="0" bIns="0" anchor="t">
            <a:normAutofit fontScale="92619"/>
          </a:bodyPr>
          <a:lstStyle/>
          <a:p>
            <a:pPr algn="l">
              <a:lnSpc>
                <a:spcPct val="100000"/>
              </a:lnSpc>
              <a:buNone/>
              <a:defRPr sz="1800" b="0">
                <a:solidFill>
                  <a:srgbClr val="667483"/>
                </a:solidFill>
                <a:latin typeface="Bahnschrift"/>
                <a:ea typeface="Bahnschrift"/>
                <a:cs typeface="Bahnschrift"/>
              </a:defRPr>
            </a:pPr>
            <a:r>
              <a:rPr sz="1800" b="0">
                <a:solidFill>
                  <a:srgbClr val="667483"/>
                </a:solidFill>
                <a:latin typeface="Bahnschrift"/>
                <a:ea typeface="Bahnschrift"/>
                <a:cs typeface="Bahnschrift"/>
              </a:rPr>
              <a:t>Las funciones pueden concentrarse, separarse por capas o incorporarse mediante módulos.</a:t>
            </a:r>
          </a:p>
        </p:txBody>
      </p:sp>
      <p:sp>
        <p:nvSpPr>
          <p:cNvPr id="8" name="Rectángulo 7">
            <a:extLst>
              <a:ext uri="{FF2B5EF4-FFF2-40B4-BE49-F238E27FC236}">
                <a16:creationId xmlns:a16="http://schemas.microsoft.com/office/drawing/2014/main" id="{53FD481F-8C6A-4D25-8293-2A5D62877F30}"/>
              </a:ext>
            </a:extLst>
          </p:cNvPr>
          <p:cNvSpPr>
            <a:spLocks noGrp="1"/>
          </p:cNvSpPr>
          <p:nvPr/>
        </p:nvSpPr>
        <p:spPr>
          <a:xfrm>
            <a:off x="647700" y="2057400"/>
            <a:ext cx="1809750" cy="26670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MONOLÍTICA</a:t>
            </a:r>
          </a:p>
        </p:txBody>
      </p:sp>
      <p:sp>
        <p:nvSpPr>
          <p:cNvPr id="9" name="Rectángulo 8">
            <a:extLst>
              <a:ext uri="{FF2B5EF4-FFF2-40B4-BE49-F238E27FC236}">
                <a16:creationId xmlns:a16="http://schemas.microsoft.com/office/drawing/2014/main" id="{1031E4A3-F08F-42A1-9E39-7E848890822A}"/>
              </a:ext>
            </a:extLst>
          </p:cNvPr>
          <p:cNvSpPr>
            <a:spLocks noGrp="1"/>
          </p:cNvSpPr>
          <p:nvPr/>
        </p:nvSpPr>
        <p:spPr>
          <a:xfrm>
            <a:off x="914400" y="2705100"/>
            <a:ext cx="1276350" cy="2000250"/>
          </a:xfrm>
          <a:prstGeom prst="rect">
            <a:avLst/>
          </a:prstGeom>
          <a:solidFill>
            <a:srgbClr val="123A61"/>
          </a:solidFill>
          <a:ln w="0">
            <a:solidFill>
              <a:srgbClr val="123A61"/>
            </a:solidFill>
            <a:prstDash val="solid"/>
          </a:ln>
        </p:spPr>
        <p:txBody>
          <a:bodyPr/>
          <a:lstStyle/>
          <a:p>
            <a:endParaRPr lang="es-MX"/>
          </a:p>
        </p:txBody>
      </p:sp>
      <p:sp>
        <p:nvSpPr>
          <p:cNvPr id="10" name="Rectángulo 9">
            <a:extLst>
              <a:ext uri="{FF2B5EF4-FFF2-40B4-BE49-F238E27FC236}">
                <a16:creationId xmlns:a16="http://schemas.microsoft.com/office/drawing/2014/main" id="{0F1313E0-3F7C-4B31-AC7A-0DF2A2AAEB7F}"/>
              </a:ext>
            </a:extLst>
          </p:cNvPr>
          <p:cNvSpPr>
            <a:spLocks noGrp="1"/>
          </p:cNvSpPr>
          <p:nvPr/>
        </p:nvSpPr>
        <p:spPr>
          <a:xfrm>
            <a:off x="1009650" y="3295650"/>
            <a:ext cx="1085850" cy="647700"/>
          </a:xfrm>
          <a:prstGeom prst="rect">
            <a:avLst/>
          </a:prstGeom>
          <a:noFill/>
          <a:ln w="0">
            <a:noFill/>
            <a:prstDash val="solid"/>
          </a:ln>
        </p:spPr>
        <p:txBody>
          <a:bodyPr lIns="0" tIns="0" rIns="0" bIns="0" anchor="ctr">
            <a:normAutofit/>
          </a:bodyPr>
          <a:lstStyle/>
          <a:p>
            <a:pPr algn="ctr">
              <a:lnSpc>
                <a:spcPct val="100000"/>
              </a:lnSpc>
              <a:buNone/>
              <a:defRPr sz="1350" b="0">
                <a:solidFill>
                  <a:srgbClr val="F8FAFC"/>
                </a:solidFill>
                <a:latin typeface="Arial"/>
                <a:ea typeface="Arial"/>
                <a:cs typeface="Arial"/>
              </a:defRPr>
            </a:pPr>
            <a:r>
              <a:rPr sz="1350" b="0">
                <a:solidFill>
                  <a:srgbClr val="F8FAFC"/>
                </a:solidFill>
                <a:latin typeface="Arial"/>
                <a:ea typeface="Arial"/>
                <a:cs typeface="Arial"/>
              </a:rPr>
              <a:t>servicios</a:t>
            </a:r>
          </a:p>
          <a:p>
            <a:pPr algn="ctr">
              <a:lnSpc>
                <a:spcPct val="100000"/>
              </a:lnSpc>
              <a:buNone/>
              <a:defRPr sz="1350" b="0">
                <a:solidFill>
                  <a:srgbClr val="F8FAFC"/>
                </a:solidFill>
                <a:latin typeface="Arial"/>
                <a:ea typeface="Arial"/>
                <a:cs typeface="Arial"/>
              </a:defRPr>
            </a:pPr>
            <a:r>
              <a:rPr sz="1350" b="0">
                <a:solidFill>
                  <a:srgbClr val="F8FAFC"/>
                </a:solidFill>
                <a:latin typeface="Arial"/>
                <a:ea typeface="Arial"/>
                <a:cs typeface="Arial"/>
              </a:rPr>
              <a:t>en un espacio</a:t>
            </a:r>
          </a:p>
        </p:txBody>
      </p:sp>
      <p:sp>
        <p:nvSpPr>
          <p:cNvPr id="11" name="Rectángulo 10">
            <a:extLst>
              <a:ext uri="{FF2B5EF4-FFF2-40B4-BE49-F238E27FC236}">
                <a16:creationId xmlns:a16="http://schemas.microsoft.com/office/drawing/2014/main" id="{5A02B98E-3B54-4B16-8E58-5DEBBAF4329F}"/>
              </a:ext>
            </a:extLst>
          </p:cNvPr>
          <p:cNvSpPr>
            <a:spLocks noGrp="1"/>
          </p:cNvSpPr>
          <p:nvPr/>
        </p:nvSpPr>
        <p:spPr>
          <a:xfrm>
            <a:off x="647700" y="5086350"/>
            <a:ext cx="1809750" cy="4953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Arial"/>
                <a:ea typeface="Arial"/>
                <a:cs typeface="Arial"/>
              </a:defRPr>
            </a:pPr>
            <a:r>
              <a:rPr sz="1275" b="0">
                <a:solidFill>
                  <a:srgbClr val="667483"/>
                </a:solidFill>
                <a:latin typeface="Arial"/>
                <a:ea typeface="Arial"/>
                <a:cs typeface="Arial"/>
              </a:rPr>
              <a:t>simple y directa</a:t>
            </a:r>
          </a:p>
        </p:txBody>
      </p:sp>
      <p:sp>
        <p:nvSpPr>
          <p:cNvPr id="12" name="Rectángulo 11">
            <a:extLst>
              <a:ext uri="{FF2B5EF4-FFF2-40B4-BE49-F238E27FC236}">
                <a16:creationId xmlns:a16="http://schemas.microsoft.com/office/drawing/2014/main" id="{8B15355F-FEFD-4F44-B688-D0D7F9EECDB0}"/>
              </a:ext>
            </a:extLst>
          </p:cNvPr>
          <p:cNvSpPr>
            <a:spLocks noGrp="1"/>
          </p:cNvSpPr>
          <p:nvPr/>
        </p:nvSpPr>
        <p:spPr>
          <a:xfrm>
            <a:off x="2952750" y="2057400"/>
            <a:ext cx="1809750" cy="26670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POR CAPAS</a:t>
            </a:r>
          </a:p>
        </p:txBody>
      </p:sp>
      <p:sp>
        <p:nvSpPr>
          <p:cNvPr id="13" name="Rectángulo 12">
            <a:extLst>
              <a:ext uri="{FF2B5EF4-FFF2-40B4-BE49-F238E27FC236}">
                <a16:creationId xmlns:a16="http://schemas.microsoft.com/office/drawing/2014/main" id="{3D3CFEA5-0B11-460D-B9B6-248D49F7D0BC}"/>
              </a:ext>
            </a:extLst>
          </p:cNvPr>
          <p:cNvSpPr>
            <a:spLocks noGrp="1"/>
          </p:cNvSpPr>
          <p:nvPr/>
        </p:nvSpPr>
        <p:spPr>
          <a:xfrm>
            <a:off x="3181350" y="2705100"/>
            <a:ext cx="1352550" cy="400050"/>
          </a:xfrm>
          <a:prstGeom prst="rect">
            <a:avLst/>
          </a:prstGeom>
          <a:solidFill>
            <a:srgbClr val="DCEAF7"/>
          </a:solidFill>
          <a:ln w="0">
            <a:solidFill>
              <a:srgbClr val="DCEAF7"/>
            </a:solidFill>
            <a:prstDash val="solid"/>
          </a:ln>
        </p:spPr>
        <p:txBody>
          <a:bodyPr/>
          <a:lstStyle/>
          <a:p>
            <a:endParaRPr lang="es-MX"/>
          </a:p>
        </p:txBody>
      </p:sp>
      <p:sp>
        <p:nvSpPr>
          <p:cNvPr id="14" name="Rectángulo 13">
            <a:extLst>
              <a:ext uri="{FF2B5EF4-FFF2-40B4-BE49-F238E27FC236}">
                <a16:creationId xmlns:a16="http://schemas.microsoft.com/office/drawing/2014/main" id="{01250157-4509-454B-A1EF-751C1CC71F5C}"/>
              </a:ext>
            </a:extLst>
          </p:cNvPr>
          <p:cNvSpPr>
            <a:spLocks noGrp="1"/>
          </p:cNvSpPr>
          <p:nvPr/>
        </p:nvSpPr>
        <p:spPr>
          <a:xfrm>
            <a:off x="3181350" y="3200400"/>
            <a:ext cx="1352550" cy="400050"/>
          </a:xfrm>
          <a:prstGeom prst="rect">
            <a:avLst/>
          </a:prstGeom>
          <a:solidFill>
            <a:srgbClr val="AFCDEA"/>
          </a:solidFill>
          <a:ln w="0">
            <a:solidFill>
              <a:srgbClr val="AFCDEA"/>
            </a:solidFill>
            <a:prstDash val="solid"/>
          </a:ln>
        </p:spPr>
        <p:txBody>
          <a:bodyPr/>
          <a:lstStyle/>
          <a:p>
            <a:endParaRPr lang="es-MX"/>
          </a:p>
        </p:txBody>
      </p:sp>
      <p:sp>
        <p:nvSpPr>
          <p:cNvPr id="15" name="Rectángulo 14">
            <a:extLst>
              <a:ext uri="{FF2B5EF4-FFF2-40B4-BE49-F238E27FC236}">
                <a16:creationId xmlns:a16="http://schemas.microsoft.com/office/drawing/2014/main" id="{5ECC6BCE-CE2A-4980-9B7E-201DC6E8A184}"/>
              </a:ext>
            </a:extLst>
          </p:cNvPr>
          <p:cNvSpPr>
            <a:spLocks noGrp="1"/>
          </p:cNvSpPr>
          <p:nvPr/>
        </p:nvSpPr>
        <p:spPr>
          <a:xfrm>
            <a:off x="3181350" y="3695700"/>
            <a:ext cx="1352550" cy="400050"/>
          </a:xfrm>
          <a:prstGeom prst="rect">
            <a:avLst/>
          </a:prstGeom>
          <a:solidFill>
            <a:srgbClr val="78A9D5"/>
          </a:solidFill>
          <a:ln w="0">
            <a:solidFill>
              <a:srgbClr val="78A9D5"/>
            </a:solidFill>
            <a:prstDash val="solid"/>
          </a:ln>
        </p:spPr>
        <p:txBody>
          <a:bodyPr/>
          <a:lstStyle/>
          <a:p>
            <a:endParaRPr lang="es-MX"/>
          </a:p>
        </p:txBody>
      </p:sp>
      <p:sp>
        <p:nvSpPr>
          <p:cNvPr id="16" name="Rectángulo 15">
            <a:extLst>
              <a:ext uri="{FF2B5EF4-FFF2-40B4-BE49-F238E27FC236}">
                <a16:creationId xmlns:a16="http://schemas.microsoft.com/office/drawing/2014/main" id="{39FD19E3-FDD1-4623-8421-56ED1696CE6A}"/>
              </a:ext>
            </a:extLst>
          </p:cNvPr>
          <p:cNvSpPr>
            <a:spLocks noGrp="1"/>
          </p:cNvSpPr>
          <p:nvPr/>
        </p:nvSpPr>
        <p:spPr>
          <a:xfrm>
            <a:off x="3181350" y="4191000"/>
            <a:ext cx="1352550" cy="400050"/>
          </a:xfrm>
          <a:prstGeom prst="rect">
            <a:avLst/>
          </a:prstGeom>
          <a:solidFill>
            <a:srgbClr val="2D6FB7"/>
          </a:solidFill>
          <a:ln w="0">
            <a:solidFill>
              <a:srgbClr val="2D6FB7"/>
            </a:solidFill>
            <a:prstDash val="solid"/>
          </a:ln>
        </p:spPr>
        <p:txBody>
          <a:bodyPr/>
          <a:lstStyle/>
          <a:p>
            <a:endParaRPr lang="es-MX"/>
          </a:p>
        </p:txBody>
      </p:sp>
      <p:sp>
        <p:nvSpPr>
          <p:cNvPr id="17" name="Rectángulo 16">
            <a:extLst>
              <a:ext uri="{FF2B5EF4-FFF2-40B4-BE49-F238E27FC236}">
                <a16:creationId xmlns:a16="http://schemas.microsoft.com/office/drawing/2014/main" id="{BD972EC1-F48E-4A47-862A-8057A6A7DA93}"/>
              </a:ext>
            </a:extLst>
          </p:cNvPr>
          <p:cNvSpPr>
            <a:spLocks noGrp="1"/>
          </p:cNvSpPr>
          <p:nvPr/>
        </p:nvSpPr>
        <p:spPr>
          <a:xfrm>
            <a:off x="2952750" y="5086350"/>
            <a:ext cx="1809750" cy="4953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Arial"/>
                <a:ea typeface="Arial"/>
                <a:cs typeface="Arial"/>
              </a:defRPr>
            </a:pPr>
            <a:r>
              <a:rPr sz="1275" b="0">
                <a:solidFill>
                  <a:srgbClr val="667483"/>
                </a:solidFill>
                <a:latin typeface="Arial"/>
                <a:ea typeface="Arial"/>
                <a:cs typeface="Arial"/>
              </a:rPr>
              <a:t>dependencias explícitas</a:t>
            </a:r>
          </a:p>
        </p:txBody>
      </p:sp>
      <p:sp>
        <p:nvSpPr>
          <p:cNvPr id="18" name="Rectángulo 17">
            <a:extLst>
              <a:ext uri="{FF2B5EF4-FFF2-40B4-BE49-F238E27FC236}">
                <a16:creationId xmlns:a16="http://schemas.microsoft.com/office/drawing/2014/main" id="{FD6C2E42-7218-4B68-BC76-4DCE7C05CB5A}"/>
              </a:ext>
            </a:extLst>
          </p:cNvPr>
          <p:cNvSpPr>
            <a:spLocks noGrp="1"/>
          </p:cNvSpPr>
          <p:nvPr/>
        </p:nvSpPr>
        <p:spPr>
          <a:xfrm>
            <a:off x="5257800" y="2057400"/>
            <a:ext cx="1809750" cy="26670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MICRONÚCLEO</a:t>
            </a:r>
          </a:p>
        </p:txBody>
      </p:sp>
      <p:sp>
        <p:nvSpPr>
          <p:cNvPr id="19" name="Rectángulo 18">
            <a:extLst>
              <a:ext uri="{FF2B5EF4-FFF2-40B4-BE49-F238E27FC236}">
                <a16:creationId xmlns:a16="http://schemas.microsoft.com/office/drawing/2014/main" id="{FF7D41E9-2EE9-4FD5-879B-B97AEC803AFC}"/>
              </a:ext>
            </a:extLst>
          </p:cNvPr>
          <p:cNvSpPr>
            <a:spLocks noGrp="1"/>
          </p:cNvSpPr>
          <p:nvPr/>
        </p:nvSpPr>
        <p:spPr>
          <a:xfrm>
            <a:off x="5562600" y="4210050"/>
            <a:ext cx="1200150" cy="495300"/>
          </a:xfrm>
          <a:prstGeom prst="rect">
            <a:avLst/>
          </a:prstGeom>
          <a:solidFill>
            <a:srgbClr val="2D6FB7"/>
          </a:solidFill>
          <a:ln w="0">
            <a:solidFill>
              <a:srgbClr val="2D6FB7"/>
            </a:solidFill>
            <a:prstDash val="solid"/>
          </a:ln>
        </p:spPr>
        <p:txBody>
          <a:bodyPr lIns="76200" tIns="38100" rIns="76200" bIns="38100" anchor="ctr">
            <a:normAutofit/>
          </a:bodyPr>
          <a:lstStyle/>
          <a:p>
            <a:pPr algn="ctr">
              <a:defRPr sz="1275" b="1">
                <a:solidFill>
                  <a:srgbClr val="F8FAFC"/>
                </a:solidFill>
                <a:latin typeface="Arial"/>
                <a:ea typeface="Arial"/>
                <a:cs typeface="Arial"/>
              </a:defRPr>
            </a:pPr>
            <a:r>
              <a:rPr sz="1275" b="1">
                <a:solidFill>
                  <a:srgbClr val="F8FAFC"/>
                </a:solidFill>
                <a:latin typeface="Arial"/>
                <a:ea typeface="Arial"/>
                <a:cs typeface="Arial"/>
              </a:rPr>
              <a:t>mínimo</a:t>
            </a:r>
          </a:p>
        </p:txBody>
      </p:sp>
      <p:sp>
        <p:nvSpPr>
          <p:cNvPr id="20" name="Rectángulo 19">
            <a:extLst>
              <a:ext uri="{FF2B5EF4-FFF2-40B4-BE49-F238E27FC236}">
                <a16:creationId xmlns:a16="http://schemas.microsoft.com/office/drawing/2014/main" id="{9F65C283-7511-4276-8564-2781736F04FB}"/>
              </a:ext>
            </a:extLst>
          </p:cNvPr>
          <p:cNvSpPr>
            <a:spLocks noGrp="1"/>
          </p:cNvSpPr>
          <p:nvPr/>
        </p:nvSpPr>
        <p:spPr>
          <a:xfrm>
            <a:off x="5429250" y="2857500"/>
            <a:ext cx="457200" cy="876300"/>
          </a:xfrm>
          <a:prstGeom prst="rect">
            <a:avLst/>
          </a:prstGeom>
          <a:solidFill>
            <a:srgbClr val="B8D2EA"/>
          </a:solidFill>
          <a:ln w="0">
            <a:solidFill>
              <a:srgbClr val="B8D2EA"/>
            </a:solidFill>
            <a:prstDash val="solid"/>
          </a:ln>
        </p:spPr>
        <p:txBody>
          <a:bodyPr lIns="76200" tIns="38100" rIns="76200" bIns="38100" anchor="ctr">
            <a:normAutofit/>
          </a:bodyPr>
          <a:lstStyle/>
          <a:p>
            <a:pPr algn="ctr">
              <a:defRPr sz="1350" b="1">
                <a:solidFill>
                  <a:srgbClr val="101820"/>
                </a:solidFill>
                <a:latin typeface="Arial"/>
                <a:ea typeface="Arial"/>
                <a:cs typeface="Arial"/>
              </a:defRPr>
            </a:pPr>
            <a:r>
              <a:rPr sz="1350" b="1">
                <a:solidFill>
                  <a:srgbClr val="101820"/>
                </a:solidFill>
                <a:latin typeface="Arial"/>
                <a:ea typeface="Arial"/>
                <a:cs typeface="Arial"/>
              </a:rPr>
              <a:t>S</a:t>
            </a:r>
          </a:p>
        </p:txBody>
      </p:sp>
      <p:sp>
        <p:nvSpPr>
          <p:cNvPr id="21" name="Rectángulo 20">
            <a:extLst>
              <a:ext uri="{FF2B5EF4-FFF2-40B4-BE49-F238E27FC236}">
                <a16:creationId xmlns:a16="http://schemas.microsoft.com/office/drawing/2014/main" id="{B7638148-F0EF-456D-AA79-007EB466FFC4}"/>
              </a:ext>
            </a:extLst>
          </p:cNvPr>
          <p:cNvSpPr>
            <a:spLocks noGrp="1"/>
          </p:cNvSpPr>
          <p:nvPr/>
        </p:nvSpPr>
        <p:spPr>
          <a:xfrm>
            <a:off x="5962650" y="2857500"/>
            <a:ext cx="457200" cy="876300"/>
          </a:xfrm>
          <a:prstGeom prst="rect">
            <a:avLst/>
          </a:prstGeom>
          <a:solidFill>
            <a:srgbClr val="DCEAF7"/>
          </a:solidFill>
          <a:ln w="0">
            <a:solidFill>
              <a:srgbClr val="DCEAF7"/>
            </a:solidFill>
            <a:prstDash val="solid"/>
          </a:ln>
        </p:spPr>
        <p:txBody>
          <a:bodyPr lIns="76200" tIns="38100" rIns="76200" bIns="38100" anchor="ctr">
            <a:normAutofit/>
          </a:bodyPr>
          <a:lstStyle/>
          <a:p>
            <a:pPr algn="ctr">
              <a:defRPr sz="1350" b="1">
                <a:solidFill>
                  <a:srgbClr val="101820"/>
                </a:solidFill>
                <a:latin typeface="Arial"/>
                <a:ea typeface="Arial"/>
                <a:cs typeface="Arial"/>
              </a:defRPr>
            </a:pPr>
            <a:r>
              <a:rPr sz="1350" b="1">
                <a:solidFill>
                  <a:srgbClr val="101820"/>
                </a:solidFill>
                <a:latin typeface="Arial"/>
                <a:ea typeface="Arial"/>
                <a:cs typeface="Arial"/>
              </a:rPr>
              <a:t>S</a:t>
            </a:r>
          </a:p>
        </p:txBody>
      </p:sp>
      <p:sp>
        <p:nvSpPr>
          <p:cNvPr id="22" name="Rectángulo 21">
            <a:extLst>
              <a:ext uri="{FF2B5EF4-FFF2-40B4-BE49-F238E27FC236}">
                <a16:creationId xmlns:a16="http://schemas.microsoft.com/office/drawing/2014/main" id="{65B749EF-6B87-47EE-BF42-837D2E4B36EE}"/>
              </a:ext>
            </a:extLst>
          </p:cNvPr>
          <p:cNvSpPr>
            <a:spLocks noGrp="1"/>
          </p:cNvSpPr>
          <p:nvPr/>
        </p:nvSpPr>
        <p:spPr>
          <a:xfrm>
            <a:off x="6496050" y="2857500"/>
            <a:ext cx="457200" cy="876300"/>
          </a:xfrm>
          <a:prstGeom prst="rect">
            <a:avLst/>
          </a:prstGeom>
          <a:solidFill>
            <a:srgbClr val="B8D2EA"/>
          </a:solidFill>
          <a:ln w="0">
            <a:solidFill>
              <a:srgbClr val="B8D2EA"/>
            </a:solidFill>
            <a:prstDash val="solid"/>
          </a:ln>
        </p:spPr>
        <p:txBody>
          <a:bodyPr lIns="76200" tIns="38100" rIns="76200" bIns="38100" anchor="ctr">
            <a:normAutofit/>
          </a:bodyPr>
          <a:lstStyle/>
          <a:p>
            <a:pPr algn="ctr">
              <a:defRPr sz="1350" b="1">
                <a:solidFill>
                  <a:srgbClr val="101820"/>
                </a:solidFill>
                <a:latin typeface="Arial"/>
                <a:ea typeface="Arial"/>
                <a:cs typeface="Arial"/>
              </a:defRPr>
            </a:pPr>
            <a:r>
              <a:rPr sz="1350" b="1">
                <a:solidFill>
                  <a:srgbClr val="101820"/>
                </a:solidFill>
                <a:latin typeface="Arial"/>
                <a:ea typeface="Arial"/>
                <a:cs typeface="Arial"/>
              </a:rPr>
              <a:t>S</a:t>
            </a:r>
          </a:p>
        </p:txBody>
      </p:sp>
      <p:sp>
        <p:nvSpPr>
          <p:cNvPr id="23" name="Rectángulo 22">
            <a:extLst>
              <a:ext uri="{FF2B5EF4-FFF2-40B4-BE49-F238E27FC236}">
                <a16:creationId xmlns:a16="http://schemas.microsoft.com/office/drawing/2014/main" id="{94D78967-49C5-4359-A2EE-EDEDCE8B8E36}"/>
              </a:ext>
            </a:extLst>
          </p:cNvPr>
          <p:cNvSpPr>
            <a:spLocks noGrp="1"/>
          </p:cNvSpPr>
          <p:nvPr/>
        </p:nvSpPr>
        <p:spPr>
          <a:xfrm>
            <a:off x="5257800" y="5086350"/>
            <a:ext cx="1809750" cy="4953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Arial"/>
                <a:ea typeface="Arial"/>
                <a:cs typeface="Arial"/>
              </a:defRPr>
            </a:pPr>
            <a:r>
              <a:rPr sz="1275" b="0">
                <a:solidFill>
                  <a:srgbClr val="667483"/>
                </a:solidFill>
                <a:latin typeface="Arial"/>
                <a:ea typeface="Arial"/>
                <a:cs typeface="Arial"/>
              </a:rPr>
              <a:t>servicios fuera del núcleo</a:t>
            </a:r>
          </a:p>
        </p:txBody>
      </p:sp>
      <p:sp>
        <p:nvSpPr>
          <p:cNvPr id="24" name="Rectángulo 23">
            <a:extLst>
              <a:ext uri="{FF2B5EF4-FFF2-40B4-BE49-F238E27FC236}">
                <a16:creationId xmlns:a16="http://schemas.microsoft.com/office/drawing/2014/main" id="{26430072-8EAB-46E2-8A70-A2DA1035E441}"/>
              </a:ext>
            </a:extLst>
          </p:cNvPr>
          <p:cNvSpPr>
            <a:spLocks noGrp="1"/>
          </p:cNvSpPr>
          <p:nvPr/>
        </p:nvSpPr>
        <p:spPr>
          <a:xfrm>
            <a:off x="7562850" y="2057400"/>
            <a:ext cx="1809750" cy="26670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MODULAR</a:t>
            </a:r>
          </a:p>
        </p:txBody>
      </p:sp>
      <p:sp>
        <p:nvSpPr>
          <p:cNvPr id="25" name="Rectángulo 24">
            <a:extLst>
              <a:ext uri="{FF2B5EF4-FFF2-40B4-BE49-F238E27FC236}">
                <a16:creationId xmlns:a16="http://schemas.microsoft.com/office/drawing/2014/main" id="{6330E430-DC01-4AF6-94CA-42B7545C2AC8}"/>
              </a:ext>
            </a:extLst>
          </p:cNvPr>
          <p:cNvSpPr>
            <a:spLocks noGrp="1"/>
          </p:cNvSpPr>
          <p:nvPr/>
        </p:nvSpPr>
        <p:spPr>
          <a:xfrm>
            <a:off x="8058150" y="3476625"/>
            <a:ext cx="819150" cy="1162050"/>
          </a:xfrm>
          <a:prstGeom prst="rect">
            <a:avLst/>
          </a:prstGeom>
          <a:solidFill>
            <a:srgbClr val="123A61"/>
          </a:solidFill>
          <a:ln w="0">
            <a:solidFill>
              <a:srgbClr val="123A61"/>
            </a:solidFill>
            <a:prstDash val="solid"/>
          </a:ln>
        </p:spPr>
        <p:txBody>
          <a:bodyPr lIns="76200" tIns="38100" rIns="76200" bIns="38100" anchor="ctr">
            <a:normAutofit/>
          </a:bodyPr>
          <a:lstStyle/>
          <a:p>
            <a:pPr algn="ctr">
              <a:defRPr sz="1350" b="1">
                <a:solidFill>
                  <a:srgbClr val="F8FAFC"/>
                </a:solidFill>
                <a:latin typeface="Arial"/>
                <a:ea typeface="Arial"/>
                <a:cs typeface="Arial"/>
              </a:defRPr>
            </a:pPr>
            <a:r>
              <a:rPr sz="1350" b="1">
                <a:solidFill>
                  <a:srgbClr val="F8FAFC"/>
                </a:solidFill>
                <a:latin typeface="Arial"/>
                <a:ea typeface="Arial"/>
                <a:cs typeface="Arial"/>
              </a:rPr>
              <a:t>core</a:t>
            </a:r>
          </a:p>
        </p:txBody>
      </p:sp>
      <p:sp>
        <p:nvSpPr>
          <p:cNvPr id="26" name="Rectángulo 25">
            <a:extLst>
              <a:ext uri="{FF2B5EF4-FFF2-40B4-BE49-F238E27FC236}">
                <a16:creationId xmlns:a16="http://schemas.microsoft.com/office/drawing/2014/main" id="{C093B969-1618-4F4B-946C-D4A7BEC486DD}"/>
              </a:ext>
            </a:extLst>
          </p:cNvPr>
          <p:cNvSpPr>
            <a:spLocks noGrp="1"/>
          </p:cNvSpPr>
          <p:nvPr/>
        </p:nvSpPr>
        <p:spPr>
          <a:xfrm>
            <a:off x="7562850" y="2857500"/>
            <a:ext cx="552450" cy="552450"/>
          </a:xfrm>
          <a:prstGeom prst="rect">
            <a:avLst/>
          </a:prstGeom>
          <a:solidFill>
            <a:srgbClr val="2D6FB7"/>
          </a:solidFill>
          <a:ln w="0">
            <a:solidFill>
              <a:srgbClr val="2D6FB7"/>
            </a:solidFill>
            <a:prstDash val="solid"/>
          </a:ln>
        </p:spPr>
        <p:txBody>
          <a:bodyPr lIns="76200" tIns="38100" rIns="76200" bIns="38100" anchor="ctr">
            <a:normAutofit/>
          </a:bodyPr>
          <a:lstStyle/>
          <a:p>
            <a:pPr algn="ctr">
              <a:defRPr sz="1350" b="1">
                <a:solidFill>
                  <a:srgbClr val="F8FAFC"/>
                </a:solidFill>
                <a:latin typeface="Arial"/>
                <a:ea typeface="Arial"/>
                <a:cs typeface="Arial"/>
              </a:defRPr>
            </a:pPr>
            <a:r>
              <a:rPr sz="1350" b="1">
                <a:solidFill>
                  <a:srgbClr val="F8FAFC"/>
                </a:solidFill>
                <a:latin typeface="Arial"/>
                <a:ea typeface="Arial"/>
                <a:cs typeface="Arial"/>
              </a:rPr>
              <a:t>M</a:t>
            </a:r>
          </a:p>
        </p:txBody>
      </p:sp>
      <p:sp>
        <p:nvSpPr>
          <p:cNvPr id="27" name="Rectángulo 26">
            <a:extLst>
              <a:ext uri="{FF2B5EF4-FFF2-40B4-BE49-F238E27FC236}">
                <a16:creationId xmlns:a16="http://schemas.microsoft.com/office/drawing/2014/main" id="{D415214D-F458-4B43-9577-23C87A73B0E8}"/>
              </a:ext>
            </a:extLst>
          </p:cNvPr>
          <p:cNvSpPr>
            <a:spLocks noGrp="1"/>
          </p:cNvSpPr>
          <p:nvPr/>
        </p:nvSpPr>
        <p:spPr>
          <a:xfrm>
            <a:off x="8820150" y="2857500"/>
            <a:ext cx="552450" cy="552450"/>
          </a:xfrm>
          <a:prstGeom prst="rect">
            <a:avLst/>
          </a:prstGeom>
          <a:solidFill>
            <a:srgbClr val="5A9BDC"/>
          </a:solidFill>
          <a:ln w="0">
            <a:solidFill>
              <a:srgbClr val="5A9BDC"/>
            </a:solidFill>
            <a:prstDash val="solid"/>
          </a:ln>
        </p:spPr>
        <p:txBody>
          <a:bodyPr lIns="76200" tIns="38100" rIns="76200" bIns="38100" anchor="ctr">
            <a:normAutofit/>
          </a:bodyPr>
          <a:lstStyle/>
          <a:p>
            <a:pPr algn="ctr">
              <a:defRPr sz="1350" b="1">
                <a:solidFill>
                  <a:srgbClr val="F8FAFC"/>
                </a:solidFill>
                <a:latin typeface="Arial"/>
                <a:ea typeface="Arial"/>
                <a:cs typeface="Arial"/>
              </a:defRPr>
            </a:pPr>
            <a:r>
              <a:rPr sz="1350" b="1">
                <a:solidFill>
                  <a:srgbClr val="F8FAFC"/>
                </a:solidFill>
                <a:latin typeface="Arial"/>
                <a:ea typeface="Arial"/>
                <a:cs typeface="Arial"/>
              </a:rPr>
              <a:t>M</a:t>
            </a:r>
          </a:p>
        </p:txBody>
      </p:sp>
      <p:sp>
        <p:nvSpPr>
          <p:cNvPr id="28" name="Rectángulo 27">
            <a:extLst>
              <a:ext uri="{FF2B5EF4-FFF2-40B4-BE49-F238E27FC236}">
                <a16:creationId xmlns:a16="http://schemas.microsoft.com/office/drawing/2014/main" id="{E850B81B-9750-416D-A5CA-C6256123C861}"/>
              </a:ext>
            </a:extLst>
          </p:cNvPr>
          <p:cNvSpPr>
            <a:spLocks noGrp="1"/>
          </p:cNvSpPr>
          <p:nvPr/>
        </p:nvSpPr>
        <p:spPr>
          <a:xfrm>
            <a:off x="7562850" y="3962400"/>
            <a:ext cx="552450" cy="552450"/>
          </a:xfrm>
          <a:prstGeom prst="rect">
            <a:avLst/>
          </a:prstGeom>
          <a:solidFill>
            <a:srgbClr val="2D6FB7"/>
          </a:solidFill>
          <a:ln w="0">
            <a:solidFill>
              <a:srgbClr val="2D6FB7"/>
            </a:solidFill>
            <a:prstDash val="solid"/>
          </a:ln>
        </p:spPr>
        <p:txBody>
          <a:bodyPr lIns="76200" tIns="38100" rIns="76200" bIns="38100" anchor="ctr">
            <a:normAutofit/>
          </a:bodyPr>
          <a:lstStyle/>
          <a:p>
            <a:pPr algn="ctr">
              <a:defRPr sz="1350" b="1">
                <a:solidFill>
                  <a:srgbClr val="F8FAFC"/>
                </a:solidFill>
                <a:latin typeface="Arial"/>
                <a:ea typeface="Arial"/>
                <a:cs typeface="Arial"/>
              </a:defRPr>
            </a:pPr>
            <a:r>
              <a:rPr sz="1350" b="1">
                <a:solidFill>
                  <a:srgbClr val="F8FAFC"/>
                </a:solidFill>
                <a:latin typeface="Arial"/>
                <a:ea typeface="Arial"/>
                <a:cs typeface="Arial"/>
              </a:rPr>
              <a:t>M</a:t>
            </a:r>
          </a:p>
        </p:txBody>
      </p:sp>
      <p:sp>
        <p:nvSpPr>
          <p:cNvPr id="29" name="Rectángulo 28">
            <a:extLst>
              <a:ext uri="{FF2B5EF4-FFF2-40B4-BE49-F238E27FC236}">
                <a16:creationId xmlns:a16="http://schemas.microsoft.com/office/drawing/2014/main" id="{9950786A-C2D3-4613-A7A0-F911FA6F5EC2}"/>
              </a:ext>
            </a:extLst>
          </p:cNvPr>
          <p:cNvSpPr>
            <a:spLocks noGrp="1"/>
          </p:cNvSpPr>
          <p:nvPr/>
        </p:nvSpPr>
        <p:spPr>
          <a:xfrm>
            <a:off x="8820150" y="3962400"/>
            <a:ext cx="552450" cy="552450"/>
          </a:xfrm>
          <a:prstGeom prst="rect">
            <a:avLst/>
          </a:prstGeom>
          <a:solidFill>
            <a:srgbClr val="5A9BDC"/>
          </a:solidFill>
          <a:ln w="0">
            <a:solidFill>
              <a:srgbClr val="5A9BDC"/>
            </a:solidFill>
            <a:prstDash val="solid"/>
          </a:ln>
        </p:spPr>
        <p:txBody>
          <a:bodyPr lIns="76200" tIns="38100" rIns="76200" bIns="38100" anchor="ctr">
            <a:normAutofit/>
          </a:bodyPr>
          <a:lstStyle/>
          <a:p>
            <a:pPr algn="ctr">
              <a:defRPr sz="1350" b="1">
                <a:solidFill>
                  <a:srgbClr val="F8FAFC"/>
                </a:solidFill>
                <a:latin typeface="Arial"/>
                <a:ea typeface="Arial"/>
                <a:cs typeface="Arial"/>
              </a:defRPr>
            </a:pPr>
            <a:r>
              <a:rPr sz="1350" b="1">
                <a:solidFill>
                  <a:srgbClr val="F8FAFC"/>
                </a:solidFill>
                <a:latin typeface="Arial"/>
                <a:ea typeface="Arial"/>
                <a:cs typeface="Arial"/>
              </a:rPr>
              <a:t>M</a:t>
            </a:r>
          </a:p>
        </p:txBody>
      </p:sp>
      <p:sp>
        <p:nvSpPr>
          <p:cNvPr id="30" name="Rectángulo 29">
            <a:extLst>
              <a:ext uri="{FF2B5EF4-FFF2-40B4-BE49-F238E27FC236}">
                <a16:creationId xmlns:a16="http://schemas.microsoft.com/office/drawing/2014/main" id="{96117F7D-0CAB-4AC6-95BC-0A219D57D7EB}"/>
              </a:ext>
            </a:extLst>
          </p:cNvPr>
          <p:cNvSpPr>
            <a:spLocks noGrp="1"/>
          </p:cNvSpPr>
          <p:nvPr/>
        </p:nvSpPr>
        <p:spPr>
          <a:xfrm>
            <a:off x="7562850" y="5086350"/>
            <a:ext cx="1809750" cy="4953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Arial"/>
                <a:ea typeface="Arial"/>
                <a:cs typeface="Arial"/>
              </a:defRPr>
            </a:pPr>
            <a:r>
              <a:rPr sz="1275" b="0">
                <a:solidFill>
                  <a:srgbClr val="667483"/>
                </a:solidFill>
                <a:latin typeface="Arial"/>
                <a:ea typeface="Arial"/>
                <a:cs typeface="Arial"/>
              </a:rPr>
              <a:t>extensible en ejecución</a:t>
            </a:r>
          </a:p>
        </p:txBody>
      </p:sp>
      <p:sp>
        <p:nvSpPr>
          <p:cNvPr id="31" name="Rectángulo 30">
            <a:extLst>
              <a:ext uri="{FF2B5EF4-FFF2-40B4-BE49-F238E27FC236}">
                <a16:creationId xmlns:a16="http://schemas.microsoft.com/office/drawing/2014/main" id="{02024B4B-A7DC-4406-AAEA-72DECDEEC21A}"/>
              </a:ext>
            </a:extLst>
          </p:cNvPr>
          <p:cNvSpPr>
            <a:spLocks noGrp="1"/>
          </p:cNvSpPr>
          <p:nvPr/>
        </p:nvSpPr>
        <p:spPr>
          <a:xfrm>
            <a:off x="9867900" y="2057400"/>
            <a:ext cx="1809750" cy="266700"/>
          </a:xfrm>
          <a:prstGeom prst="rect">
            <a:avLst/>
          </a:prstGeom>
          <a:noFill/>
          <a:ln w="0">
            <a:noFill/>
            <a:prstDash val="solid"/>
          </a:ln>
        </p:spPr>
        <p:txBody>
          <a:bodyPr lIns="0" tIns="0" rIns="0" bIns="0" anchor="t">
            <a:normAutofit/>
          </a:bodyPr>
          <a:lstStyle/>
          <a:p>
            <a:pPr algn="ctr">
              <a:lnSpc>
                <a:spcPct val="100000"/>
              </a:lnSpc>
              <a:buNone/>
              <a:defRPr sz="1275" b="1">
                <a:solidFill>
                  <a:srgbClr val="101820"/>
                </a:solidFill>
                <a:latin typeface="Bahnschrift"/>
                <a:ea typeface="Bahnschrift"/>
                <a:cs typeface="Bahnschrift"/>
              </a:defRPr>
            </a:pPr>
            <a:r>
              <a:rPr sz="1275" b="1">
                <a:solidFill>
                  <a:srgbClr val="101820"/>
                </a:solidFill>
                <a:latin typeface="Bahnschrift"/>
                <a:ea typeface="Bahnschrift"/>
                <a:cs typeface="Bahnschrift"/>
              </a:rPr>
              <a:t>HÍBRIDA</a:t>
            </a:r>
          </a:p>
        </p:txBody>
      </p:sp>
      <p:sp>
        <p:nvSpPr>
          <p:cNvPr id="32" name="Rectángulo 31">
            <a:extLst>
              <a:ext uri="{FF2B5EF4-FFF2-40B4-BE49-F238E27FC236}">
                <a16:creationId xmlns:a16="http://schemas.microsoft.com/office/drawing/2014/main" id="{07448299-98EF-4C69-9662-61557F2D8ACC}"/>
              </a:ext>
            </a:extLst>
          </p:cNvPr>
          <p:cNvSpPr>
            <a:spLocks noGrp="1"/>
          </p:cNvSpPr>
          <p:nvPr/>
        </p:nvSpPr>
        <p:spPr>
          <a:xfrm>
            <a:off x="10096500" y="2857500"/>
            <a:ext cx="1352550" cy="495300"/>
          </a:xfrm>
          <a:prstGeom prst="rect">
            <a:avLst/>
          </a:prstGeom>
          <a:solidFill>
            <a:srgbClr val="DCEAF7"/>
          </a:solidFill>
          <a:ln w="0">
            <a:solidFill>
              <a:srgbClr val="DCEAF7"/>
            </a:solidFill>
            <a:prstDash val="solid"/>
          </a:ln>
        </p:spPr>
        <p:txBody>
          <a:bodyPr/>
          <a:lstStyle/>
          <a:p>
            <a:endParaRPr lang="es-MX"/>
          </a:p>
        </p:txBody>
      </p:sp>
      <p:sp>
        <p:nvSpPr>
          <p:cNvPr id="33" name="Rectángulo 32">
            <a:extLst>
              <a:ext uri="{FF2B5EF4-FFF2-40B4-BE49-F238E27FC236}">
                <a16:creationId xmlns:a16="http://schemas.microsoft.com/office/drawing/2014/main" id="{14A81B33-040C-4A76-8C61-847C4B09284C}"/>
              </a:ext>
            </a:extLst>
          </p:cNvPr>
          <p:cNvSpPr>
            <a:spLocks noGrp="1"/>
          </p:cNvSpPr>
          <p:nvPr/>
        </p:nvSpPr>
        <p:spPr>
          <a:xfrm>
            <a:off x="10248900" y="3467100"/>
            <a:ext cx="1047750" cy="495300"/>
          </a:xfrm>
          <a:prstGeom prst="rect">
            <a:avLst/>
          </a:prstGeom>
          <a:solidFill>
            <a:srgbClr val="5A9BDC"/>
          </a:solidFill>
          <a:ln w="0">
            <a:solidFill>
              <a:srgbClr val="5A9BDC"/>
            </a:solidFill>
            <a:prstDash val="solid"/>
          </a:ln>
        </p:spPr>
        <p:txBody>
          <a:bodyPr/>
          <a:lstStyle/>
          <a:p>
            <a:endParaRPr lang="es-MX"/>
          </a:p>
        </p:txBody>
      </p:sp>
      <p:sp>
        <p:nvSpPr>
          <p:cNvPr id="34" name="Rectángulo 33">
            <a:extLst>
              <a:ext uri="{FF2B5EF4-FFF2-40B4-BE49-F238E27FC236}">
                <a16:creationId xmlns:a16="http://schemas.microsoft.com/office/drawing/2014/main" id="{53640BBD-0DB8-44CF-B9EA-35625992DD51}"/>
              </a:ext>
            </a:extLst>
          </p:cNvPr>
          <p:cNvSpPr>
            <a:spLocks noGrp="1"/>
          </p:cNvSpPr>
          <p:nvPr/>
        </p:nvSpPr>
        <p:spPr>
          <a:xfrm>
            <a:off x="10401300" y="4076700"/>
            <a:ext cx="742950" cy="495300"/>
          </a:xfrm>
          <a:prstGeom prst="rect">
            <a:avLst/>
          </a:prstGeom>
          <a:solidFill>
            <a:srgbClr val="123A61"/>
          </a:solidFill>
          <a:ln w="0">
            <a:solidFill>
              <a:srgbClr val="123A61"/>
            </a:solidFill>
            <a:prstDash val="solid"/>
          </a:ln>
        </p:spPr>
        <p:txBody>
          <a:bodyPr/>
          <a:lstStyle/>
          <a:p>
            <a:endParaRPr lang="es-MX"/>
          </a:p>
        </p:txBody>
      </p:sp>
      <p:sp>
        <p:nvSpPr>
          <p:cNvPr id="35" name="Rectángulo 34">
            <a:extLst>
              <a:ext uri="{FF2B5EF4-FFF2-40B4-BE49-F238E27FC236}">
                <a16:creationId xmlns:a16="http://schemas.microsoft.com/office/drawing/2014/main" id="{FF0F41DE-AF67-444D-B092-A5CC0A527412}"/>
              </a:ext>
            </a:extLst>
          </p:cNvPr>
          <p:cNvSpPr>
            <a:spLocks noGrp="1"/>
          </p:cNvSpPr>
          <p:nvPr/>
        </p:nvSpPr>
        <p:spPr>
          <a:xfrm>
            <a:off x="10382250" y="4476750"/>
            <a:ext cx="781050" cy="323850"/>
          </a:xfrm>
          <a:prstGeom prst="rect">
            <a:avLst/>
          </a:prstGeom>
          <a:solidFill>
            <a:srgbClr val="101820"/>
          </a:solidFill>
          <a:ln w="0">
            <a:solidFill>
              <a:srgbClr val="101820"/>
            </a:solidFill>
            <a:prstDash val="solid"/>
          </a:ln>
        </p:spPr>
        <p:txBody>
          <a:bodyPr/>
          <a:lstStyle/>
          <a:p>
            <a:endParaRPr lang="es-MX"/>
          </a:p>
        </p:txBody>
      </p:sp>
      <p:sp>
        <p:nvSpPr>
          <p:cNvPr id="36" name="Rectángulo 35">
            <a:extLst>
              <a:ext uri="{FF2B5EF4-FFF2-40B4-BE49-F238E27FC236}">
                <a16:creationId xmlns:a16="http://schemas.microsoft.com/office/drawing/2014/main" id="{84CAEBBB-9568-4815-9B7A-5C03345292F6}"/>
              </a:ext>
            </a:extLst>
          </p:cNvPr>
          <p:cNvSpPr>
            <a:spLocks noGrp="1"/>
          </p:cNvSpPr>
          <p:nvPr/>
        </p:nvSpPr>
        <p:spPr>
          <a:xfrm>
            <a:off x="9867900" y="5086350"/>
            <a:ext cx="1809750" cy="495300"/>
          </a:xfrm>
          <a:prstGeom prst="rect">
            <a:avLst/>
          </a:prstGeom>
          <a:noFill/>
          <a:ln w="0">
            <a:noFill/>
            <a:prstDash val="solid"/>
          </a:ln>
        </p:spPr>
        <p:txBody>
          <a:bodyPr lIns="0" tIns="0" rIns="0" bIns="0" anchor="t">
            <a:normAutofit/>
          </a:bodyPr>
          <a:lstStyle/>
          <a:p>
            <a:pPr algn="ctr">
              <a:lnSpc>
                <a:spcPct val="100000"/>
              </a:lnSpc>
              <a:buNone/>
              <a:defRPr sz="1275" b="0">
                <a:solidFill>
                  <a:srgbClr val="667483"/>
                </a:solidFill>
                <a:latin typeface="Arial"/>
                <a:ea typeface="Arial"/>
                <a:cs typeface="Arial"/>
              </a:defRPr>
            </a:pPr>
            <a:r>
              <a:rPr sz="1275" b="0">
                <a:solidFill>
                  <a:srgbClr val="667483"/>
                </a:solidFill>
                <a:latin typeface="Arial"/>
                <a:ea typeface="Arial"/>
                <a:cs typeface="Arial"/>
              </a:rPr>
              <a:t>combina enfoques</a:t>
            </a:r>
          </a:p>
        </p:txBody>
      </p:sp>
    </p:spTree>
    <p:extLst>
      <p:ext uri="{BB962C8B-B14F-4D97-AF65-F5344CB8AC3E}">
        <p14:creationId xmlns:p14="http://schemas.microsoft.com/office/powerpoint/2010/main" val="1187825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A560424C-5B91-4264-952C-DE6CA422D86C}"/>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8 · PARTES DE GESTIÓN</a:t>
            </a:r>
          </a:p>
        </p:txBody>
      </p:sp>
      <p:sp>
        <p:nvSpPr>
          <p:cNvPr id="2" name="Rectángulo 1">
            <a:extLst>
              <a:ext uri="{FF2B5EF4-FFF2-40B4-BE49-F238E27FC236}">
                <a16:creationId xmlns:a16="http://schemas.microsoft.com/office/drawing/2014/main" id="{4E9ABECB-B4E4-4144-BB1E-D4F6AB929FC9}"/>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Gestionar es registrar, asignar y proteger</a:t>
            </a:r>
          </a:p>
        </p:txBody>
      </p:sp>
      <p:sp>
        <p:nvSpPr>
          <p:cNvPr id="3" name="Conector recto 2">
            <a:extLst>
              <a:ext uri="{FF2B5EF4-FFF2-40B4-BE49-F238E27FC236}">
                <a16:creationId xmlns:a16="http://schemas.microsoft.com/office/drawing/2014/main" id="{6A963F61-162A-4847-9CB6-5ED8F150F41A}"/>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59CFBE1E-192B-4870-BF77-1202FE5C400F}"/>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ED22D998-E62C-4DA0-BF74-0D881AB4F75F}"/>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8 · PARTES DE GESTIÓN</a:t>
            </a:r>
          </a:p>
        </p:txBody>
      </p:sp>
      <p:sp>
        <p:nvSpPr>
          <p:cNvPr id="6" name="Rectángulo 5">
            <a:extLst>
              <a:ext uri="{FF2B5EF4-FFF2-40B4-BE49-F238E27FC236}">
                <a16:creationId xmlns:a16="http://schemas.microsoft.com/office/drawing/2014/main" id="{88E690A8-10A3-4012-87E6-F53236A1EDB4}"/>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13</a:t>
            </a:r>
          </a:p>
        </p:txBody>
      </p:sp>
      <p:sp>
        <p:nvSpPr>
          <p:cNvPr id="7" name="Rectángulo 6">
            <a:extLst>
              <a:ext uri="{FF2B5EF4-FFF2-40B4-BE49-F238E27FC236}">
                <a16:creationId xmlns:a16="http://schemas.microsoft.com/office/drawing/2014/main" id="{23BA6824-8860-49B1-A033-DDA0557CEDC1}"/>
              </a:ext>
            </a:extLst>
          </p:cNvPr>
          <p:cNvSpPr>
            <a:spLocks noGrp="1"/>
          </p:cNvSpPr>
          <p:nvPr/>
        </p:nvSpPr>
        <p:spPr>
          <a:xfrm>
            <a:off x="800100" y="1714500"/>
            <a:ext cx="2857500" cy="323850"/>
          </a:xfrm>
          <a:prstGeom prst="rect">
            <a:avLst/>
          </a:prstGeom>
          <a:noFill/>
          <a:ln w="0">
            <a:noFill/>
            <a:prstDash val="solid"/>
          </a:ln>
        </p:spPr>
        <p:txBody>
          <a:bodyPr lIns="0" tIns="0" rIns="0" bIns="0" anchor="t">
            <a:normAutofit/>
          </a:bodyPr>
          <a:lstStyle/>
          <a:p>
            <a:pPr algn="l">
              <a:lnSpc>
                <a:spcPct val="100000"/>
              </a:lnSpc>
              <a:buNone/>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PROCESOS</a:t>
            </a:r>
          </a:p>
        </p:txBody>
      </p:sp>
      <p:sp>
        <p:nvSpPr>
          <p:cNvPr id="8" name="Conector recto 7">
            <a:extLst>
              <a:ext uri="{FF2B5EF4-FFF2-40B4-BE49-F238E27FC236}">
                <a16:creationId xmlns:a16="http://schemas.microsoft.com/office/drawing/2014/main" id="{CFC9D7B1-7074-43CC-B159-AE5FDF6AC824}"/>
              </a:ext>
            </a:extLst>
          </p:cNvPr>
          <p:cNvSpPr>
            <a:spLocks noGrp="1"/>
          </p:cNvSpPr>
          <p:nvPr/>
        </p:nvSpPr>
        <p:spPr>
          <a:xfrm>
            <a:off x="3638550" y="1876425"/>
            <a:ext cx="1047750" cy="0"/>
          </a:xfrm>
          <a:prstGeom prst="line">
            <a:avLst/>
          </a:prstGeom>
          <a:noFill/>
          <a:ln w="19050">
            <a:solidFill>
              <a:srgbClr val="31536D"/>
            </a:solidFill>
            <a:prstDash val="solid"/>
          </a:ln>
        </p:spPr>
        <p:txBody>
          <a:bodyPr/>
          <a:lstStyle/>
          <a:p>
            <a:endParaRPr lang="es-MX"/>
          </a:p>
        </p:txBody>
      </p:sp>
      <p:sp>
        <p:nvSpPr>
          <p:cNvPr id="9" name="Rectángulo 8">
            <a:extLst>
              <a:ext uri="{FF2B5EF4-FFF2-40B4-BE49-F238E27FC236}">
                <a16:creationId xmlns:a16="http://schemas.microsoft.com/office/drawing/2014/main" id="{B7F1EB6B-4068-437E-80F7-EFE0E50B23B4}"/>
              </a:ext>
            </a:extLst>
          </p:cNvPr>
          <p:cNvSpPr>
            <a:spLocks noGrp="1"/>
          </p:cNvSpPr>
          <p:nvPr/>
        </p:nvSpPr>
        <p:spPr>
          <a:xfrm>
            <a:off x="4953000" y="1695450"/>
            <a:ext cx="59055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AEB9C5"/>
                </a:solidFill>
                <a:latin typeface="Arial"/>
                <a:ea typeface="Arial"/>
                <a:cs typeface="Arial"/>
              </a:defRPr>
            </a:pPr>
            <a:r>
              <a:rPr sz="1725" b="0">
                <a:solidFill>
                  <a:srgbClr val="AEB9C5"/>
                </a:solidFill>
                <a:latin typeface="Arial"/>
                <a:ea typeface="Arial"/>
                <a:cs typeface="Arial"/>
              </a:rPr>
              <a:t>crear · planificar · comunicar</a:t>
            </a:r>
          </a:p>
        </p:txBody>
      </p:sp>
      <p:sp>
        <p:nvSpPr>
          <p:cNvPr id="10" name="Conector recto 9">
            <a:extLst>
              <a:ext uri="{FF2B5EF4-FFF2-40B4-BE49-F238E27FC236}">
                <a16:creationId xmlns:a16="http://schemas.microsoft.com/office/drawing/2014/main" id="{8DA87661-5DF1-4637-B238-D9D3A86036DD}"/>
              </a:ext>
            </a:extLst>
          </p:cNvPr>
          <p:cNvSpPr>
            <a:spLocks noGrp="1"/>
          </p:cNvSpPr>
          <p:nvPr/>
        </p:nvSpPr>
        <p:spPr>
          <a:xfrm>
            <a:off x="800100" y="2266950"/>
            <a:ext cx="10058400" cy="0"/>
          </a:xfrm>
          <a:prstGeom prst="line">
            <a:avLst/>
          </a:prstGeom>
          <a:noFill/>
          <a:ln w="9525">
            <a:solidFill>
              <a:srgbClr val="203246"/>
            </a:solidFill>
            <a:prstDash val="solid"/>
          </a:ln>
        </p:spPr>
        <p:txBody>
          <a:bodyPr/>
          <a:lstStyle/>
          <a:p>
            <a:endParaRPr lang="es-MX"/>
          </a:p>
        </p:txBody>
      </p:sp>
      <p:sp>
        <p:nvSpPr>
          <p:cNvPr id="11" name="Rectángulo 10">
            <a:extLst>
              <a:ext uri="{FF2B5EF4-FFF2-40B4-BE49-F238E27FC236}">
                <a16:creationId xmlns:a16="http://schemas.microsoft.com/office/drawing/2014/main" id="{992039F2-2C6F-45C8-960F-3F49695EA187}"/>
              </a:ext>
            </a:extLst>
          </p:cNvPr>
          <p:cNvSpPr>
            <a:spLocks noGrp="1"/>
          </p:cNvSpPr>
          <p:nvPr/>
        </p:nvSpPr>
        <p:spPr>
          <a:xfrm>
            <a:off x="800100" y="2495550"/>
            <a:ext cx="2857500" cy="323850"/>
          </a:xfrm>
          <a:prstGeom prst="rect">
            <a:avLst/>
          </a:prstGeom>
          <a:noFill/>
          <a:ln w="0">
            <a:noFill/>
            <a:prstDash val="solid"/>
          </a:ln>
        </p:spPr>
        <p:txBody>
          <a:bodyPr lIns="0" tIns="0" rIns="0" bIns="0" anchor="t">
            <a:normAutofit/>
          </a:bodyPr>
          <a:lstStyle/>
          <a:p>
            <a:pPr algn="l">
              <a:lnSpc>
                <a:spcPct val="100000"/>
              </a:lnSpc>
              <a:buNone/>
              <a:defRPr sz="1500" b="1">
                <a:solidFill>
                  <a:srgbClr val="5A9BDC"/>
                </a:solidFill>
                <a:latin typeface="Bahnschrift"/>
                <a:ea typeface="Bahnschrift"/>
                <a:cs typeface="Bahnschrift"/>
              </a:defRPr>
            </a:pPr>
            <a:r>
              <a:rPr sz="1500" b="1">
                <a:solidFill>
                  <a:srgbClr val="5A9BDC"/>
                </a:solidFill>
                <a:latin typeface="Bahnschrift"/>
                <a:ea typeface="Bahnschrift"/>
                <a:cs typeface="Bahnschrift"/>
              </a:rPr>
              <a:t>MEMORIA</a:t>
            </a:r>
          </a:p>
        </p:txBody>
      </p:sp>
      <p:sp>
        <p:nvSpPr>
          <p:cNvPr id="12" name="Conector recto 11">
            <a:extLst>
              <a:ext uri="{FF2B5EF4-FFF2-40B4-BE49-F238E27FC236}">
                <a16:creationId xmlns:a16="http://schemas.microsoft.com/office/drawing/2014/main" id="{DFFEA3F4-BDE0-46B8-BCBE-AB49D5C3F967}"/>
              </a:ext>
            </a:extLst>
          </p:cNvPr>
          <p:cNvSpPr>
            <a:spLocks noGrp="1"/>
          </p:cNvSpPr>
          <p:nvPr/>
        </p:nvSpPr>
        <p:spPr>
          <a:xfrm>
            <a:off x="3638550" y="2657475"/>
            <a:ext cx="1047750" cy="0"/>
          </a:xfrm>
          <a:prstGeom prst="line">
            <a:avLst/>
          </a:prstGeom>
          <a:noFill/>
          <a:ln w="19050">
            <a:solidFill>
              <a:srgbClr val="31536D"/>
            </a:solidFill>
            <a:prstDash val="solid"/>
          </a:ln>
        </p:spPr>
        <p:txBody>
          <a:bodyPr/>
          <a:lstStyle/>
          <a:p>
            <a:endParaRPr lang="es-MX"/>
          </a:p>
        </p:txBody>
      </p:sp>
      <p:sp>
        <p:nvSpPr>
          <p:cNvPr id="13" name="Rectángulo 12">
            <a:extLst>
              <a:ext uri="{FF2B5EF4-FFF2-40B4-BE49-F238E27FC236}">
                <a16:creationId xmlns:a16="http://schemas.microsoft.com/office/drawing/2014/main" id="{11F0FABA-4D5D-4B5E-8DE5-BC540E81C631}"/>
              </a:ext>
            </a:extLst>
          </p:cNvPr>
          <p:cNvSpPr>
            <a:spLocks noGrp="1"/>
          </p:cNvSpPr>
          <p:nvPr/>
        </p:nvSpPr>
        <p:spPr>
          <a:xfrm>
            <a:off x="4953000" y="2476500"/>
            <a:ext cx="59055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AEB9C5"/>
                </a:solidFill>
                <a:latin typeface="Arial"/>
                <a:ea typeface="Arial"/>
                <a:cs typeface="Arial"/>
              </a:defRPr>
            </a:pPr>
            <a:r>
              <a:rPr sz="1725" b="0">
                <a:solidFill>
                  <a:srgbClr val="AEB9C5"/>
                </a:solidFill>
                <a:latin typeface="Arial"/>
                <a:ea typeface="Arial"/>
                <a:cs typeface="Arial"/>
              </a:rPr>
              <a:t>registrar · asignar · liberar</a:t>
            </a:r>
          </a:p>
        </p:txBody>
      </p:sp>
      <p:sp>
        <p:nvSpPr>
          <p:cNvPr id="14" name="Conector recto 13">
            <a:extLst>
              <a:ext uri="{FF2B5EF4-FFF2-40B4-BE49-F238E27FC236}">
                <a16:creationId xmlns:a16="http://schemas.microsoft.com/office/drawing/2014/main" id="{8C606A6B-C1F6-40FC-BA96-D9F700163276}"/>
              </a:ext>
            </a:extLst>
          </p:cNvPr>
          <p:cNvSpPr>
            <a:spLocks noGrp="1"/>
          </p:cNvSpPr>
          <p:nvPr/>
        </p:nvSpPr>
        <p:spPr>
          <a:xfrm>
            <a:off x="800100" y="3048000"/>
            <a:ext cx="10058400" cy="0"/>
          </a:xfrm>
          <a:prstGeom prst="line">
            <a:avLst/>
          </a:prstGeom>
          <a:noFill/>
          <a:ln w="9525">
            <a:solidFill>
              <a:srgbClr val="203246"/>
            </a:solidFill>
            <a:prstDash val="solid"/>
          </a:ln>
        </p:spPr>
        <p:txBody>
          <a:bodyPr/>
          <a:lstStyle/>
          <a:p>
            <a:endParaRPr lang="es-MX"/>
          </a:p>
        </p:txBody>
      </p:sp>
      <p:sp>
        <p:nvSpPr>
          <p:cNvPr id="15" name="Rectángulo 14">
            <a:extLst>
              <a:ext uri="{FF2B5EF4-FFF2-40B4-BE49-F238E27FC236}">
                <a16:creationId xmlns:a16="http://schemas.microsoft.com/office/drawing/2014/main" id="{1AC4C0E1-E45F-4A01-BA11-4BB615BD6189}"/>
              </a:ext>
            </a:extLst>
          </p:cNvPr>
          <p:cNvSpPr>
            <a:spLocks noGrp="1"/>
          </p:cNvSpPr>
          <p:nvPr/>
        </p:nvSpPr>
        <p:spPr>
          <a:xfrm>
            <a:off x="800100" y="3276600"/>
            <a:ext cx="2857500" cy="323850"/>
          </a:xfrm>
          <a:prstGeom prst="rect">
            <a:avLst/>
          </a:prstGeom>
          <a:noFill/>
          <a:ln w="0">
            <a:noFill/>
            <a:prstDash val="solid"/>
          </a:ln>
        </p:spPr>
        <p:txBody>
          <a:bodyPr lIns="0" tIns="0" rIns="0" bIns="0" anchor="t">
            <a:normAutofit/>
          </a:bodyPr>
          <a:lstStyle/>
          <a:p>
            <a:pPr algn="l">
              <a:lnSpc>
                <a:spcPct val="100000"/>
              </a:lnSpc>
              <a:buNone/>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ARCHIVOS</a:t>
            </a:r>
          </a:p>
        </p:txBody>
      </p:sp>
      <p:sp>
        <p:nvSpPr>
          <p:cNvPr id="16" name="Conector recto 15">
            <a:extLst>
              <a:ext uri="{FF2B5EF4-FFF2-40B4-BE49-F238E27FC236}">
                <a16:creationId xmlns:a16="http://schemas.microsoft.com/office/drawing/2014/main" id="{3B6AA0C4-A6A8-480E-8D77-8E05891B3A14}"/>
              </a:ext>
            </a:extLst>
          </p:cNvPr>
          <p:cNvSpPr>
            <a:spLocks noGrp="1"/>
          </p:cNvSpPr>
          <p:nvPr/>
        </p:nvSpPr>
        <p:spPr>
          <a:xfrm>
            <a:off x="3638550" y="3438525"/>
            <a:ext cx="1047750" cy="0"/>
          </a:xfrm>
          <a:prstGeom prst="line">
            <a:avLst/>
          </a:prstGeom>
          <a:noFill/>
          <a:ln w="19050">
            <a:solidFill>
              <a:srgbClr val="31536D"/>
            </a:solidFill>
            <a:prstDash val="solid"/>
          </a:ln>
        </p:spPr>
        <p:txBody>
          <a:bodyPr/>
          <a:lstStyle/>
          <a:p>
            <a:endParaRPr lang="es-MX"/>
          </a:p>
        </p:txBody>
      </p:sp>
      <p:sp>
        <p:nvSpPr>
          <p:cNvPr id="17" name="Rectángulo 16">
            <a:extLst>
              <a:ext uri="{FF2B5EF4-FFF2-40B4-BE49-F238E27FC236}">
                <a16:creationId xmlns:a16="http://schemas.microsoft.com/office/drawing/2014/main" id="{A32F51AC-23F4-41F9-9BF0-8F27A5D9C010}"/>
              </a:ext>
            </a:extLst>
          </p:cNvPr>
          <p:cNvSpPr>
            <a:spLocks noGrp="1"/>
          </p:cNvSpPr>
          <p:nvPr/>
        </p:nvSpPr>
        <p:spPr>
          <a:xfrm>
            <a:off x="4953000" y="3257550"/>
            <a:ext cx="59055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AEB9C5"/>
                </a:solidFill>
                <a:latin typeface="Arial"/>
                <a:ea typeface="Arial"/>
                <a:cs typeface="Arial"/>
              </a:defRPr>
            </a:pPr>
            <a:r>
              <a:rPr sz="1725" b="0">
                <a:solidFill>
                  <a:srgbClr val="AEB9C5"/>
                </a:solidFill>
                <a:latin typeface="Arial"/>
                <a:ea typeface="Arial"/>
                <a:cs typeface="Arial"/>
              </a:rPr>
              <a:t>nombrar · organizar · proteger</a:t>
            </a:r>
          </a:p>
        </p:txBody>
      </p:sp>
      <p:sp>
        <p:nvSpPr>
          <p:cNvPr id="18" name="Conector recto 17">
            <a:extLst>
              <a:ext uri="{FF2B5EF4-FFF2-40B4-BE49-F238E27FC236}">
                <a16:creationId xmlns:a16="http://schemas.microsoft.com/office/drawing/2014/main" id="{E00E4244-457A-4FD6-BD6D-4DB215CBAA23}"/>
              </a:ext>
            </a:extLst>
          </p:cNvPr>
          <p:cNvSpPr>
            <a:spLocks noGrp="1"/>
          </p:cNvSpPr>
          <p:nvPr/>
        </p:nvSpPr>
        <p:spPr>
          <a:xfrm>
            <a:off x="800100" y="3829050"/>
            <a:ext cx="10058400" cy="0"/>
          </a:xfrm>
          <a:prstGeom prst="line">
            <a:avLst/>
          </a:prstGeom>
          <a:noFill/>
          <a:ln w="9525">
            <a:solidFill>
              <a:srgbClr val="203246"/>
            </a:solidFill>
            <a:prstDash val="solid"/>
          </a:ln>
        </p:spPr>
        <p:txBody>
          <a:bodyPr/>
          <a:lstStyle/>
          <a:p>
            <a:endParaRPr lang="es-MX"/>
          </a:p>
        </p:txBody>
      </p:sp>
      <p:sp>
        <p:nvSpPr>
          <p:cNvPr id="19" name="Rectángulo 18">
            <a:extLst>
              <a:ext uri="{FF2B5EF4-FFF2-40B4-BE49-F238E27FC236}">
                <a16:creationId xmlns:a16="http://schemas.microsoft.com/office/drawing/2014/main" id="{7EB9ADEB-814B-4D42-8FCF-C3FD678209ED}"/>
              </a:ext>
            </a:extLst>
          </p:cNvPr>
          <p:cNvSpPr>
            <a:spLocks noGrp="1"/>
          </p:cNvSpPr>
          <p:nvPr/>
        </p:nvSpPr>
        <p:spPr>
          <a:xfrm>
            <a:off x="800100" y="4057650"/>
            <a:ext cx="2857500" cy="323850"/>
          </a:xfrm>
          <a:prstGeom prst="rect">
            <a:avLst/>
          </a:prstGeom>
          <a:noFill/>
          <a:ln w="0">
            <a:noFill/>
            <a:prstDash val="solid"/>
          </a:ln>
        </p:spPr>
        <p:txBody>
          <a:bodyPr lIns="0" tIns="0" rIns="0" bIns="0" anchor="t">
            <a:normAutofit/>
          </a:bodyPr>
          <a:lstStyle/>
          <a:p>
            <a:pPr algn="l">
              <a:lnSpc>
                <a:spcPct val="100000"/>
              </a:lnSpc>
              <a:buNone/>
              <a:defRPr sz="1500" b="1">
                <a:solidFill>
                  <a:srgbClr val="5A9BDC"/>
                </a:solidFill>
                <a:latin typeface="Bahnschrift"/>
                <a:ea typeface="Bahnschrift"/>
                <a:cs typeface="Bahnschrift"/>
              </a:defRPr>
            </a:pPr>
            <a:r>
              <a:rPr sz="1500" b="1">
                <a:solidFill>
                  <a:srgbClr val="5A9BDC"/>
                </a:solidFill>
                <a:latin typeface="Bahnschrift"/>
                <a:ea typeface="Bahnschrift"/>
                <a:cs typeface="Bahnschrift"/>
              </a:rPr>
              <a:t>E/S</a:t>
            </a:r>
          </a:p>
        </p:txBody>
      </p:sp>
      <p:sp>
        <p:nvSpPr>
          <p:cNvPr id="20" name="Conector recto 19">
            <a:extLst>
              <a:ext uri="{FF2B5EF4-FFF2-40B4-BE49-F238E27FC236}">
                <a16:creationId xmlns:a16="http://schemas.microsoft.com/office/drawing/2014/main" id="{9D978E3F-469A-4A15-AF8B-7704C0C4D070}"/>
              </a:ext>
            </a:extLst>
          </p:cNvPr>
          <p:cNvSpPr>
            <a:spLocks noGrp="1"/>
          </p:cNvSpPr>
          <p:nvPr/>
        </p:nvSpPr>
        <p:spPr>
          <a:xfrm>
            <a:off x="3638550" y="4219575"/>
            <a:ext cx="1047750" cy="0"/>
          </a:xfrm>
          <a:prstGeom prst="line">
            <a:avLst/>
          </a:prstGeom>
          <a:noFill/>
          <a:ln w="19050">
            <a:solidFill>
              <a:srgbClr val="31536D"/>
            </a:solidFill>
            <a:prstDash val="solid"/>
          </a:ln>
        </p:spPr>
        <p:txBody>
          <a:bodyPr/>
          <a:lstStyle/>
          <a:p>
            <a:endParaRPr lang="es-MX"/>
          </a:p>
        </p:txBody>
      </p:sp>
      <p:sp>
        <p:nvSpPr>
          <p:cNvPr id="21" name="Rectángulo 20">
            <a:extLst>
              <a:ext uri="{FF2B5EF4-FFF2-40B4-BE49-F238E27FC236}">
                <a16:creationId xmlns:a16="http://schemas.microsoft.com/office/drawing/2014/main" id="{B05A8D6F-7A7C-4406-BC34-7AC3D52C1C21}"/>
              </a:ext>
            </a:extLst>
          </p:cNvPr>
          <p:cNvSpPr>
            <a:spLocks noGrp="1"/>
          </p:cNvSpPr>
          <p:nvPr/>
        </p:nvSpPr>
        <p:spPr>
          <a:xfrm>
            <a:off x="4953000" y="4038600"/>
            <a:ext cx="59055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AEB9C5"/>
                </a:solidFill>
                <a:latin typeface="Arial"/>
                <a:ea typeface="Arial"/>
                <a:cs typeface="Arial"/>
              </a:defRPr>
            </a:pPr>
            <a:r>
              <a:rPr sz="1725" b="0">
                <a:solidFill>
                  <a:srgbClr val="AEB9C5"/>
                </a:solidFill>
                <a:latin typeface="Arial"/>
                <a:ea typeface="Arial"/>
                <a:cs typeface="Arial"/>
              </a:rPr>
              <a:t>abstraer · transferir · coordinar</a:t>
            </a:r>
          </a:p>
        </p:txBody>
      </p:sp>
      <p:sp>
        <p:nvSpPr>
          <p:cNvPr id="22" name="Conector recto 21">
            <a:extLst>
              <a:ext uri="{FF2B5EF4-FFF2-40B4-BE49-F238E27FC236}">
                <a16:creationId xmlns:a16="http://schemas.microsoft.com/office/drawing/2014/main" id="{FF6AE8AE-7DDE-4DC9-95CE-26DC37CC20E4}"/>
              </a:ext>
            </a:extLst>
          </p:cNvPr>
          <p:cNvSpPr>
            <a:spLocks noGrp="1"/>
          </p:cNvSpPr>
          <p:nvPr/>
        </p:nvSpPr>
        <p:spPr>
          <a:xfrm>
            <a:off x="800100" y="4610100"/>
            <a:ext cx="10058400" cy="0"/>
          </a:xfrm>
          <a:prstGeom prst="line">
            <a:avLst/>
          </a:prstGeom>
          <a:noFill/>
          <a:ln w="9525">
            <a:solidFill>
              <a:srgbClr val="203246"/>
            </a:solidFill>
            <a:prstDash val="solid"/>
          </a:ln>
        </p:spPr>
        <p:txBody>
          <a:bodyPr/>
          <a:lstStyle/>
          <a:p>
            <a:endParaRPr lang="es-MX"/>
          </a:p>
        </p:txBody>
      </p:sp>
      <p:sp>
        <p:nvSpPr>
          <p:cNvPr id="23" name="Rectángulo 22">
            <a:extLst>
              <a:ext uri="{FF2B5EF4-FFF2-40B4-BE49-F238E27FC236}">
                <a16:creationId xmlns:a16="http://schemas.microsoft.com/office/drawing/2014/main" id="{E54E3D2D-5A22-4537-BE6B-54E653F86981}"/>
              </a:ext>
            </a:extLst>
          </p:cNvPr>
          <p:cNvSpPr>
            <a:spLocks noGrp="1"/>
          </p:cNvSpPr>
          <p:nvPr/>
        </p:nvSpPr>
        <p:spPr>
          <a:xfrm>
            <a:off x="800100" y="4838700"/>
            <a:ext cx="2857500" cy="323850"/>
          </a:xfrm>
          <a:prstGeom prst="rect">
            <a:avLst/>
          </a:prstGeom>
          <a:noFill/>
          <a:ln w="0">
            <a:noFill/>
            <a:prstDash val="solid"/>
          </a:ln>
        </p:spPr>
        <p:txBody>
          <a:bodyPr lIns="0" tIns="0" rIns="0" bIns="0" anchor="t">
            <a:normAutofit/>
          </a:bodyPr>
          <a:lstStyle/>
          <a:p>
            <a:pPr algn="l">
              <a:lnSpc>
                <a:spcPct val="100000"/>
              </a:lnSpc>
              <a:buNone/>
              <a:defRPr sz="1500" b="1">
                <a:solidFill>
                  <a:srgbClr val="F8FAFC"/>
                </a:solidFill>
                <a:latin typeface="Bahnschrift"/>
                <a:ea typeface="Bahnschrift"/>
                <a:cs typeface="Bahnschrift"/>
              </a:defRPr>
            </a:pPr>
            <a:r>
              <a:rPr sz="1500" b="1">
                <a:solidFill>
                  <a:srgbClr val="F8FAFC"/>
                </a:solidFill>
                <a:latin typeface="Bahnschrift"/>
                <a:ea typeface="Bahnschrift"/>
                <a:cs typeface="Bahnschrift"/>
              </a:rPr>
              <a:t>ALMACENAMIENTO</a:t>
            </a:r>
          </a:p>
        </p:txBody>
      </p:sp>
      <p:sp>
        <p:nvSpPr>
          <p:cNvPr id="24" name="Conector recto 23">
            <a:extLst>
              <a:ext uri="{FF2B5EF4-FFF2-40B4-BE49-F238E27FC236}">
                <a16:creationId xmlns:a16="http://schemas.microsoft.com/office/drawing/2014/main" id="{3B994C66-8FD1-4F5F-9D93-88476FBDAAE6}"/>
              </a:ext>
            </a:extLst>
          </p:cNvPr>
          <p:cNvSpPr>
            <a:spLocks noGrp="1"/>
          </p:cNvSpPr>
          <p:nvPr/>
        </p:nvSpPr>
        <p:spPr>
          <a:xfrm>
            <a:off x="3638550" y="5000625"/>
            <a:ext cx="1047750" cy="0"/>
          </a:xfrm>
          <a:prstGeom prst="line">
            <a:avLst/>
          </a:prstGeom>
          <a:noFill/>
          <a:ln w="19050">
            <a:solidFill>
              <a:srgbClr val="31536D"/>
            </a:solidFill>
            <a:prstDash val="solid"/>
          </a:ln>
        </p:spPr>
        <p:txBody>
          <a:bodyPr/>
          <a:lstStyle/>
          <a:p>
            <a:endParaRPr lang="es-MX"/>
          </a:p>
        </p:txBody>
      </p:sp>
      <p:sp>
        <p:nvSpPr>
          <p:cNvPr id="25" name="Rectángulo 24">
            <a:extLst>
              <a:ext uri="{FF2B5EF4-FFF2-40B4-BE49-F238E27FC236}">
                <a16:creationId xmlns:a16="http://schemas.microsoft.com/office/drawing/2014/main" id="{44DC9018-0630-4BA9-9486-B282F171FA04}"/>
              </a:ext>
            </a:extLst>
          </p:cNvPr>
          <p:cNvSpPr>
            <a:spLocks noGrp="1"/>
          </p:cNvSpPr>
          <p:nvPr/>
        </p:nvSpPr>
        <p:spPr>
          <a:xfrm>
            <a:off x="4953000" y="4819650"/>
            <a:ext cx="59055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AEB9C5"/>
                </a:solidFill>
                <a:latin typeface="Arial"/>
                <a:ea typeface="Arial"/>
                <a:cs typeface="Arial"/>
              </a:defRPr>
            </a:pPr>
            <a:r>
              <a:rPr sz="1725" b="0">
                <a:solidFill>
                  <a:srgbClr val="AEB9C5"/>
                </a:solidFill>
                <a:latin typeface="Arial"/>
                <a:ea typeface="Arial"/>
                <a:cs typeface="Arial"/>
              </a:rPr>
              <a:t>asignar · recuperar · programar</a:t>
            </a:r>
          </a:p>
        </p:txBody>
      </p:sp>
      <p:sp>
        <p:nvSpPr>
          <p:cNvPr id="26" name="Rectángulo 25">
            <a:extLst>
              <a:ext uri="{FF2B5EF4-FFF2-40B4-BE49-F238E27FC236}">
                <a16:creationId xmlns:a16="http://schemas.microsoft.com/office/drawing/2014/main" id="{6B369440-452B-4A46-8A48-5B9E9263A21C}"/>
              </a:ext>
            </a:extLst>
          </p:cNvPr>
          <p:cNvSpPr>
            <a:spLocks noGrp="1"/>
          </p:cNvSpPr>
          <p:nvPr/>
        </p:nvSpPr>
        <p:spPr>
          <a:xfrm>
            <a:off x="800100" y="5695950"/>
            <a:ext cx="10058400" cy="400050"/>
          </a:xfrm>
          <a:prstGeom prst="rect">
            <a:avLst/>
          </a:prstGeom>
          <a:solidFill>
            <a:srgbClr val="123A61"/>
          </a:solidFill>
          <a:ln w="9525">
            <a:solidFill>
              <a:srgbClr val="2D6FB7"/>
            </a:solidFill>
            <a:prstDash val="solid"/>
          </a:ln>
        </p:spPr>
        <p:txBody>
          <a:bodyPr lIns="76200" tIns="38100" rIns="76200" bIns="38100" anchor="ctr">
            <a:normAutofit/>
          </a:bodyPr>
          <a:lstStyle/>
          <a:p>
            <a:pPr algn="ctr">
              <a:defRPr sz="1350" b="1">
                <a:solidFill>
                  <a:srgbClr val="F8FAFC"/>
                </a:solidFill>
                <a:latin typeface="Bahnschrift"/>
                <a:ea typeface="Bahnschrift"/>
                <a:cs typeface="Bahnschrift"/>
              </a:defRPr>
            </a:pPr>
            <a:r>
              <a:rPr sz="1350" b="1">
                <a:solidFill>
                  <a:srgbClr val="F8FAFC"/>
                </a:solidFill>
                <a:latin typeface="Bahnschrift"/>
                <a:ea typeface="Bahnschrift"/>
                <a:cs typeface="Bahnschrift"/>
              </a:rPr>
              <a:t>LA PROTECCIÓN ATRAVIESA TODAS LAS ÁREAS</a:t>
            </a:r>
          </a:p>
        </p:txBody>
      </p:sp>
    </p:spTree>
    <p:extLst>
      <p:ext uri="{BB962C8B-B14F-4D97-AF65-F5344CB8AC3E}">
        <p14:creationId xmlns:p14="http://schemas.microsoft.com/office/powerpoint/2010/main" val="1278871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5" name="Rectángulo 24">
            <a:extLst>
              <a:ext uri="{FF2B5EF4-FFF2-40B4-BE49-F238E27FC236}">
                <a16:creationId xmlns:a16="http://schemas.microsoft.com/office/drawing/2014/main" id="{8D974C1D-8998-47A4-9BE0-FCDF00CD9085}"/>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9 · ORDENADORES Y MÓVILES</a:t>
            </a:r>
          </a:p>
        </p:txBody>
      </p:sp>
      <p:sp>
        <p:nvSpPr>
          <p:cNvPr id="2" name="Rectángulo 1">
            <a:extLst>
              <a:ext uri="{FF2B5EF4-FFF2-40B4-BE49-F238E27FC236}">
                <a16:creationId xmlns:a16="http://schemas.microsoft.com/office/drawing/2014/main" id="{32C3A61D-358F-4AF2-93C6-2DBC596EAB4A}"/>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El escritorio admite arquitecturas distintas</a:t>
            </a:r>
          </a:p>
        </p:txBody>
      </p:sp>
      <p:sp>
        <p:nvSpPr>
          <p:cNvPr id="3" name="Conector recto 2">
            <a:extLst>
              <a:ext uri="{FF2B5EF4-FFF2-40B4-BE49-F238E27FC236}">
                <a16:creationId xmlns:a16="http://schemas.microsoft.com/office/drawing/2014/main" id="{67CB135E-2EDD-41FA-8007-49E1D2ADBCD6}"/>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8F4B31A6-E470-4E94-B012-FE6DF868B954}"/>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671481B0-C207-4CE8-91EE-446F71E43CF5}"/>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9 · ORDENADORES Y MÓVILES</a:t>
            </a:r>
          </a:p>
        </p:txBody>
      </p:sp>
      <p:sp>
        <p:nvSpPr>
          <p:cNvPr id="6" name="Rectángulo 5">
            <a:extLst>
              <a:ext uri="{FF2B5EF4-FFF2-40B4-BE49-F238E27FC236}">
                <a16:creationId xmlns:a16="http://schemas.microsoft.com/office/drawing/2014/main" id="{6E0B370E-9AA0-4677-9028-8AEF91CB6472}"/>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14</a:t>
            </a:r>
          </a:p>
        </p:txBody>
      </p:sp>
      <p:sp>
        <p:nvSpPr>
          <p:cNvPr id="7" name="Rectángulo 6">
            <a:extLst>
              <a:ext uri="{FF2B5EF4-FFF2-40B4-BE49-F238E27FC236}">
                <a16:creationId xmlns:a16="http://schemas.microsoft.com/office/drawing/2014/main" id="{EEC42384-4A00-4E54-8374-305FFC79F68A}"/>
              </a:ext>
            </a:extLst>
          </p:cNvPr>
          <p:cNvSpPr>
            <a:spLocks noGrp="1"/>
          </p:cNvSpPr>
          <p:nvPr/>
        </p:nvSpPr>
        <p:spPr>
          <a:xfrm>
            <a:off x="819150" y="1866900"/>
            <a:ext cx="3048000" cy="400050"/>
          </a:xfrm>
          <a:prstGeom prst="rect">
            <a:avLst/>
          </a:prstGeom>
          <a:noFill/>
          <a:ln w="0">
            <a:noFill/>
            <a:prstDash val="solid"/>
          </a:ln>
        </p:spPr>
        <p:txBody>
          <a:bodyPr lIns="0" tIns="0" rIns="0" bIns="0" anchor="t">
            <a:normAutofit/>
          </a:bodyPr>
          <a:lstStyle/>
          <a:p>
            <a:pPr algn="l">
              <a:lnSpc>
                <a:spcPct val="100000"/>
              </a:lnSpc>
              <a:buNone/>
              <a:defRPr sz="2100" b="0">
                <a:solidFill>
                  <a:srgbClr val="101820"/>
                </a:solidFill>
                <a:latin typeface="Arial Black"/>
                <a:ea typeface="Arial Black"/>
                <a:cs typeface="Arial Black"/>
              </a:defRPr>
            </a:pPr>
            <a:r>
              <a:rPr sz="2100" b="0">
                <a:solidFill>
                  <a:srgbClr val="101820"/>
                </a:solidFill>
                <a:latin typeface="Arial Black"/>
                <a:ea typeface="Arial Black"/>
                <a:cs typeface="Arial Black"/>
              </a:rPr>
              <a:t>LINUX</a:t>
            </a:r>
          </a:p>
        </p:txBody>
      </p:sp>
      <p:sp>
        <p:nvSpPr>
          <p:cNvPr id="8" name="Rectángulo 7">
            <a:extLst>
              <a:ext uri="{FF2B5EF4-FFF2-40B4-BE49-F238E27FC236}">
                <a16:creationId xmlns:a16="http://schemas.microsoft.com/office/drawing/2014/main" id="{B6F1378E-374B-4DDC-BB6B-9BA70F770230}"/>
              </a:ext>
            </a:extLst>
          </p:cNvPr>
          <p:cNvSpPr>
            <a:spLocks noGrp="1"/>
          </p:cNvSpPr>
          <p:nvPr/>
        </p:nvSpPr>
        <p:spPr>
          <a:xfrm>
            <a:off x="819150" y="2438400"/>
            <a:ext cx="2857500" cy="114300"/>
          </a:xfrm>
          <a:prstGeom prst="rect">
            <a:avLst/>
          </a:prstGeom>
          <a:solidFill>
            <a:srgbClr val="123A61"/>
          </a:solidFill>
          <a:ln w="0">
            <a:solidFill>
              <a:srgbClr val="123A61"/>
            </a:solidFill>
            <a:prstDash val="solid"/>
          </a:ln>
        </p:spPr>
        <p:txBody>
          <a:bodyPr/>
          <a:lstStyle/>
          <a:p>
            <a:endParaRPr lang="es-MX"/>
          </a:p>
        </p:txBody>
      </p:sp>
      <p:sp>
        <p:nvSpPr>
          <p:cNvPr id="9" name="Rectángulo 8">
            <a:extLst>
              <a:ext uri="{FF2B5EF4-FFF2-40B4-BE49-F238E27FC236}">
                <a16:creationId xmlns:a16="http://schemas.microsoft.com/office/drawing/2014/main" id="{DE574991-AD10-4346-A227-C3FCB6613B7F}"/>
              </a:ext>
            </a:extLst>
          </p:cNvPr>
          <p:cNvSpPr>
            <a:spLocks noGrp="1"/>
          </p:cNvSpPr>
          <p:nvPr/>
        </p:nvSpPr>
        <p:spPr>
          <a:xfrm>
            <a:off x="819150" y="2895600"/>
            <a:ext cx="2857500" cy="571500"/>
          </a:xfrm>
          <a:prstGeom prst="rect">
            <a:avLst/>
          </a:prstGeom>
          <a:noFill/>
          <a:ln w="0">
            <a:noFill/>
            <a:prstDash val="solid"/>
          </a:ln>
        </p:spPr>
        <p:txBody>
          <a:bodyPr lIns="0" tIns="0" rIns="0" bIns="0" anchor="t">
            <a:normAutofit/>
          </a:bodyPr>
          <a:lstStyle/>
          <a:p>
            <a:pPr algn="l">
              <a:lnSpc>
                <a:spcPct val="100000"/>
              </a:lnSpc>
              <a:buNone/>
              <a:defRPr sz="1800" b="1">
                <a:solidFill>
                  <a:srgbClr val="101820"/>
                </a:solidFill>
                <a:latin typeface="Bahnschrift"/>
                <a:ea typeface="Bahnschrift"/>
                <a:cs typeface="Bahnschrift"/>
              </a:defRPr>
            </a:pPr>
            <a:r>
              <a:rPr sz="1800" b="1">
                <a:solidFill>
                  <a:srgbClr val="101820"/>
                </a:solidFill>
                <a:latin typeface="Bahnschrift"/>
                <a:ea typeface="Bahnschrift"/>
                <a:cs typeface="Bahnschrift"/>
              </a:rPr>
              <a:t>Núcleo monolítico modular</a:t>
            </a:r>
          </a:p>
        </p:txBody>
      </p:sp>
      <p:sp>
        <p:nvSpPr>
          <p:cNvPr id="10" name="Rectángulo 9">
            <a:extLst>
              <a:ext uri="{FF2B5EF4-FFF2-40B4-BE49-F238E27FC236}">
                <a16:creationId xmlns:a16="http://schemas.microsoft.com/office/drawing/2014/main" id="{604DA448-39CB-451F-87D9-C8D29E508092}"/>
              </a:ext>
            </a:extLst>
          </p:cNvPr>
          <p:cNvSpPr>
            <a:spLocks noGrp="1"/>
          </p:cNvSpPr>
          <p:nvPr/>
        </p:nvSpPr>
        <p:spPr>
          <a:xfrm>
            <a:off x="819150" y="3714750"/>
            <a:ext cx="2857500" cy="800100"/>
          </a:xfrm>
          <a:prstGeom prst="rect">
            <a:avLst/>
          </a:prstGeom>
          <a:noFill/>
          <a:ln w="0">
            <a:noFill/>
            <a:prstDash val="solid"/>
          </a:ln>
        </p:spPr>
        <p:txBody>
          <a:bodyPr lIns="0" tIns="0" rIns="0" bIns="0" anchor="t">
            <a:normAutofit/>
          </a:bodyPr>
          <a:lstStyle/>
          <a:p>
            <a:pPr algn="l">
              <a:lnSpc>
                <a:spcPct val="100000"/>
              </a:lnSpc>
              <a:buNone/>
              <a:defRPr sz="1575" b="0">
                <a:solidFill>
                  <a:srgbClr val="667483"/>
                </a:solidFill>
                <a:latin typeface="Arial"/>
                <a:ea typeface="Arial"/>
                <a:cs typeface="Arial"/>
              </a:defRPr>
            </a:pPr>
            <a:r>
              <a:rPr sz="1575" b="0">
                <a:solidFill>
                  <a:srgbClr val="667483"/>
                </a:solidFill>
                <a:latin typeface="Arial"/>
                <a:ea typeface="Arial"/>
                <a:cs typeface="Arial"/>
              </a:rPr>
              <a:t>Servicios del núcleo y módulos cargables</a:t>
            </a:r>
          </a:p>
        </p:txBody>
      </p:sp>
      <p:sp>
        <p:nvSpPr>
          <p:cNvPr id="11" name="Rectángulo 10">
            <a:extLst>
              <a:ext uri="{FF2B5EF4-FFF2-40B4-BE49-F238E27FC236}">
                <a16:creationId xmlns:a16="http://schemas.microsoft.com/office/drawing/2014/main" id="{A2C2F2C7-442A-4B71-ADD2-104CCB2D0F10}"/>
              </a:ext>
            </a:extLst>
          </p:cNvPr>
          <p:cNvSpPr>
            <a:spLocks noGrp="1"/>
          </p:cNvSpPr>
          <p:nvPr/>
        </p:nvSpPr>
        <p:spPr>
          <a:xfrm>
            <a:off x="819150" y="4953000"/>
            <a:ext cx="2857500" cy="247650"/>
          </a:xfrm>
          <a:prstGeom prst="rect">
            <a:avLst/>
          </a:prstGeom>
          <a:noFill/>
          <a:ln w="0">
            <a:noFill/>
            <a:prstDash val="solid"/>
          </a:ln>
        </p:spPr>
        <p:txBody>
          <a:bodyPr lIns="0" tIns="0" rIns="0" bIns="0" anchor="t">
            <a:normAutofit/>
          </a:bodyPr>
          <a:lstStyle/>
          <a:p>
            <a:pPr algn="l">
              <a:lnSpc>
                <a:spcPct val="100000"/>
              </a:lnSpc>
              <a:buNone/>
              <a:defRPr sz="1200" b="1">
                <a:solidFill>
                  <a:srgbClr val="123A61"/>
                </a:solidFill>
                <a:latin typeface="Bahnschrift"/>
                <a:ea typeface="Bahnschrift"/>
                <a:cs typeface="Bahnschrift"/>
              </a:defRPr>
            </a:pPr>
            <a:r>
              <a:rPr sz="1200" b="1">
                <a:solidFill>
                  <a:srgbClr val="123A61"/>
                </a:solidFill>
                <a:latin typeface="Bahnschrift"/>
                <a:ea typeface="Bahnschrift"/>
                <a:cs typeface="Bahnschrift"/>
              </a:rPr>
              <a:t>MÓDULOS</a:t>
            </a:r>
          </a:p>
        </p:txBody>
      </p:sp>
      <p:sp>
        <p:nvSpPr>
          <p:cNvPr id="12" name="Conector recto 11">
            <a:extLst>
              <a:ext uri="{FF2B5EF4-FFF2-40B4-BE49-F238E27FC236}">
                <a16:creationId xmlns:a16="http://schemas.microsoft.com/office/drawing/2014/main" id="{96CA4B8A-4BA2-4C12-AF3E-C53DB5A55762}"/>
              </a:ext>
            </a:extLst>
          </p:cNvPr>
          <p:cNvSpPr>
            <a:spLocks noGrp="1"/>
          </p:cNvSpPr>
          <p:nvPr/>
        </p:nvSpPr>
        <p:spPr>
          <a:xfrm>
            <a:off x="4038600" y="1809750"/>
            <a:ext cx="0" cy="3619500"/>
          </a:xfrm>
          <a:prstGeom prst="line">
            <a:avLst/>
          </a:prstGeom>
          <a:noFill/>
          <a:ln w="9525">
            <a:solidFill>
              <a:srgbClr val="CBD4DE"/>
            </a:solidFill>
            <a:prstDash val="solid"/>
          </a:ln>
        </p:spPr>
        <p:txBody>
          <a:bodyPr/>
          <a:lstStyle/>
          <a:p>
            <a:endParaRPr lang="es-MX"/>
          </a:p>
        </p:txBody>
      </p:sp>
      <p:sp>
        <p:nvSpPr>
          <p:cNvPr id="13" name="Rectángulo 12">
            <a:extLst>
              <a:ext uri="{FF2B5EF4-FFF2-40B4-BE49-F238E27FC236}">
                <a16:creationId xmlns:a16="http://schemas.microsoft.com/office/drawing/2014/main" id="{72C2339C-D020-4158-A9DE-7FA96A3E7425}"/>
              </a:ext>
            </a:extLst>
          </p:cNvPr>
          <p:cNvSpPr>
            <a:spLocks noGrp="1"/>
          </p:cNvSpPr>
          <p:nvPr/>
        </p:nvSpPr>
        <p:spPr>
          <a:xfrm>
            <a:off x="4457700" y="1866900"/>
            <a:ext cx="3048000" cy="400050"/>
          </a:xfrm>
          <a:prstGeom prst="rect">
            <a:avLst/>
          </a:prstGeom>
          <a:noFill/>
          <a:ln w="0">
            <a:noFill/>
            <a:prstDash val="solid"/>
          </a:ln>
        </p:spPr>
        <p:txBody>
          <a:bodyPr lIns="0" tIns="0" rIns="0" bIns="0" anchor="t">
            <a:normAutofit/>
          </a:bodyPr>
          <a:lstStyle/>
          <a:p>
            <a:pPr algn="l">
              <a:lnSpc>
                <a:spcPct val="100000"/>
              </a:lnSpc>
              <a:buNone/>
              <a:defRPr sz="2100" b="0">
                <a:solidFill>
                  <a:srgbClr val="101820"/>
                </a:solidFill>
                <a:latin typeface="Arial Black"/>
                <a:ea typeface="Arial Black"/>
                <a:cs typeface="Arial Black"/>
              </a:defRPr>
            </a:pPr>
            <a:r>
              <a:rPr sz="2100" b="0">
                <a:solidFill>
                  <a:srgbClr val="101820"/>
                </a:solidFill>
                <a:latin typeface="Arial Black"/>
                <a:ea typeface="Arial Black"/>
                <a:cs typeface="Arial Black"/>
              </a:rPr>
              <a:t>WINDOWS 10</a:t>
            </a:r>
          </a:p>
        </p:txBody>
      </p:sp>
      <p:sp>
        <p:nvSpPr>
          <p:cNvPr id="14" name="Rectángulo 13">
            <a:extLst>
              <a:ext uri="{FF2B5EF4-FFF2-40B4-BE49-F238E27FC236}">
                <a16:creationId xmlns:a16="http://schemas.microsoft.com/office/drawing/2014/main" id="{E7600E02-EA89-48A8-8C2C-A774B21223BA}"/>
              </a:ext>
            </a:extLst>
          </p:cNvPr>
          <p:cNvSpPr>
            <a:spLocks noGrp="1"/>
          </p:cNvSpPr>
          <p:nvPr/>
        </p:nvSpPr>
        <p:spPr>
          <a:xfrm>
            <a:off x="4457700" y="2438400"/>
            <a:ext cx="2857500" cy="114300"/>
          </a:xfrm>
          <a:prstGeom prst="rect">
            <a:avLst/>
          </a:prstGeom>
          <a:solidFill>
            <a:srgbClr val="2D6FB7"/>
          </a:solidFill>
          <a:ln w="0">
            <a:solidFill>
              <a:srgbClr val="2D6FB7"/>
            </a:solidFill>
            <a:prstDash val="solid"/>
          </a:ln>
        </p:spPr>
        <p:txBody>
          <a:bodyPr/>
          <a:lstStyle/>
          <a:p>
            <a:endParaRPr lang="es-MX"/>
          </a:p>
        </p:txBody>
      </p:sp>
      <p:sp>
        <p:nvSpPr>
          <p:cNvPr id="15" name="Rectángulo 14">
            <a:extLst>
              <a:ext uri="{FF2B5EF4-FFF2-40B4-BE49-F238E27FC236}">
                <a16:creationId xmlns:a16="http://schemas.microsoft.com/office/drawing/2014/main" id="{40FA5705-DCBC-4E7F-AFE3-BDE1D2DBF804}"/>
              </a:ext>
            </a:extLst>
          </p:cNvPr>
          <p:cNvSpPr>
            <a:spLocks noGrp="1"/>
          </p:cNvSpPr>
          <p:nvPr/>
        </p:nvSpPr>
        <p:spPr>
          <a:xfrm>
            <a:off x="4457700" y="2895600"/>
            <a:ext cx="2857500" cy="571500"/>
          </a:xfrm>
          <a:prstGeom prst="rect">
            <a:avLst/>
          </a:prstGeom>
          <a:noFill/>
          <a:ln w="0">
            <a:noFill/>
            <a:prstDash val="solid"/>
          </a:ln>
        </p:spPr>
        <p:txBody>
          <a:bodyPr lIns="0" tIns="0" rIns="0" bIns="0" anchor="t">
            <a:normAutofit/>
          </a:bodyPr>
          <a:lstStyle/>
          <a:p>
            <a:pPr algn="l">
              <a:lnSpc>
                <a:spcPct val="100000"/>
              </a:lnSpc>
              <a:buNone/>
              <a:defRPr sz="1800" b="1">
                <a:solidFill>
                  <a:srgbClr val="101820"/>
                </a:solidFill>
                <a:latin typeface="Bahnschrift"/>
                <a:ea typeface="Bahnschrift"/>
                <a:cs typeface="Bahnschrift"/>
              </a:defRPr>
            </a:pPr>
            <a:r>
              <a:rPr sz="1800" b="1">
                <a:solidFill>
                  <a:srgbClr val="101820"/>
                </a:solidFill>
                <a:latin typeface="Bahnschrift"/>
                <a:ea typeface="Bahnschrift"/>
                <a:cs typeface="Bahnschrift"/>
              </a:rPr>
              <a:t>Arquitectura híbrida</a:t>
            </a:r>
          </a:p>
        </p:txBody>
      </p:sp>
      <p:sp>
        <p:nvSpPr>
          <p:cNvPr id="16" name="Rectángulo 15">
            <a:extLst>
              <a:ext uri="{FF2B5EF4-FFF2-40B4-BE49-F238E27FC236}">
                <a16:creationId xmlns:a16="http://schemas.microsoft.com/office/drawing/2014/main" id="{1E4E7F42-B82A-4BD0-A81F-8CD9D474B2C1}"/>
              </a:ext>
            </a:extLst>
          </p:cNvPr>
          <p:cNvSpPr>
            <a:spLocks noGrp="1"/>
          </p:cNvSpPr>
          <p:nvPr/>
        </p:nvSpPr>
        <p:spPr>
          <a:xfrm>
            <a:off x="4457700" y="3714750"/>
            <a:ext cx="2857500" cy="800100"/>
          </a:xfrm>
          <a:prstGeom prst="rect">
            <a:avLst/>
          </a:prstGeom>
          <a:noFill/>
          <a:ln w="0">
            <a:noFill/>
            <a:prstDash val="solid"/>
          </a:ln>
        </p:spPr>
        <p:txBody>
          <a:bodyPr lIns="0" tIns="0" rIns="0" bIns="0" anchor="t">
            <a:normAutofit/>
          </a:bodyPr>
          <a:lstStyle/>
          <a:p>
            <a:pPr algn="l">
              <a:lnSpc>
                <a:spcPct val="100000"/>
              </a:lnSpc>
              <a:buNone/>
              <a:defRPr sz="1575" b="0">
                <a:solidFill>
                  <a:srgbClr val="667483"/>
                </a:solidFill>
                <a:latin typeface="Arial"/>
                <a:ea typeface="Arial"/>
                <a:cs typeface="Arial"/>
              </a:defRPr>
            </a:pPr>
            <a:r>
              <a:rPr sz="1575" b="0">
                <a:solidFill>
                  <a:srgbClr val="667483"/>
                </a:solidFill>
                <a:latin typeface="Arial"/>
                <a:ea typeface="Arial"/>
                <a:cs typeface="Arial"/>
              </a:rPr>
              <a:t>Subsistemas y módulos del núcleo</a:t>
            </a:r>
          </a:p>
        </p:txBody>
      </p:sp>
      <p:sp>
        <p:nvSpPr>
          <p:cNvPr id="17" name="Rectángulo 16">
            <a:extLst>
              <a:ext uri="{FF2B5EF4-FFF2-40B4-BE49-F238E27FC236}">
                <a16:creationId xmlns:a16="http://schemas.microsoft.com/office/drawing/2014/main" id="{A29B80AD-2C4D-44DA-A1F2-105F9D6B5179}"/>
              </a:ext>
            </a:extLst>
          </p:cNvPr>
          <p:cNvSpPr>
            <a:spLocks noGrp="1"/>
          </p:cNvSpPr>
          <p:nvPr/>
        </p:nvSpPr>
        <p:spPr>
          <a:xfrm>
            <a:off x="4457700" y="4953000"/>
            <a:ext cx="2857500" cy="2476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SUBSISTEMAS</a:t>
            </a:r>
          </a:p>
        </p:txBody>
      </p:sp>
      <p:sp>
        <p:nvSpPr>
          <p:cNvPr id="18" name="Conector recto 17">
            <a:extLst>
              <a:ext uri="{FF2B5EF4-FFF2-40B4-BE49-F238E27FC236}">
                <a16:creationId xmlns:a16="http://schemas.microsoft.com/office/drawing/2014/main" id="{F5BA3D35-1AE8-4870-B707-6B9CCD1794AB}"/>
              </a:ext>
            </a:extLst>
          </p:cNvPr>
          <p:cNvSpPr>
            <a:spLocks noGrp="1"/>
          </p:cNvSpPr>
          <p:nvPr/>
        </p:nvSpPr>
        <p:spPr>
          <a:xfrm>
            <a:off x="7677150" y="1809750"/>
            <a:ext cx="0" cy="3619500"/>
          </a:xfrm>
          <a:prstGeom prst="line">
            <a:avLst/>
          </a:prstGeom>
          <a:noFill/>
          <a:ln w="9525">
            <a:solidFill>
              <a:srgbClr val="CBD4DE"/>
            </a:solidFill>
            <a:prstDash val="solid"/>
          </a:ln>
        </p:spPr>
        <p:txBody>
          <a:bodyPr/>
          <a:lstStyle/>
          <a:p>
            <a:endParaRPr lang="es-MX"/>
          </a:p>
        </p:txBody>
      </p:sp>
      <p:sp>
        <p:nvSpPr>
          <p:cNvPr id="19" name="Rectángulo 18">
            <a:extLst>
              <a:ext uri="{FF2B5EF4-FFF2-40B4-BE49-F238E27FC236}">
                <a16:creationId xmlns:a16="http://schemas.microsoft.com/office/drawing/2014/main" id="{9B91CB13-F1E1-4AFE-95CC-0D047C5D4E91}"/>
              </a:ext>
            </a:extLst>
          </p:cNvPr>
          <p:cNvSpPr>
            <a:spLocks noGrp="1"/>
          </p:cNvSpPr>
          <p:nvPr/>
        </p:nvSpPr>
        <p:spPr>
          <a:xfrm>
            <a:off x="8096250" y="1866900"/>
            <a:ext cx="3048000" cy="400050"/>
          </a:xfrm>
          <a:prstGeom prst="rect">
            <a:avLst/>
          </a:prstGeom>
          <a:noFill/>
          <a:ln w="0">
            <a:noFill/>
            <a:prstDash val="solid"/>
          </a:ln>
        </p:spPr>
        <p:txBody>
          <a:bodyPr lIns="0" tIns="0" rIns="0" bIns="0" anchor="t">
            <a:normAutofit/>
          </a:bodyPr>
          <a:lstStyle/>
          <a:p>
            <a:pPr algn="l">
              <a:lnSpc>
                <a:spcPct val="100000"/>
              </a:lnSpc>
              <a:buNone/>
              <a:defRPr sz="2100" b="0">
                <a:solidFill>
                  <a:srgbClr val="101820"/>
                </a:solidFill>
                <a:latin typeface="Arial Black"/>
                <a:ea typeface="Arial Black"/>
                <a:cs typeface="Arial Black"/>
              </a:defRPr>
            </a:pPr>
            <a:r>
              <a:rPr sz="2100" b="0">
                <a:solidFill>
                  <a:srgbClr val="101820"/>
                </a:solidFill>
                <a:latin typeface="Arial Black"/>
                <a:ea typeface="Arial Black"/>
                <a:cs typeface="Arial Black"/>
              </a:rPr>
              <a:t>macOS</a:t>
            </a:r>
          </a:p>
        </p:txBody>
      </p:sp>
      <p:sp>
        <p:nvSpPr>
          <p:cNvPr id="20" name="Rectángulo 19">
            <a:extLst>
              <a:ext uri="{FF2B5EF4-FFF2-40B4-BE49-F238E27FC236}">
                <a16:creationId xmlns:a16="http://schemas.microsoft.com/office/drawing/2014/main" id="{FE3906D4-9080-4BAE-80C6-4B12956C9CA8}"/>
              </a:ext>
            </a:extLst>
          </p:cNvPr>
          <p:cNvSpPr>
            <a:spLocks noGrp="1"/>
          </p:cNvSpPr>
          <p:nvPr/>
        </p:nvSpPr>
        <p:spPr>
          <a:xfrm>
            <a:off x="8096250" y="2438400"/>
            <a:ext cx="2857500" cy="114300"/>
          </a:xfrm>
          <a:prstGeom prst="rect">
            <a:avLst/>
          </a:prstGeom>
          <a:solidFill>
            <a:srgbClr val="25557D"/>
          </a:solidFill>
          <a:ln w="0">
            <a:solidFill>
              <a:srgbClr val="25557D"/>
            </a:solidFill>
            <a:prstDash val="solid"/>
          </a:ln>
        </p:spPr>
        <p:txBody>
          <a:bodyPr/>
          <a:lstStyle/>
          <a:p>
            <a:endParaRPr lang="es-MX"/>
          </a:p>
        </p:txBody>
      </p:sp>
      <p:sp>
        <p:nvSpPr>
          <p:cNvPr id="21" name="Rectángulo 20">
            <a:extLst>
              <a:ext uri="{FF2B5EF4-FFF2-40B4-BE49-F238E27FC236}">
                <a16:creationId xmlns:a16="http://schemas.microsoft.com/office/drawing/2014/main" id="{21F0FAE0-C05B-4F22-BC8B-5E99E033A6BD}"/>
              </a:ext>
            </a:extLst>
          </p:cNvPr>
          <p:cNvSpPr>
            <a:spLocks noGrp="1"/>
          </p:cNvSpPr>
          <p:nvPr/>
        </p:nvSpPr>
        <p:spPr>
          <a:xfrm>
            <a:off x="8096250" y="2895600"/>
            <a:ext cx="2857500" cy="571500"/>
          </a:xfrm>
          <a:prstGeom prst="rect">
            <a:avLst/>
          </a:prstGeom>
          <a:noFill/>
          <a:ln w="0">
            <a:noFill/>
            <a:prstDash val="solid"/>
          </a:ln>
        </p:spPr>
        <p:txBody>
          <a:bodyPr lIns="0" tIns="0" rIns="0" bIns="0" anchor="t">
            <a:normAutofit/>
          </a:bodyPr>
          <a:lstStyle/>
          <a:p>
            <a:pPr algn="l">
              <a:lnSpc>
                <a:spcPct val="100000"/>
              </a:lnSpc>
              <a:buNone/>
              <a:defRPr sz="1800" b="1">
                <a:solidFill>
                  <a:srgbClr val="101820"/>
                </a:solidFill>
                <a:latin typeface="Bahnschrift"/>
                <a:ea typeface="Bahnschrift"/>
                <a:cs typeface="Bahnschrift"/>
              </a:defRPr>
            </a:pPr>
            <a:r>
              <a:rPr sz="1800" b="1">
                <a:solidFill>
                  <a:srgbClr val="101820"/>
                </a:solidFill>
                <a:latin typeface="Bahnschrift"/>
                <a:ea typeface="Bahnschrift"/>
                <a:cs typeface="Bahnschrift"/>
              </a:rPr>
              <a:t>Darwin: Mach + BSD</a:t>
            </a:r>
          </a:p>
        </p:txBody>
      </p:sp>
      <p:sp>
        <p:nvSpPr>
          <p:cNvPr id="22" name="Rectángulo 21">
            <a:extLst>
              <a:ext uri="{FF2B5EF4-FFF2-40B4-BE49-F238E27FC236}">
                <a16:creationId xmlns:a16="http://schemas.microsoft.com/office/drawing/2014/main" id="{E81402E4-AEED-4088-9DAB-48F58DEBDB4F}"/>
              </a:ext>
            </a:extLst>
          </p:cNvPr>
          <p:cNvSpPr>
            <a:spLocks noGrp="1"/>
          </p:cNvSpPr>
          <p:nvPr/>
        </p:nvSpPr>
        <p:spPr>
          <a:xfrm>
            <a:off x="8096250" y="3714750"/>
            <a:ext cx="2857500" cy="800100"/>
          </a:xfrm>
          <a:prstGeom prst="rect">
            <a:avLst/>
          </a:prstGeom>
          <a:noFill/>
          <a:ln w="0">
            <a:noFill/>
            <a:prstDash val="solid"/>
          </a:ln>
        </p:spPr>
        <p:txBody>
          <a:bodyPr lIns="0" tIns="0" rIns="0" bIns="0" anchor="t">
            <a:normAutofit/>
          </a:bodyPr>
          <a:lstStyle/>
          <a:p>
            <a:pPr algn="l">
              <a:lnSpc>
                <a:spcPct val="100000"/>
              </a:lnSpc>
              <a:buNone/>
              <a:defRPr sz="1575" b="0">
                <a:solidFill>
                  <a:srgbClr val="667483"/>
                </a:solidFill>
                <a:latin typeface="Arial"/>
                <a:ea typeface="Arial"/>
                <a:cs typeface="Arial"/>
              </a:defRPr>
            </a:pPr>
            <a:r>
              <a:rPr sz="1575" b="0">
                <a:solidFill>
                  <a:srgbClr val="667483"/>
                </a:solidFill>
                <a:latin typeface="Arial"/>
                <a:ea typeface="Arial"/>
                <a:cs typeface="Arial"/>
              </a:rPr>
              <a:t>Capas de experiencia, frameworks y kernel</a:t>
            </a:r>
          </a:p>
        </p:txBody>
      </p:sp>
      <p:sp>
        <p:nvSpPr>
          <p:cNvPr id="23" name="Rectángulo 22">
            <a:extLst>
              <a:ext uri="{FF2B5EF4-FFF2-40B4-BE49-F238E27FC236}">
                <a16:creationId xmlns:a16="http://schemas.microsoft.com/office/drawing/2014/main" id="{138A1AFD-7C21-4219-B057-5C896B68B5F3}"/>
              </a:ext>
            </a:extLst>
          </p:cNvPr>
          <p:cNvSpPr>
            <a:spLocks noGrp="1"/>
          </p:cNvSpPr>
          <p:nvPr/>
        </p:nvSpPr>
        <p:spPr>
          <a:xfrm>
            <a:off x="8096250" y="4953000"/>
            <a:ext cx="2857500" cy="247650"/>
          </a:xfrm>
          <a:prstGeom prst="rect">
            <a:avLst/>
          </a:prstGeom>
          <a:noFill/>
          <a:ln w="0">
            <a:noFill/>
            <a:prstDash val="solid"/>
          </a:ln>
        </p:spPr>
        <p:txBody>
          <a:bodyPr lIns="0" tIns="0" rIns="0" bIns="0" anchor="t">
            <a:normAutofit/>
          </a:bodyPr>
          <a:lstStyle/>
          <a:p>
            <a:pPr algn="l">
              <a:lnSpc>
                <a:spcPct val="100000"/>
              </a:lnSpc>
              <a:buNone/>
              <a:defRPr sz="1200" b="1">
                <a:solidFill>
                  <a:srgbClr val="25557D"/>
                </a:solidFill>
                <a:latin typeface="Bahnschrift"/>
                <a:ea typeface="Bahnschrift"/>
                <a:cs typeface="Bahnschrift"/>
              </a:defRPr>
            </a:pPr>
            <a:r>
              <a:rPr sz="1200" b="1">
                <a:solidFill>
                  <a:srgbClr val="25557D"/>
                </a:solidFill>
                <a:latin typeface="Bahnschrift"/>
                <a:ea typeface="Bahnschrift"/>
                <a:cs typeface="Bahnschrift"/>
              </a:rPr>
              <a:t>CAPAS HÍBRIDAS</a:t>
            </a:r>
          </a:p>
        </p:txBody>
      </p:sp>
      <p:sp>
        <p:nvSpPr>
          <p:cNvPr id="24" name="Rectángulo 23">
            <a:extLst>
              <a:ext uri="{FF2B5EF4-FFF2-40B4-BE49-F238E27FC236}">
                <a16:creationId xmlns:a16="http://schemas.microsoft.com/office/drawing/2014/main" id="{0B962E73-9DFA-4427-8B04-1C8A0F925AAD}"/>
              </a:ext>
            </a:extLst>
          </p:cNvPr>
          <p:cNvSpPr>
            <a:spLocks noGrp="1"/>
          </p:cNvSpPr>
          <p:nvPr/>
        </p:nvSpPr>
        <p:spPr>
          <a:xfrm>
            <a:off x="819150" y="5619750"/>
            <a:ext cx="10287000" cy="438150"/>
          </a:xfrm>
          <a:prstGeom prst="rect">
            <a:avLst/>
          </a:prstGeom>
          <a:noFill/>
          <a:ln w="0">
            <a:noFill/>
            <a:prstDash val="solid"/>
          </a:ln>
        </p:spPr>
        <p:txBody>
          <a:bodyPr lIns="0" tIns="0" rIns="0" bIns="0" anchor="t">
            <a:normAutofit fontScale="94275"/>
          </a:bodyPr>
          <a:lstStyle/>
          <a:p>
            <a:pPr algn="l">
              <a:lnSpc>
                <a:spcPct val="100000"/>
              </a:lnSpc>
              <a:buNone/>
              <a:defRPr sz="1650" b="0">
                <a:solidFill>
                  <a:srgbClr val="101820"/>
                </a:solidFill>
                <a:latin typeface="Bahnschrift"/>
                <a:ea typeface="Bahnschrift"/>
                <a:cs typeface="Bahnschrift"/>
              </a:defRPr>
            </a:pPr>
            <a:r>
              <a:rPr sz="1650" b="0">
                <a:solidFill>
                  <a:srgbClr val="101820"/>
                </a:solidFill>
                <a:latin typeface="Bahnschrift"/>
                <a:ea typeface="Bahnschrift"/>
                <a:cs typeface="Bahnschrift"/>
              </a:rPr>
              <a:t>Los tres ofrecen servicios equivalentes al usuario, pero distribuyen responsabilidades internas de manera diferente.</a:t>
            </a:r>
          </a:p>
        </p:txBody>
      </p:sp>
    </p:spTree>
    <p:extLst>
      <p:ext uri="{BB962C8B-B14F-4D97-AF65-F5344CB8AC3E}">
        <p14:creationId xmlns:p14="http://schemas.microsoft.com/office/powerpoint/2010/main" val="1810848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018"/>
        </a:solidFill>
        <a:effectLst/>
      </p:bgPr>
    </p:bg>
    <p:spTree>
      <p:nvGrpSpPr>
        <p:cNvPr id="1" name=""/>
        <p:cNvGrpSpPr/>
        <p:nvPr/>
      </p:nvGrpSpPr>
      <p:grpSpPr>
        <a:xfrm>
          <a:off x="0" y="0"/>
          <a:ext cx="0" cy="0"/>
          <a:chOff x="0" y="0"/>
          <a:chExt cx="0" cy="0"/>
        </a:xfrm>
      </p:grpSpPr>
      <p:sp>
        <p:nvSpPr>
          <p:cNvPr id="29" name="Rectángulo 28">
            <a:extLst>
              <a:ext uri="{FF2B5EF4-FFF2-40B4-BE49-F238E27FC236}">
                <a16:creationId xmlns:a16="http://schemas.microsoft.com/office/drawing/2014/main" id="{2110D9E5-C768-4EDF-9530-7679AE133540}"/>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5A9BDC"/>
                </a:solidFill>
                <a:latin typeface="Bahnschrift"/>
                <a:ea typeface="Bahnschrift"/>
                <a:cs typeface="Bahnschrift"/>
              </a:defRPr>
            </a:pPr>
            <a:r>
              <a:rPr sz="1200" b="1">
                <a:solidFill>
                  <a:srgbClr val="5A9BDC"/>
                </a:solidFill>
                <a:latin typeface="Bahnschrift"/>
                <a:ea typeface="Bahnschrift"/>
                <a:cs typeface="Bahnschrift"/>
              </a:rPr>
              <a:t>9 · ORDENADORES Y MÓVILES</a:t>
            </a:r>
          </a:p>
        </p:txBody>
      </p:sp>
      <p:sp>
        <p:nvSpPr>
          <p:cNvPr id="2" name="Rectángulo 1">
            <a:extLst>
              <a:ext uri="{FF2B5EF4-FFF2-40B4-BE49-F238E27FC236}">
                <a16:creationId xmlns:a16="http://schemas.microsoft.com/office/drawing/2014/main" id="{2AE17CE0-C69C-45BE-AB5D-1E2358C0E525}"/>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F8FAFC"/>
                </a:solidFill>
                <a:latin typeface="Arial Black"/>
                <a:ea typeface="Arial Black"/>
                <a:cs typeface="Arial Black"/>
              </a:defRPr>
            </a:pPr>
            <a:r>
              <a:rPr sz="3600" b="1">
                <a:solidFill>
                  <a:srgbClr val="F8FAFC"/>
                </a:solidFill>
                <a:latin typeface="Arial Black"/>
                <a:ea typeface="Arial Black"/>
                <a:cs typeface="Arial Black"/>
              </a:rPr>
              <a:t>iOS y Android responden al entorno móvil</a:t>
            </a:r>
          </a:p>
        </p:txBody>
      </p:sp>
      <p:sp>
        <p:nvSpPr>
          <p:cNvPr id="3" name="Conector recto 2">
            <a:extLst>
              <a:ext uri="{FF2B5EF4-FFF2-40B4-BE49-F238E27FC236}">
                <a16:creationId xmlns:a16="http://schemas.microsoft.com/office/drawing/2014/main" id="{66D3695F-B01A-4FED-A556-EA53BB7F99E1}"/>
              </a:ext>
            </a:extLst>
          </p:cNvPr>
          <p:cNvSpPr>
            <a:spLocks noGrp="1"/>
          </p:cNvSpPr>
          <p:nvPr/>
        </p:nvSpPr>
        <p:spPr>
          <a:xfrm>
            <a:off x="685800" y="1219200"/>
            <a:ext cx="10820400" cy="0"/>
          </a:xfrm>
          <a:prstGeom prst="line">
            <a:avLst/>
          </a:prstGeom>
          <a:noFill/>
          <a:ln w="9525">
            <a:solidFill>
              <a:srgbClr val="263A4D"/>
            </a:solidFill>
            <a:prstDash val="solid"/>
          </a:ln>
        </p:spPr>
        <p:txBody>
          <a:bodyPr/>
          <a:lstStyle/>
          <a:p>
            <a:endParaRPr lang="es-MX"/>
          </a:p>
        </p:txBody>
      </p:sp>
      <p:sp>
        <p:nvSpPr>
          <p:cNvPr id="4" name="Conector recto 3">
            <a:extLst>
              <a:ext uri="{FF2B5EF4-FFF2-40B4-BE49-F238E27FC236}">
                <a16:creationId xmlns:a16="http://schemas.microsoft.com/office/drawing/2014/main" id="{B1D545D1-4589-4077-B2D7-9BB1CA7C2C94}"/>
              </a:ext>
            </a:extLst>
          </p:cNvPr>
          <p:cNvSpPr>
            <a:spLocks noGrp="1"/>
          </p:cNvSpPr>
          <p:nvPr/>
        </p:nvSpPr>
        <p:spPr>
          <a:xfrm>
            <a:off x="685800" y="6438900"/>
            <a:ext cx="10820400" cy="0"/>
          </a:xfrm>
          <a:prstGeom prst="line">
            <a:avLst/>
          </a:prstGeom>
          <a:noFill/>
          <a:ln w="9525">
            <a:solidFill>
              <a:srgbClr val="263A4D"/>
            </a:solidFill>
            <a:prstDash val="solid"/>
          </a:ln>
        </p:spPr>
        <p:txBody>
          <a:bodyPr/>
          <a:lstStyle/>
          <a:p>
            <a:endParaRPr lang="es-MX"/>
          </a:p>
        </p:txBody>
      </p:sp>
      <p:sp>
        <p:nvSpPr>
          <p:cNvPr id="5" name="Rectángulo 4">
            <a:extLst>
              <a:ext uri="{FF2B5EF4-FFF2-40B4-BE49-F238E27FC236}">
                <a16:creationId xmlns:a16="http://schemas.microsoft.com/office/drawing/2014/main" id="{E89B0383-2CAD-45C4-B796-DAF08C265B0E}"/>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AEB9C5"/>
                </a:solidFill>
                <a:latin typeface="Bahnschrift"/>
                <a:ea typeface="Bahnschrift"/>
                <a:cs typeface="Bahnschrift"/>
              </a:defRPr>
            </a:pPr>
            <a:r>
              <a:rPr sz="975" b="0">
                <a:solidFill>
                  <a:srgbClr val="AEB9C5"/>
                </a:solidFill>
                <a:latin typeface="Bahnschrift"/>
                <a:ea typeface="Bahnschrift"/>
                <a:cs typeface="Bahnschrift"/>
              </a:rPr>
              <a:t>9 · ORDENADORES Y MÓVILES</a:t>
            </a:r>
          </a:p>
        </p:txBody>
      </p:sp>
      <p:sp>
        <p:nvSpPr>
          <p:cNvPr id="6" name="Rectángulo 5">
            <a:extLst>
              <a:ext uri="{FF2B5EF4-FFF2-40B4-BE49-F238E27FC236}">
                <a16:creationId xmlns:a16="http://schemas.microsoft.com/office/drawing/2014/main" id="{83EA4306-9B6C-4FE9-A1A0-D070E64D7CBF}"/>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AEB9C5"/>
                </a:solidFill>
                <a:latin typeface="Bahnschrift"/>
                <a:ea typeface="Bahnschrift"/>
                <a:cs typeface="Bahnschrift"/>
              </a:defRPr>
            </a:pPr>
            <a:r>
              <a:rPr sz="1125" b="1">
                <a:solidFill>
                  <a:srgbClr val="AEB9C5"/>
                </a:solidFill>
                <a:latin typeface="Bahnschrift"/>
                <a:ea typeface="Bahnschrift"/>
                <a:cs typeface="Bahnschrift"/>
              </a:rPr>
              <a:t>15</a:t>
            </a:r>
          </a:p>
        </p:txBody>
      </p:sp>
      <p:sp>
        <p:nvSpPr>
          <p:cNvPr id="7" name="Conector recto 6">
            <a:extLst>
              <a:ext uri="{FF2B5EF4-FFF2-40B4-BE49-F238E27FC236}">
                <a16:creationId xmlns:a16="http://schemas.microsoft.com/office/drawing/2014/main" id="{19FF097E-6B2C-48F7-B5BD-9211C9ABF9BF}"/>
              </a:ext>
            </a:extLst>
          </p:cNvPr>
          <p:cNvSpPr>
            <a:spLocks noGrp="1"/>
          </p:cNvSpPr>
          <p:nvPr/>
        </p:nvSpPr>
        <p:spPr>
          <a:xfrm>
            <a:off x="6096000" y="1619250"/>
            <a:ext cx="0" cy="4095750"/>
          </a:xfrm>
          <a:prstGeom prst="line">
            <a:avLst/>
          </a:prstGeom>
          <a:noFill/>
          <a:ln w="9525">
            <a:solidFill>
              <a:srgbClr val="294057"/>
            </a:solidFill>
            <a:prstDash val="solid"/>
          </a:ln>
        </p:spPr>
        <p:txBody>
          <a:bodyPr/>
          <a:lstStyle/>
          <a:p>
            <a:endParaRPr lang="es-MX"/>
          </a:p>
        </p:txBody>
      </p:sp>
      <p:sp>
        <p:nvSpPr>
          <p:cNvPr id="8" name="Rectángulo 7">
            <a:extLst>
              <a:ext uri="{FF2B5EF4-FFF2-40B4-BE49-F238E27FC236}">
                <a16:creationId xmlns:a16="http://schemas.microsoft.com/office/drawing/2014/main" id="{EDC94639-CA11-4B24-ACD5-C560FD86BF95}"/>
              </a:ext>
            </a:extLst>
          </p:cNvPr>
          <p:cNvSpPr>
            <a:spLocks noGrp="1"/>
          </p:cNvSpPr>
          <p:nvPr/>
        </p:nvSpPr>
        <p:spPr>
          <a:xfrm>
            <a:off x="876300" y="1695450"/>
            <a:ext cx="2095500" cy="495300"/>
          </a:xfrm>
          <a:prstGeom prst="rect">
            <a:avLst/>
          </a:prstGeom>
          <a:noFill/>
          <a:ln w="0">
            <a:noFill/>
            <a:prstDash val="solid"/>
          </a:ln>
        </p:spPr>
        <p:txBody>
          <a:bodyPr lIns="0" tIns="0" rIns="0" bIns="0" anchor="t">
            <a:normAutofit/>
          </a:bodyPr>
          <a:lstStyle/>
          <a:p>
            <a:pPr algn="l">
              <a:lnSpc>
                <a:spcPct val="100000"/>
              </a:lnSpc>
              <a:buNone/>
              <a:defRPr sz="2700" b="0">
                <a:solidFill>
                  <a:srgbClr val="F8FAFC"/>
                </a:solidFill>
                <a:latin typeface="Arial Black"/>
                <a:ea typeface="Arial Black"/>
                <a:cs typeface="Arial Black"/>
              </a:defRPr>
            </a:pPr>
            <a:r>
              <a:rPr sz="2700" b="0">
                <a:solidFill>
                  <a:srgbClr val="F8FAFC"/>
                </a:solidFill>
                <a:latin typeface="Arial Black"/>
                <a:ea typeface="Arial Black"/>
                <a:cs typeface="Arial Black"/>
              </a:rPr>
              <a:t>iOS</a:t>
            </a:r>
          </a:p>
        </p:txBody>
      </p:sp>
      <p:sp>
        <p:nvSpPr>
          <p:cNvPr id="9" name="Rectángulo 8">
            <a:extLst>
              <a:ext uri="{FF2B5EF4-FFF2-40B4-BE49-F238E27FC236}">
                <a16:creationId xmlns:a16="http://schemas.microsoft.com/office/drawing/2014/main" id="{C3D2E1FF-CFEC-4E20-9098-6F18AE05D0A5}"/>
              </a:ext>
            </a:extLst>
          </p:cNvPr>
          <p:cNvSpPr>
            <a:spLocks noGrp="1"/>
          </p:cNvSpPr>
          <p:nvPr/>
        </p:nvSpPr>
        <p:spPr>
          <a:xfrm>
            <a:off x="876300" y="2343150"/>
            <a:ext cx="3810000" cy="361950"/>
          </a:xfrm>
          <a:prstGeom prst="rect">
            <a:avLst/>
          </a:prstGeom>
          <a:noFill/>
          <a:ln w="0">
            <a:noFill/>
            <a:prstDash val="solid"/>
          </a:ln>
        </p:spPr>
        <p:txBody>
          <a:bodyPr lIns="0" tIns="0" rIns="0" bIns="0" anchor="t">
            <a:normAutofit/>
          </a:bodyPr>
          <a:lstStyle/>
          <a:p>
            <a:pPr algn="l">
              <a:lnSpc>
                <a:spcPct val="100000"/>
              </a:lnSpc>
              <a:buNone/>
              <a:defRPr sz="1800" b="1">
                <a:solidFill>
                  <a:srgbClr val="5A9BDC"/>
                </a:solidFill>
                <a:latin typeface="Bahnschrift"/>
                <a:ea typeface="Bahnschrift"/>
                <a:cs typeface="Bahnschrift"/>
              </a:defRPr>
            </a:pPr>
            <a:r>
              <a:rPr sz="1800" b="1">
                <a:solidFill>
                  <a:srgbClr val="5A9BDC"/>
                </a:solidFill>
                <a:latin typeface="Bahnschrift"/>
                <a:ea typeface="Bahnschrift"/>
                <a:cs typeface="Bahnschrift"/>
              </a:rPr>
              <a:t>Darwin + Cocoa Touch</a:t>
            </a:r>
          </a:p>
        </p:txBody>
      </p:sp>
      <p:sp>
        <p:nvSpPr>
          <p:cNvPr id="10" name="Rectángulo 9">
            <a:extLst>
              <a:ext uri="{FF2B5EF4-FFF2-40B4-BE49-F238E27FC236}">
                <a16:creationId xmlns:a16="http://schemas.microsoft.com/office/drawing/2014/main" id="{339F47DE-D682-4C22-B53B-D48A7A00D0C7}"/>
              </a:ext>
            </a:extLst>
          </p:cNvPr>
          <p:cNvSpPr>
            <a:spLocks noGrp="1"/>
          </p:cNvSpPr>
          <p:nvPr/>
        </p:nvSpPr>
        <p:spPr>
          <a:xfrm>
            <a:off x="933450" y="310515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01</a:t>
            </a:r>
          </a:p>
        </p:txBody>
      </p:sp>
      <p:sp>
        <p:nvSpPr>
          <p:cNvPr id="11" name="Rectángulo 10">
            <a:extLst>
              <a:ext uri="{FF2B5EF4-FFF2-40B4-BE49-F238E27FC236}">
                <a16:creationId xmlns:a16="http://schemas.microsoft.com/office/drawing/2014/main" id="{E1B2F755-9EFB-4C85-A0B5-85BFE781292E}"/>
              </a:ext>
            </a:extLst>
          </p:cNvPr>
          <p:cNvSpPr>
            <a:spLocks noGrp="1"/>
          </p:cNvSpPr>
          <p:nvPr/>
        </p:nvSpPr>
        <p:spPr>
          <a:xfrm>
            <a:off x="1447800" y="3067050"/>
            <a:ext cx="400050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Interfaz diseñada para tacto</a:t>
            </a:r>
          </a:p>
        </p:txBody>
      </p:sp>
      <p:sp>
        <p:nvSpPr>
          <p:cNvPr id="12" name="Rectángulo 11">
            <a:extLst>
              <a:ext uri="{FF2B5EF4-FFF2-40B4-BE49-F238E27FC236}">
                <a16:creationId xmlns:a16="http://schemas.microsoft.com/office/drawing/2014/main" id="{87674AA2-C6EB-4833-B47C-E2ECB2682D1A}"/>
              </a:ext>
            </a:extLst>
          </p:cNvPr>
          <p:cNvSpPr>
            <a:spLocks noGrp="1"/>
          </p:cNvSpPr>
          <p:nvPr/>
        </p:nvSpPr>
        <p:spPr>
          <a:xfrm>
            <a:off x="933450" y="365760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02</a:t>
            </a:r>
          </a:p>
        </p:txBody>
      </p:sp>
      <p:sp>
        <p:nvSpPr>
          <p:cNvPr id="13" name="Rectángulo 12">
            <a:extLst>
              <a:ext uri="{FF2B5EF4-FFF2-40B4-BE49-F238E27FC236}">
                <a16:creationId xmlns:a16="http://schemas.microsoft.com/office/drawing/2014/main" id="{5A98B4FE-6C1E-4137-9DFD-A5B4C75F1207}"/>
              </a:ext>
            </a:extLst>
          </p:cNvPr>
          <p:cNvSpPr>
            <a:spLocks noGrp="1"/>
          </p:cNvSpPr>
          <p:nvPr/>
        </p:nvSpPr>
        <p:spPr>
          <a:xfrm>
            <a:off x="1447800" y="3619500"/>
            <a:ext cx="400050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Arquitecturas ARM</a:t>
            </a:r>
          </a:p>
        </p:txBody>
      </p:sp>
      <p:sp>
        <p:nvSpPr>
          <p:cNvPr id="14" name="Rectángulo 13">
            <a:extLst>
              <a:ext uri="{FF2B5EF4-FFF2-40B4-BE49-F238E27FC236}">
                <a16:creationId xmlns:a16="http://schemas.microsoft.com/office/drawing/2014/main" id="{CA4EE3A5-A75A-4261-B49D-E7A1F319A597}"/>
              </a:ext>
            </a:extLst>
          </p:cNvPr>
          <p:cNvSpPr>
            <a:spLocks noGrp="1"/>
          </p:cNvSpPr>
          <p:nvPr/>
        </p:nvSpPr>
        <p:spPr>
          <a:xfrm>
            <a:off x="933450" y="421005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03</a:t>
            </a:r>
          </a:p>
        </p:txBody>
      </p:sp>
      <p:sp>
        <p:nvSpPr>
          <p:cNvPr id="15" name="Rectángulo 14">
            <a:extLst>
              <a:ext uri="{FF2B5EF4-FFF2-40B4-BE49-F238E27FC236}">
                <a16:creationId xmlns:a16="http://schemas.microsoft.com/office/drawing/2014/main" id="{7F8C7B6F-6A08-4521-BB06-5C60454BC907}"/>
              </a:ext>
            </a:extLst>
          </p:cNvPr>
          <p:cNvSpPr>
            <a:spLocks noGrp="1"/>
          </p:cNvSpPr>
          <p:nvPr/>
        </p:nvSpPr>
        <p:spPr>
          <a:xfrm>
            <a:off x="1447800" y="4171950"/>
            <a:ext cx="400050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Gestión intensa de energía y memoria</a:t>
            </a:r>
          </a:p>
        </p:txBody>
      </p:sp>
      <p:sp>
        <p:nvSpPr>
          <p:cNvPr id="16" name="Rectángulo 15">
            <a:extLst>
              <a:ext uri="{FF2B5EF4-FFF2-40B4-BE49-F238E27FC236}">
                <a16:creationId xmlns:a16="http://schemas.microsoft.com/office/drawing/2014/main" id="{03BC92FF-5B17-4724-A88C-6CC6D84BC5BA}"/>
              </a:ext>
            </a:extLst>
          </p:cNvPr>
          <p:cNvSpPr>
            <a:spLocks noGrp="1"/>
          </p:cNvSpPr>
          <p:nvPr/>
        </p:nvSpPr>
        <p:spPr>
          <a:xfrm>
            <a:off x="933450" y="476250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04</a:t>
            </a:r>
          </a:p>
        </p:txBody>
      </p:sp>
      <p:sp>
        <p:nvSpPr>
          <p:cNvPr id="17" name="Rectángulo 16">
            <a:extLst>
              <a:ext uri="{FF2B5EF4-FFF2-40B4-BE49-F238E27FC236}">
                <a16:creationId xmlns:a16="http://schemas.microsoft.com/office/drawing/2014/main" id="{681812BE-7B13-444A-A93F-A07BAC6C5E43}"/>
              </a:ext>
            </a:extLst>
          </p:cNvPr>
          <p:cNvSpPr>
            <a:spLocks noGrp="1"/>
          </p:cNvSpPr>
          <p:nvPr/>
        </p:nvSpPr>
        <p:spPr>
          <a:xfrm>
            <a:off x="1447800" y="4724400"/>
            <a:ext cx="400050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Ajustes de seguridad más estrictos</a:t>
            </a:r>
          </a:p>
        </p:txBody>
      </p:sp>
      <p:sp>
        <p:nvSpPr>
          <p:cNvPr id="18" name="Rectángulo 17">
            <a:extLst>
              <a:ext uri="{FF2B5EF4-FFF2-40B4-BE49-F238E27FC236}">
                <a16:creationId xmlns:a16="http://schemas.microsoft.com/office/drawing/2014/main" id="{247D5C6C-A0EA-4C42-9215-A10BD29D5662}"/>
              </a:ext>
            </a:extLst>
          </p:cNvPr>
          <p:cNvSpPr>
            <a:spLocks noGrp="1"/>
          </p:cNvSpPr>
          <p:nvPr/>
        </p:nvSpPr>
        <p:spPr>
          <a:xfrm>
            <a:off x="6667500" y="1695450"/>
            <a:ext cx="2667000" cy="495300"/>
          </a:xfrm>
          <a:prstGeom prst="rect">
            <a:avLst/>
          </a:prstGeom>
          <a:noFill/>
          <a:ln w="0">
            <a:noFill/>
            <a:prstDash val="solid"/>
          </a:ln>
        </p:spPr>
        <p:txBody>
          <a:bodyPr lIns="0" tIns="0" rIns="0" bIns="0" anchor="t">
            <a:normAutofit/>
          </a:bodyPr>
          <a:lstStyle/>
          <a:p>
            <a:pPr algn="l">
              <a:lnSpc>
                <a:spcPct val="100000"/>
              </a:lnSpc>
              <a:buNone/>
              <a:defRPr sz="2700" b="0">
                <a:solidFill>
                  <a:srgbClr val="F8FAFC"/>
                </a:solidFill>
                <a:latin typeface="Arial Black"/>
                <a:ea typeface="Arial Black"/>
                <a:cs typeface="Arial Black"/>
              </a:defRPr>
            </a:pPr>
            <a:r>
              <a:rPr sz="2700" b="0">
                <a:solidFill>
                  <a:srgbClr val="F8FAFC"/>
                </a:solidFill>
                <a:latin typeface="Arial Black"/>
                <a:ea typeface="Arial Black"/>
                <a:cs typeface="Arial Black"/>
              </a:rPr>
              <a:t>ANDROID</a:t>
            </a:r>
          </a:p>
        </p:txBody>
      </p:sp>
      <p:sp>
        <p:nvSpPr>
          <p:cNvPr id="19" name="Rectángulo 18">
            <a:extLst>
              <a:ext uri="{FF2B5EF4-FFF2-40B4-BE49-F238E27FC236}">
                <a16:creationId xmlns:a16="http://schemas.microsoft.com/office/drawing/2014/main" id="{DE1EDB43-7768-477F-A1AE-C85FE5A2B1BC}"/>
              </a:ext>
            </a:extLst>
          </p:cNvPr>
          <p:cNvSpPr>
            <a:spLocks noGrp="1"/>
          </p:cNvSpPr>
          <p:nvPr/>
        </p:nvSpPr>
        <p:spPr>
          <a:xfrm>
            <a:off x="6667500" y="2343150"/>
            <a:ext cx="3810000" cy="361950"/>
          </a:xfrm>
          <a:prstGeom prst="rect">
            <a:avLst/>
          </a:prstGeom>
          <a:noFill/>
          <a:ln w="0">
            <a:noFill/>
            <a:prstDash val="solid"/>
          </a:ln>
        </p:spPr>
        <p:txBody>
          <a:bodyPr lIns="0" tIns="0" rIns="0" bIns="0" anchor="t">
            <a:normAutofit/>
          </a:bodyPr>
          <a:lstStyle/>
          <a:p>
            <a:pPr algn="l">
              <a:lnSpc>
                <a:spcPct val="100000"/>
              </a:lnSpc>
              <a:buNone/>
              <a:defRPr sz="1800" b="1">
                <a:solidFill>
                  <a:srgbClr val="5A9BDC"/>
                </a:solidFill>
                <a:latin typeface="Bahnschrift"/>
                <a:ea typeface="Bahnschrift"/>
                <a:cs typeface="Bahnschrift"/>
              </a:defRPr>
            </a:pPr>
            <a:r>
              <a:rPr sz="1800" b="1">
                <a:solidFill>
                  <a:srgbClr val="5A9BDC"/>
                </a:solidFill>
                <a:latin typeface="Bahnschrift"/>
                <a:ea typeface="Bahnschrift"/>
                <a:cs typeface="Bahnschrift"/>
              </a:rPr>
              <a:t>Linux + ART + HAL</a:t>
            </a:r>
          </a:p>
        </p:txBody>
      </p:sp>
      <p:sp>
        <p:nvSpPr>
          <p:cNvPr id="20" name="Rectángulo 19">
            <a:extLst>
              <a:ext uri="{FF2B5EF4-FFF2-40B4-BE49-F238E27FC236}">
                <a16:creationId xmlns:a16="http://schemas.microsoft.com/office/drawing/2014/main" id="{AFCAC335-7A8B-4106-BEB3-E489A3555C0A}"/>
              </a:ext>
            </a:extLst>
          </p:cNvPr>
          <p:cNvSpPr>
            <a:spLocks noGrp="1"/>
          </p:cNvSpPr>
          <p:nvPr/>
        </p:nvSpPr>
        <p:spPr>
          <a:xfrm>
            <a:off x="6724650" y="310515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01</a:t>
            </a:r>
          </a:p>
        </p:txBody>
      </p:sp>
      <p:sp>
        <p:nvSpPr>
          <p:cNvPr id="21" name="Rectángulo 20">
            <a:extLst>
              <a:ext uri="{FF2B5EF4-FFF2-40B4-BE49-F238E27FC236}">
                <a16:creationId xmlns:a16="http://schemas.microsoft.com/office/drawing/2014/main" id="{7BDD1A3E-8FA0-43F2-8554-3F7D4FA9AEEE}"/>
              </a:ext>
            </a:extLst>
          </p:cNvPr>
          <p:cNvSpPr>
            <a:spLocks noGrp="1"/>
          </p:cNvSpPr>
          <p:nvPr/>
        </p:nvSpPr>
        <p:spPr>
          <a:xfrm>
            <a:off x="7239000" y="3067050"/>
            <a:ext cx="409575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Frameworks y bibliotecas nativas</a:t>
            </a:r>
          </a:p>
        </p:txBody>
      </p:sp>
      <p:sp>
        <p:nvSpPr>
          <p:cNvPr id="22" name="Rectángulo 21">
            <a:extLst>
              <a:ext uri="{FF2B5EF4-FFF2-40B4-BE49-F238E27FC236}">
                <a16:creationId xmlns:a16="http://schemas.microsoft.com/office/drawing/2014/main" id="{62F28756-0242-4168-96BE-D66FBBFC60C7}"/>
              </a:ext>
            </a:extLst>
          </p:cNvPr>
          <p:cNvSpPr>
            <a:spLocks noGrp="1"/>
          </p:cNvSpPr>
          <p:nvPr/>
        </p:nvSpPr>
        <p:spPr>
          <a:xfrm>
            <a:off x="6724650" y="365760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02</a:t>
            </a:r>
          </a:p>
        </p:txBody>
      </p:sp>
      <p:sp>
        <p:nvSpPr>
          <p:cNvPr id="23" name="Rectángulo 22">
            <a:extLst>
              <a:ext uri="{FF2B5EF4-FFF2-40B4-BE49-F238E27FC236}">
                <a16:creationId xmlns:a16="http://schemas.microsoft.com/office/drawing/2014/main" id="{6DE3DE7C-D5D7-44FB-9CDD-DAF42DB1CD82}"/>
              </a:ext>
            </a:extLst>
          </p:cNvPr>
          <p:cNvSpPr>
            <a:spLocks noGrp="1"/>
          </p:cNvSpPr>
          <p:nvPr/>
        </p:nvSpPr>
        <p:spPr>
          <a:xfrm>
            <a:off x="7239000" y="3619500"/>
            <a:ext cx="409575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HAL abstrae cámaras y sensores</a:t>
            </a:r>
          </a:p>
        </p:txBody>
      </p:sp>
      <p:sp>
        <p:nvSpPr>
          <p:cNvPr id="24" name="Rectángulo 23">
            <a:extLst>
              <a:ext uri="{FF2B5EF4-FFF2-40B4-BE49-F238E27FC236}">
                <a16:creationId xmlns:a16="http://schemas.microsoft.com/office/drawing/2014/main" id="{BFCEE7EA-FF8C-44D0-8D36-F35D2C0199CE}"/>
              </a:ext>
            </a:extLst>
          </p:cNvPr>
          <p:cNvSpPr>
            <a:spLocks noGrp="1"/>
          </p:cNvSpPr>
          <p:nvPr/>
        </p:nvSpPr>
        <p:spPr>
          <a:xfrm>
            <a:off x="6724650" y="421005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03</a:t>
            </a:r>
          </a:p>
        </p:txBody>
      </p:sp>
      <p:sp>
        <p:nvSpPr>
          <p:cNvPr id="25" name="Rectángulo 24">
            <a:extLst>
              <a:ext uri="{FF2B5EF4-FFF2-40B4-BE49-F238E27FC236}">
                <a16:creationId xmlns:a16="http://schemas.microsoft.com/office/drawing/2014/main" id="{844624FE-D1F3-4256-84B3-F995820D65A6}"/>
              </a:ext>
            </a:extLst>
          </p:cNvPr>
          <p:cNvSpPr>
            <a:spLocks noGrp="1"/>
          </p:cNvSpPr>
          <p:nvPr/>
        </p:nvSpPr>
        <p:spPr>
          <a:xfrm>
            <a:off x="7239000" y="4171950"/>
            <a:ext cx="409575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Portabilidad entre fabricantes</a:t>
            </a:r>
          </a:p>
        </p:txBody>
      </p:sp>
      <p:sp>
        <p:nvSpPr>
          <p:cNvPr id="26" name="Rectángulo 25">
            <a:extLst>
              <a:ext uri="{FF2B5EF4-FFF2-40B4-BE49-F238E27FC236}">
                <a16:creationId xmlns:a16="http://schemas.microsoft.com/office/drawing/2014/main" id="{4783DEC2-EC98-4030-9CF4-41BABCD15519}"/>
              </a:ext>
            </a:extLst>
          </p:cNvPr>
          <p:cNvSpPr>
            <a:spLocks noGrp="1"/>
          </p:cNvSpPr>
          <p:nvPr/>
        </p:nvSpPr>
        <p:spPr>
          <a:xfrm>
            <a:off x="6724650" y="4762500"/>
            <a:ext cx="400050" cy="266700"/>
          </a:xfrm>
          <a:prstGeom prst="rect">
            <a:avLst/>
          </a:prstGeom>
          <a:noFill/>
          <a:ln w="0">
            <a:noFill/>
            <a:prstDash val="solid"/>
          </a:ln>
        </p:spPr>
        <p:txBody>
          <a:bodyPr lIns="0" tIns="0" rIns="0" bIns="0" anchor="t">
            <a:normAutofit/>
          </a:bodyPr>
          <a:lstStyle/>
          <a:p>
            <a:pPr algn="l">
              <a:lnSpc>
                <a:spcPct val="100000"/>
              </a:lnSpc>
              <a:buNone/>
              <a:defRPr sz="1425" b="0">
                <a:solidFill>
                  <a:srgbClr val="5A9BDC"/>
                </a:solidFill>
                <a:latin typeface="Arial Black"/>
                <a:ea typeface="Arial Black"/>
                <a:cs typeface="Arial Black"/>
              </a:defRPr>
            </a:pPr>
            <a:r>
              <a:rPr sz="1425" b="0">
                <a:solidFill>
                  <a:srgbClr val="5A9BDC"/>
                </a:solidFill>
                <a:latin typeface="Arial Black"/>
                <a:ea typeface="Arial Black"/>
                <a:cs typeface="Arial Black"/>
              </a:rPr>
              <a:t>04</a:t>
            </a:r>
          </a:p>
        </p:txBody>
      </p:sp>
      <p:sp>
        <p:nvSpPr>
          <p:cNvPr id="27" name="Rectángulo 26">
            <a:extLst>
              <a:ext uri="{FF2B5EF4-FFF2-40B4-BE49-F238E27FC236}">
                <a16:creationId xmlns:a16="http://schemas.microsoft.com/office/drawing/2014/main" id="{A02DCAB6-078C-483F-AB33-367742BD5603}"/>
              </a:ext>
            </a:extLst>
          </p:cNvPr>
          <p:cNvSpPr>
            <a:spLocks noGrp="1"/>
          </p:cNvSpPr>
          <p:nvPr/>
        </p:nvSpPr>
        <p:spPr>
          <a:xfrm>
            <a:off x="7239000" y="4724400"/>
            <a:ext cx="4095750" cy="381000"/>
          </a:xfrm>
          <a:prstGeom prst="rect">
            <a:avLst/>
          </a:prstGeom>
          <a:noFill/>
          <a:ln w="0">
            <a:noFill/>
            <a:prstDash val="solid"/>
          </a:ln>
        </p:spPr>
        <p:txBody>
          <a:bodyPr lIns="0" tIns="0" rIns="0" bIns="0" anchor="t">
            <a:normAutofit/>
          </a:bodyPr>
          <a:lstStyle/>
          <a:p>
            <a:pPr algn="l">
              <a:lnSpc>
                <a:spcPct val="100000"/>
              </a:lnSpc>
              <a:buNone/>
              <a:defRPr sz="1575" b="0">
                <a:solidFill>
                  <a:srgbClr val="AEB9C5"/>
                </a:solidFill>
                <a:latin typeface="Arial"/>
                <a:ea typeface="Arial"/>
                <a:cs typeface="Arial"/>
              </a:defRPr>
            </a:pPr>
            <a:r>
              <a:rPr sz="1575" b="0">
                <a:solidFill>
                  <a:srgbClr val="AEB9C5"/>
                </a:solidFill>
                <a:latin typeface="Arial"/>
                <a:ea typeface="Arial"/>
                <a:cs typeface="Arial"/>
              </a:rPr>
              <a:t>Núcleo adaptado a energía, memoria e IPC</a:t>
            </a:r>
          </a:p>
        </p:txBody>
      </p:sp>
      <p:sp>
        <p:nvSpPr>
          <p:cNvPr id="28" name="Rectángulo 27">
            <a:extLst>
              <a:ext uri="{FF2B5EF4-FFF2-40B4-BE49-F238E27FC236}">
                <a16:creationId xmlns:a16="http://schemas.microsoft.com/office/drawing/2014/main" id="{07853F00-AA22-46BF-AAED-DE9E4C25E680}"/>
              </a:ext>
            </a:extLst>
          </p:cNvPr>
          <p:cNvSpPr>
            <a:spLocks noGrp="1"/>
          </p:cNvSpPr>
          <p:nvPr/>
        </p:nvSpPr>
        <p:spPr>
          <a:xfrm>
            <a:off x="1428750" y="5676900"/>
            <a:ext cx="9334500" cy="400050"/>
          </a:xfrm>
          <a:prstGeom prst="rect">
            <a:avLst/>
          </a:prstGeom>
          <a:noFill/>
          <a:ln w="0">
            <a:noFill/>
            <a:prstDash val="solid"/>
          </a:ln>
        </p:spPr>
        <p:txBody>
          <a:bodyPr lIns="0" tIns="0" rIns="0" bIns="0" anchor="t">
            <a:normAutofit/>
          </a:bodyPr>
          <a:lstStyle/>
          <a:p>
            <a:pPr algn="ctr">
              <a:lnSpc>
                <a:spcPct val="100000"/>
              </a:lnSpc>
              <a:buNone/>
              <a:defRPr sz="1650" b="0">
                <a:solidFill>
                  <a:srgbClr val="F8FAFC"/>
                </a:solidFill>
                <a:latin typeface="Bahnschrift"/>
                <a:ea typeface="Bahnschrift"/>
                <a:cs typeface="Bahnschrift"/>
              </a:defRPr>
            </a:pPr>
            <a:r>
              <a:rPr sz="1650" b="0">
                <a:solidFill>
                  <a:srgbClr val="F8FAFC"/>
                </a:solidFill>
                <a:latin typeface="Bahnschrift"/>
                <a:ea typeface="Bahnschrift"/>
                <a:cs typeface="Bahnschrift"/>
              </a:rPr>
              <a:t>Comparten la misión del escritorio, pero adaptan capas y políticas a restricciones móviles.</a:t>
            </a:r>
          </a:p>
        </p:txBody>
      </p:sp>
    </p:spTree>
    <p:extLst>
      <p:ext uri="{BB962C8B-B14F-4D97-AF65-F5344CB8AC3E}">
        <p14:creationId xmlns:p14="http://schemas.microsoft.com/office/powerpoint/2010/main" val="1154081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BB1DE272-60E4-4774-8AAE-46AA3EAD2D74}"/>
              </a:ext>
            </a:extLst>
          </p:cNvPr>
          <p:cNvSpPr>
            <a:spLocks noGrp="1"/>
          </p:cNvSpPr>
          <p:nvPr/>
        </p:nvSpPr>
        <p:spPr>
          <a:xfrm>
            <a:off x="685800" y="285750"/>
            <a:ext cx="4000500" cy="209550"/>
          </a:xfrm>
          <a:prstGeom prst="rect">
            <a:avLst/>
          </a:prstGeom>
          <a:noFill/>
          <a:ln w="0">
            <a:noFill/>
            <a:prstDash val="solid"/>
          </a:ln>
        </p:spPr>
        <p:txBody>
          <a:bodyPr lIns="0" tIns="0" rIns="0" bIns="0" anchor="t">
            <a:normAutofit/>
          </a:bodyPr>
          <a:lstStyle/>
          <a:p>
            <a:pPr algn="l">
              <a:lnSpc>
                <a:spcPct val="100000"/>
              </a:lnSpc>
              <a:buNone/>
              <a:defRPr sz="1200" b="1">
                <a:solidFill>
                  <a:srgbClr val="2D6FB7"/>
                </a:solidFill>
                <a:latin typeface="Bahnschrift"/>
                <a:ea typeface="Bahnschrift"/>
                <a:cs typeface="Bahnschrift"/>
              </a:defRPr>
            </a:pPr>
            <a:r>
              <a:rPr sz="1200" b="1">
                <a:solidFill>
                  <a:srgbClr val="2D6FB7"/>
                </a:solidFill>
                <a:latin typeface="Bahnschrift"/>
                <a:ea typeface="Bahnschrift"/>
                <a:cs typeface="Bahnschrift"/>
              </a:rPr>
              <a:t>10 · CATEGORÍAS</a:t>
            </a:r>
          </a:p>
        </p:txBody>
      </p:sp>
      <p:sp>
        <p:nvSpPr>
          <p:cNvPr id="2" name="Rectángulo 1">
            <a:extLst>
              <a:ext uri="{FF2B5EF4-FFF2-40B4-BE49-F238E27FC236}">
                <a16:creationId xmlns:a16="http://schemas.microsoft.com/office/drawing/2014/main" id="{39BE56A6-B4C3-407B-8711-02A4A1E67F80}"/>
              </a:ext>
            </a:extLst>
          </p:cNvPr>
          <p:cNvSpPr>
            <a:spLocks noGrp="1"/>
          </p:cNvSpPr>
          <p:nvPr/>
        </p:nvSpPr>
        <p:spPr>
          <a:xfrm>
            <a:off x="685800" y="523875"/>
            <a:ext cx="10820400" cy="590550"/>
          </a:xfrm>
          <a:prstGeom prst="rect">
            <a:avLst/>
          </a:prstGeom>
          <a:noFill/>
          <a:ln w="0">
            <a:noFill/>
            <a:prstDash val="solid"/>
          </a:ln>
        </p:spPr>
        <p:txBody>
          <a:bodyPr lIns="0" tIns="0" rIns="0" bIns="0" anchor="t">
            <a:noAutofit/>
          </a:bodyPr>
          <a:lstStyle/>
          <a:p>
            <a:pPr algn="l">
              <a:lnSpc>
                <a:spcPct val="100000"/>
              </a:lnSpc>
              <a:buNone/>
              <a:defRPr sz="3600" b="1">
                <a:solidFill>
                  <a:srgbClr val="101820"/>
                </a:solidFill>
                <a:latin typeface="Arial Black"/>
                <a:ea typeface="Arial Black"/>
                <a:cs typeface="Arial Black"/>
              </a:defRPr>
            </a:pPr>
            <a:r>
              <a:rPr sz="3600" b="1">
                <a:solidFill>
                  <a:srgbClr val="101820"/>
                </a:solidFill>
                <a:latin typeface="Arial Black"/>
                <a:ea typeface="Arial Black"/>
                <a:cs typeface="Arial Black"/>
              </a:rPr>
              <a:t>La importancia depende del entorno</a:t>
            </a:r>
          </a:p>
        </p:txBody>
      </p:sp>
      <p:sp>
        <p:nvSpPr>
          <p:cNvPr id="3" name="Conector recto 2">
            <a:extLst>
              <a:ext uri="{FF2B5EF4-FFF2-40B4-BE49-F238E27FC236}">
                <a16:creationId xmlns:a16="http://schemas.microsoft.com/office/drawing/2014/main" id="{B1D7C94B-E26F-44A2-AE58-BAA9074F0435}"/>
              </a:ext>
            </a:extLst>
          </p:cNvPr>
          <p:cNvSpPr>
            <a:spLocks noGrp="1"/>
          </p:cNvSpPr>
          <p:nvPr/>
        </p:nvSpPr>
        <p:spPr>
          <a:xfrm>
            <a:off x="685800" y="1219200"/>
            <a:ext cx="10820400" cy="0"/>
          </a:xfrm>
          <a:prstGeom prst="line">
            <a:avLst/>
          </a:prstGeom>
          <a:noFill/>
          <a:ln w="9525">
            <a:solidFill>
              <a:srgbClr val="CBD4DE"/>
            </a:solidFill>
            <a:prstDash val="solid"/>
          </a:ln>
        </p:spPr>
        <p:txBody>
          <a:bodyPr/>
          <a:lstStyle/>
          <a:p>
            <a:endParaRPr lang="es-MX"/>
          </a:p>
        </p:txBody>
      </p:sp>
      <p:sp>
        <p:nvSpPr>
          <p:cNvPr id="4" name="Conector recto 3">
            <a:extLst>
              <a:ext uri="{FF2B5EF4-FFF2-40B4-BE49-F238E27FC236}">
                <a16:creationId xmlns:a16="http://schemas.microsoft.com/office/drawing/2014/main" id="{8F24C9F1-BC41-4063-A9BF-B757C36E0D6D}"/>
              </a:ext>
            </a:extLst>
          </p:cNvPr>
          <p:cNvSpPr>
            <a:spLocks noGrp="1"/>
          </p:cNvSpPr>
          <p:nvPr/>
        </p:nvSpPr>
        <p:spPr>
          <a:xfrm>
            <a:off x="685800" y="6438900"/>
            <a:ext cx="10820400" cy="0"/>
          </a:xfrm>
          <a:prstGeom prst="line">
            <a:avLst/>
          </a:prstGeom>
          <a:noFill/>
          <a:ln w="9525">
            <a:solidFill>
              <a:srgbClr val="CBD4DE"/>
            </a:solidFill>
            <a:prstDash val="solid"/>
          </a:ln>
        </p:spPr>
        <p:txBody>
          <a:bodyPr/>
          <a:lstStyle/>
          <a:p>
            <a:endParaRPr lang="es-MX"/>
          </a:p>
        </p:txBody>
      </p:sp>
      <p:sp>
        <p:nvSpPr>
          <p:cNvPr id="5" name="Rectángulo 4">
            <a:extLst>
              <a:ext uri="{FF2B5EF4-FFF2-40B4-BE49-F238E27FC236}">
                <a16:creationId xmlns:a16="http://schemas.microsoft.com/office/drawing/2014/main" id="{1CA93F43-E4DE-4C66-A6AE-8DEBDAF33681}"/>
              </a:ext>
            </a:extLst>
          </p:cNvPr>
          <p:cNvSpPr>
            <a:spLocks noGrp="1"/>
          </p:cNvSpPr>
          <p:nvPr/>
        </p:nvSpPr>
        <p:spPr>
          <a:xfrm>
            <a:off x="685800" y="6543675"/>
            <a:ext cx="5334000" cy="161925"/>
          </a:xfrm>
          <a:prstGeom prst="rect">
            <a:avLst/>
          </a:prstGeom>
          <a:noFill/>
          <a:ln w="0">
            <a:noFill/>
            <a:prstDash val="solid"/>
          </a:ln>
        </p:spPr>
        <p:txBody>
          <a:bodyPr lIns="0" tIns="0" rIns="0" bIns="0" anchor="t">
            <a:normAutofit/>
          </a:bodyPr>
          <a:lstStyle/>
          <a:p>
            <a:pPr algn="l">
              <a:lnSpc>
                <a:spcPct val="100000"/>
              </a:lnSpc>
              <a:buNone/>
              <a:defRPr sz="975" b="0">
                <a:solidFill>
                  <a:srgbClr val="667483"/>
                </a:solidFill>
                <a:latin typeface="Bahnschrift"/>
                <a:ea typeface="Bahnschrift"/>
                <a:cs typeface="Bahnschrift"/>
              </a:defRPr>
            </a:pPr>
            <a:r>
              <a:rPr sz="975" b="0">
                <a:solidFill>
                  <a:srgbClr val="667483"/>
                </a:solidFill>
                <a:latin typeface="Bahnschrift"/>
                <a:ea typeface="Bahnschrift"/>
                <a:cs typeface="Bahnschrift"/>
              </a:rPr>
              <a:t>10 · CATEGORÍAS</a:t>
            </a:r>
          </a:p>
        </p:txBody>
      </p:sp>
      <p:sp>
        <p:nvSpPr>
          <p:cNvPr id="6" name="Rectángulo 5">
            <a:extLst>
              <a:ext uri="{FF2B5EF4-FFF2-40B4-BE49-F238E27FC236}">
                <a16:creationId xmlns:a16="http://schemas.microsoft.com/office/drawing/2014/main" id="{AE199010-13E0-4B19-9B8B-373F0B32A1EC}"/>
              </a:ext>
            </a:extLst>
          </p:cNvPr>
          <p:cNvSpPr>
            <a:spLocks noGrp="1"/>
          </p:cNvSpPr>
          <p:nvPr/>
        </p:nvSpPr>
        <p:spPr>
          <a:xfrm>
            <a:off x="11029950" y="6515100"/>
            <a:ext cx="476250" cy="190500"/>
          </a:xfrm>
          <a:prstGeom prst="rect">
            <a:avLst/>
          </a:prstGeom>
          <a:noFill/>
          <a:ln w="0">
            <a:noFill/>
            <a:prstDash val="solid"/>
          </a:ln>
        </p:spPr>
        <p:txBody>
          <a:bodyPr lIns="0" tIns="0" rIns="0" bIns="0" anchor="t">
            <a:normAutofit/>
          </a:bodyPr>
          <a:lstStyle/>
          <a:p>
            <a:pPr algn="r">
              <a:lnSpc>
                <a:spcPct val="100000"/>
              </a:lnSpc>
              <a:buNone/>
              <a:defRPr sz="1125" b="1">
                <a:solidFill>
                  <a:srgbClr val="667483"/>
                </a:solidFill>
                <a:latin typeface="Bahnschrift"/>
                <a:ea typeface="Bahnschrift"/>
                <a:cs typeface="Bahnschrift"/>
              </a:defRPr>
            </a:pPr>
            <a:r>
              <a:rPr sz="1125" b="1">
                <a:solidFill>
                  <a:srgbClr val="667483"/>
                </a:solidFill>
                <a:latin typeface="Bahnschrift"/>
                <a:ea typeface="Bahnschrift"/>
                <a:cs typeface="Bahnschrift"/>
              </a:rPr>
              <a:t>16</a:t>
            </a:r>
          </a:p>
        </p:txBody>
      </p:sp>
      <p:sp>
        <p:nvSpPr>
          <p:cNvPr id="7" name="Rectángulo 6">
            <a:extLst>
              <a:ext uri="{FF2B5EF4-FFF2-40B4-BE49-F238E27FC236}">
                <a16:creationId xmlns:a16="http://schemas.microsoft.com/office/drawing/2014/main" id="{717BD073-5EB2-4609-867C-4DE346F4A5D8}"/>
              </a:ext>
            </a:extLst>
          </p:cNvPr>
          <p:cNvSpPr>
            <a:spLocks noGrp="1"/>
          </p:cNvSpPr>
          <p:nvPr/>
        </p:nvSpPr>
        <p:spPr>
          <a:xfrm>
            <a:off x="838200" y="1619250"/>
            <a:ext cx="3143250" cy="304800"/>
          </a:xfrm>
          <a:prstGeom prst="rect">
            <a:avLst/>
          </a:prstGeom>
          <a:noFill/>
          <a:ln w="0">
            <a:noFill/>
            <a:prstDash val="solid"/>
          </a:ln>
        </p:spPr>
        <p:txBody>
          <a:bodyPr lIns="0" tIns="0" rIns="0" bIns="0" anchor="t">
            <a:normAutofit/>
          </a:bodyPr>
          <a:lstStyle/>
          <a:p>
            <a:pPr algn="l">
              <a:lnSpc>
                <a:spcPct val="100000"/>
              </a:lnSpc>
              <a:buNone/>
              <a:defRPr sz="1500" b="1">
                <a:solidFill>
                  <a:srgbClr val="123A61"/>
                </a:solidFill>
                <a:latin typeface="Bahnschrift"/>
                <a:ea typeface="Bahnschrift"/>
                <a:cs typeface="Bahnschrift"/>
              </a:defRPr>
            </a:pPr>
            <a:r>
              <a:rPr sz="1500" b="1">
                <a:solidFill>
                  <a:srgbClr val="123A61"/>
                </a:solidFill>
                <a:latin typeface="Bahnschrift"/>
                <a:ea typeface="Bahnschrift"/>
                <a:cs typeface="Bahnschrift"/>
              </a:rPr>
              <a:t>POR LOTES</a:t>
            </a:r>
          </a:p>
        </p:txBody>
      </p:sp>
      <p:sp>
        <p:nvSpPr>
          <p:cNvPr id="8" name="Conector recto 7">
            <a:extLst>
              <a:ext uri="{FF2B5EF4-FFF2-40B4-BE49-F238E27FC236}">
                <a16:creationId xmlns:a16="http://schemas.microsoft.com/office/drawing/2014/main" id="{79A1B3D0-3CD9-46DD-B882-AA83A0973862}"/>
              </a:ext>
            </a:extLst>
          </p:cNvPr>
          <p:cNvSpPr>
            <a:spLocks noGrp="1"/>
          </p:cNvSpPr>
          <p:nvPr/>
        </p:nvSpPr>
        <p:spPr>
          <a:xfrm>
            <a:off x="3924300" y="1752600"/>
            <a:ext cx="1143000" cy="0"/>
          </a:xfrm>
          <a:prstGeom prst="line">
            <a:avLst/>
          </a:prstGeom>
          <a:noFill/>
          <a:ln w="19050">
            <a:solidFill>
              <a:srgbClr val="CBD4DE"/>
            </a:solidFill>
            <a:prstDash val="solid"/>
          </a:ln>
        </p:spPr>
        <p:txBody>
          <a:bodyPr/>
          <a:lstStyle/>
          <a:p>
            <a:endParaRPr lang="es-MX"/>
          </a:p>
        </p:txBody>
      </p:sp>
      <p:sp>
        <p:nvSpPr>
          <p:cNvPr id="9" name="Rectángulo 8">
            <a:extLst>
              <a:ext uri="{FF2B5EF4-FFF2-40B4-BE49-F238E27FC236}">
                <a16:creationId xmlns:a16="http://schemas.microsoft.com/office/drawing/2014/main" id="{5BB405E5-EC34-49EC-A46E-9232027AC79E}"/>
              </a:ext>
            </a:extLst>
          </p:cNvPr>
          <p:cNvSpPr>
            <a:spLocks noGrp="1"/>
          </p:cNvSpPr>
          <p:nvPr/>
        </p:nvSpPr>
        <p:spPr>
          <a:xfrm>
            <a:off x="5314950" y="1600200"/>
            <a:ext cx="53340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utilización y rendimiento</a:t>
            </a:r>
          </a:p>
        </p:txBody>
      </p:sp>
      <p:sp>
        <p:nvSpPr>
          <p:cNvPr id="10" name="Rectángulo 9">
            <a:extLst>
              <a:ext uri="{FF2B5EF4-FFF2-40B4-BE49-F238E27FC236}">
                <a16:creationId xmlns:a16="http://schemas.microsoft.com/office/drawing/2014/main" id="{D219E788-7B84-48A9-A025-3329333E103B}"/>
              </a:ext>
            </a:extLst>
          </p:cNvPr>
          <p:cNvSpPr>
            <a:spLocks noGrp="1"/>
          </p:cNvSpPr>
          <p:nvPr/>
        </p:nvSpPr>
        <p:spPr>
          <a:xfrm>
            <a:off x="838200" y="2305050"/>
            <a:ext cx="3143250" cy="304800"/>
          </a:xfrm>
          <a:prstGeom prst="rect">
            <a:avLst/>
          </a:prstGeom>
          <a:noFill/>
          <a:ln w="0">
            <a:noFill/>
            <a:prstDash val="solid"/>
          </a:ln>
        </p:spPr>
        <p:txBody>
          <a:bodyPr lIns="0" tIns="0" rIns="0" bIns="0" anchor="t">
            <a:normAutofit/>
          </a:bodyPr>
          <a:lstStyle/>
          <a:p>
            <a:pPr algn="l">
              <a:lnSpc>
                <a:spcPct val="100000"/>
              </a:lnSpc>
              <a:buNone/>
              <a:defRPr sz="1500" b="1">
                <a:solidFill>
                  <a:srgbClr val="2D6FB7"/>
                </a:solidFill>
                <a:latin typeface="Bahnschrift"/>
                <a:ea typeface="Bahnschrift"/>
                <a:cs typeface="Bahnschrift"/>
              </a:defRPr>
            </a:pPr>
            <a:r>
              <a:rPr sz="1500" b="1">
                <a:solidFill>
                  <a:srgbClr val="2D6FB7"/>
                </a:solidFill>
                <a:latin typeface="Bahnschrift"/>
                <a:ea typeface="Bahnschrift"/>
                <a:cs typeface="Bahnschrift"/>
              </a:rPr>
              <a:t>TIEMPO COMPARTIDO</a:t>
            </a:r>
          </a:p>
        </p:txBody>
      </p:sp>
      <p:sp>
        <p:nvSpPr>
          <p:cNvPr id="11" name="Conector recto 10">
            <a:extLst>
              <a:ext uri="{FF2B5EF4-FFF2-40B4-BE49-F238E27FC236}">
                <a16:creationId xmlns:a16="http://schemas.microsoft.com/office/drawing/2014/main" id="{229FFC1A-9F23-4C4C-AD37-7C73F0CD0C47}"/>
              </a:ext>
            </a:extLst>
          </p:cNvPr>
          <p:cNvSpPr>
            <a:spLocks noGrp="1"/>
          </p:cNvSpPr>
          <p:nvPr/>
        </p:nvSpPr>
        <p:spPr>
          <a:xfrm>
            <a:off x="3924300" y="2438400"/>
            <a:ext cx="1143000" cy="0"/>
          </a:xfrm>
          <a:prstGeom prst="line">
            <a:avLst/>
          </a:prstGeom>
          <a:noFill/>
          <a:ln w="19050">
            <a:solidFill>
              <a:srgbClr val="CBD4DE"/>
            </a:solidFill>
            <a:prstDash val="solid"/>
          </a:ln>
        </p:spPr>
        <p:txBody>
          <a:bodyPr/>
          <a:lstStyle/>
          <a:p>
            <a:endParaRPr lang="es-MX"/>
          </a:p>
        </p:txBody>
      </p:sp>
      <p:sp>
        <p:nvSpPr>
          <p:cNvPr id="12" name="Rectángulo 11">
            <a:extLst>
              <a:ext uri="{FF2B5EF4-FFF2-40B4-BE49-F238E27FC236}">
                <a16:creationId xmlns:a16="http://schemas.microsoft.com/office/drawing/2014/main" id="{C94DFC27-FBAE-4619-80CC-DF8E1CC2A48C}"/>
              </a:ext>
            </a:extLst>
          </p:cNvPr>
          <p:cNvSpPr>
            <a:spLocks noGrp="1"/>
          </p:cNvSpPr>
          <p:nvPr/>
        </p:nvSpPr>
        <p:spPr>
          <a:xfrm>
            <a:off x="5314950" y="2286000"/>
            <a:ext cx="53340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respuesta e interacción</a:t>
            </a:r>
          </a:p>
        </p:txBody>
      </p:sp>
      <p:sp>
        <p:nvSpPr>
          <p:cNvPr id="13" name="Rectángulo 12">
            <a:extLst>
              <a:ext uri="{FF2B5EF4-FFF2-40B4-BE49-F238E27FC236}">
                <a16:creationId xmlns:a16="http://schemas.microsoft.com/office/drawing/2014/main" id="{15C2E160-6CD5-4714-9AB6-D7FF64017DC6}"/>
              </a:ext>
            </a:extLst>
          </p:cNvPr>
          <p:cNvSpPr>
            <a:spLocks noGrp="1"/>
          </p:cNvSpPr>
          <p:nvPr/>
        </p:nvSpPr>
        <p:spPr>
          <a:xfrm>
            <a:off x="838200" y="2990850"/>
            <a:ext cx="3143250" cy="304800"/>
          </a:xfrm>
          <a:prstGeom prst="rect">
            <a:avLst/>
          </a:prstGeom>
          <a:noFill/>
          <a:ln w="0">
            <a:noFill/>
            <a:prstDash val="solid"/>
          </a:ln>
        </p:spPr>
        <p:txBody>
          <a:bodyPr lIns="0" tIns="0" rIns="0" bIns="0" anchor="t">
            <a:normAutofit/>
          </a:bodyPr>
          <a:lstStyle/>
          <a:p>
            <a:pPr algn="l">
              <a:lnSpc>
                <a:spcPct val="100000"/>
              </a:lnSpc>
              <a:buNone/>
              <a:defRPr sz="1500" b="1">
                <a:solidFill>
                  <a:srgbClr val="123A61"/>
                </a:solidFill>
                <a:latin typeface="Bahnschrift"/>
                <a:ea typeface="Bahnschrift"/>
                <a:cs typeface="Bahnschrift"/>
              </a:defRPr>
            </a:pPr>
            <a:r>
              <a:rPr sz="1500" b="1">
                <a:solidFill>
                  <a:srgbClr val="123A61"/>
                </a:solidFill>
                <a:latin typeface="Bahnschrift"/>
                <a:ea typeface="Bahnschrift"/>
                <a:cs typeface="Bahnschrift"/>
              </a:rPr>
              <a:t>TIEMPO REAL</a:t>
            </a:r>
          </a:p>
        </p:txBody>
      </p:sp>
      <p:sp>
        <p:nvSpPr>
          <p:cNvPr id="14" name="Conector recto 13">
            <a:extLst>
              <a:ext uri="{FF2B5EF4-FFF2-40B4-BE49-F238E27FC236}">
                <a16:creationId xmlns:a16="http://schemas.microsoft.com/office/drawing/2014/main" id="{8829183D-61C3-4534-A639-E7CFF8B71381}"/>
              </a:ext>
            </a:extLst>
          </p:cNvPr>
          <p:cNvSpPr>
            <a:spLocks noGrp="1"/>
          </p:cNvSpPr>
          <p:nvPr/>
        </p:nvSpPr>
        <p:spPr>
          <a:xfrm>
            <a:off x="3924300" y="3124200"/>
            <a:ext cx="1143000" cy="0"/>
          </a:xfrm>
          <a:prstGeom prst="line">
            <a:avLst/>
          </a:prstGeom>
          <a:noFill/>
          <a:ln w="19050">
            <a:solidFill>
              <a:srgbClr val="CBD4DE"/>
            </a:solidFill>
            <a:prstDash val="solid"/>
          </a:ln>
        </p:spPr>
        <p:txBody>
          <a:bodyPr/>
          <a:lstStyle/>
          <a:p>
            <a:endParaRPr lang="es-MX"/>
          </a:p>
        </p:txBody>
      </p:sp>
      <p:sp>
        <p:nvSpPr>
          <p:cNvPr id="15" name="Rectángulo 14">
            <a:extLst>
              <a:ext uri="{FF2B5EF4-FFF2-40B4-BE49-F238E27FC236}">
                <a16:creationId xmlns:a16="http://schemas.microsoft.com/office/drawing/2014/main" id="{FEA03E4C-21DC-4D1A-903E-D9BA269E00EB}"/>
              </a:ext>
            </a:extLst>
          </p:cNvPr>
          <p:cNvSpPr>
            <a:spLocks noGrp="1"/>
          </p:cNvSpPr>
          <p:nvPr/>
        </p:nvSpPr>
        <p:spPr>
          <a:xfrm>
            <a:off x="5314950" y="2971800"/>
            <a:ext cx="53340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cumplimiento de plazos</a:t>
            </a:r>
          </a:p>
        </p:txBody>
      </p:sp>
      <p:sp>
        <p:nvSpPr>
          <p:cNvPr id="16" name="Rectángulo 15">
            <a:extLst>
              <a:ext uri="{FF2B5EF4-FFF2-40B4-BE49-F238E27FC236}">
                <a16:creationId xmlns:a16="http://schemas.microsoft.com/office/drawing/2014/main" id="{92B6B742-C815-4D6A-85F1-CA9DDE7E2390}"/>
              </a:ext>
            </a:extLst>
          </p:cNvPr>
          <p:cNvSpPr>
            <a:spLocks noGrp="1"/>
          </p:cNvSpPr>
          <p:nvPr/>
        </p:nvSpPr>
        <p:spPr>
          <a:xfrm>
            <a:off x="838200" y="3676650"/>
            <a:ext cx="3143250" cy="304800"/>
          </a:xfrm>
          <a:prstGeom prst="rect">
            <a:avLst/>
          </a:prstGeom>
          <a:noFill/>
          <a:ln w="0">
            <a:noFill/>
            <a:prstDash val="solid"/>
          </a:ln>
        </p:spPr>
        <p:txBody>
          <a:bodyPr lIns="0" tIns="0" rIns="0" bIns="0" anchor="t">
            <a:normAutofit/>
          </a:bodyPr>
          <a:lstStyle/>
          <a:p>
            <a:pPr algn="l">
              <a:lnSpc>
                <a:spcPct val="100000"/>
              </a:lnSpc>
              <a:buNone/>
              <a:defRPr sz="1500" b="1">
                <a:solidFill>
                  <a:srgbClr val="2D6FB7"/>
                </a:solidFill>
                <a:latin typeface="Bahnschrift"/>
                <a:ea typeface="Bahnschrift"/>
                <a:cs typeface="Bahnschrift"/>
              </a:defRPr>
            </a:pPr>
            <a:r>
              <a:rPr sz="1500" b="1">
                <a:solidFill>
                  <a:srgbClr val="2D6FB7"/>
                </a:solidFill>
                <a:latin typeface="Bahnschrift"/>
                <a:ea typeface="Bahnschrift"/>
                <a:cs typeface="Bahnschrift"/>
              </a:rPr>
              <a:t>MÓVIL</a:t>
            </a:r>
          </a:p>
        </p:txBody>
      </p:sp>
      <p:sp>
        <p:nvSpPr>
          <p:cNvPr id="17" name="Conector recto 16">
            <a:extLst>
              <a:ext uri="{FF2B5EF4-FFF2-40B4-BE49-F238E27FC236}">
                <a16:creationId xmlns:a16="http://schemas.microsoft.com/office/drawing/2014/main" id="{E1204145-E04B-4EEC-A5CF-29C5411C04F7}"/>
              </a:ext>
            </a:extLst>
          </p:cNvPr>
          <p:cNvSpPr>
            <a:spLocks noGrp="1"/>
          </p:cNvSpPr>
          <p:nvPr/>
        </p:nvSpPr>
        <p:spPr>
          <a:xfrm>
            <a:off x="3924300" y="3810000"/>
            <a:ext cx="1143000" cy="0"/>
          </a:xfrm>
          <a:prstGeom prst="line">
            <a:avLst/>
          </a:prstGeom>
          <a:noFill/>
          <a:ln w="19050">
            <a:solidFill>
              <a:srgbClr val="CBD4DE"/>
            </a:solidFill>
            <a:prstDash val="solid"/>
          </a:ln>
        </p:spPr>
        <p:txBody>
          <a:bodyPr/>
          <a:lstStyle/>
          <a:p>
            <a:endParaRPr lang="es-MX"/>
          </a:p>
        </p:txBody>
      </p:sp>
      <p:sp>
        <p:nvSpPr>
          <p:cNvPr id="18" name="Rectángulo 17">
            <a:extLst>
              <a:ext uri="{FF2B5EF4-FFF2-40B4-BE49-F238E27FC236}">
                <a16:creationId xmlns:a16="http://schemas.microsoft.com/office/drawing/2014/main" id="{C4A2202E-982D-4331-8C68-B07113EF8D89}"/>
              </a:ext>
            </a:extLst>
          </p:cNvPr>
          <p:cNvSpPr>
            <a:spLocks noGrp="1"/>
          </p:cNvSpPr>
          <p:nvPr/>
        </p:nvSpPr>
        <p:spPr>
          <a:xfrm>
            <a:off x="5314950" y="3657600"/>
            <a:ext cx="53340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portabilidad, energía y memoria</a:t>
            </a:r>
          </a:p>
        </p:txBody>
      </p:sp>
      <p:sp>
        <p:nvSpPr>
          <p:cNvPr id="19" name="Rectángulo 18">
            <a:extLst>
              <a:ext uri="{FF2B5EF4-FFF2-40B4-BE49-F238E27FC236}">
                <a16:creationId xmlns:a16="http://schemas.microsoft.com/office/drawing/2014/main" id="{98EFBFD9-2131-45B1-9D26-A7D53197EA76}"/>
              </a:ext>
            </a:extLst>
          </p:cNvPr>
          <p:cNvSpPr>
            <a:spLocks noGrp="1"/>
          </p:cNvSpPr>
          <p:nvPr/>
        </p:nvSpPr>
        <p:spPr>
          <a:xfrm>
            <a:off x="838200" y="4362450"/>
            <a:ext cx="3143250" cy="304800"/>
          </a:xfrm>
          <a:prstGeom prst="rect">
            <a:avLst/>
          </a:prstGeom>
          <a:noFill/>
          <a:ln w="0">
            <a:noFill/>
            <a:prstDash val="solid"/>
          </a:ln>
        </p:spPr>
        <p:txBody>
          <a:bodyPr lIns="0" tIns="0" rIns="0" bIns="0" anchor="t">
            <a:normAutofit/>
          </a:bodyPr>
          <a:lstStyle/>
          <a:p>
            <a:pPr algn="l">
              <a:lnSpc>
                <a:spcPct val="100000"/>
              </a:lnSpc>
              <a:buNone/>
              <a:defRPr sz="1500" b="1">
                <a:solidFill>
                  <a:srgbClr val="123A61"/>
                </a:solidFill>
                <a:latin typeface="Bahnschrift"/>
                <a:ea typeface="Bahnschrift"/>
                <a:cs typeface="Bahnschrift"/>
              </a:defRPr>
            </a:pPr>
            <a:r>
              <a:rPr sz="1500" b="1">
                <a:solidFill>
                  <a:srgbClr val="123A61"/>
                </a:solidFill>
                <a:latin typeface="Bahnschrift"/>
                <a:ea typeface="Bahnschrift"/>
                <a:cs typeface="Bahnschrift"/>
              </a:rPr>
              <a:t>DISTRIBUIDO / NUBE</a:t>
            </a:r>
          </a:p>
        </p:txBody>
      </p:sp>
      <p:sp>
        <p:nvSpPr>
          <p:cNvPr id="20" name="Conector recto 19">
            <a:extLst>
              <a:ext uri="{FF2B5EF4-FFF2-40B4-BE49-F238E27FC236}">
                <a16:creationId xmlns:a16="http://schemas.microsoft.com/office/drawing/2014/main" id="{E43EBBC4-E39D-4E90-B895-CCA7AE280DF7}"/>
              </a:ext>
            </a:extLst>
          </p:cNvPr>
          <p:cNvSpPr>
            <a:spLocks noGrp="1"/>
          </p:cNvSpPr>
          <p:nvPr/>
        </p:nvSpPr>
        <p:spPr>
          <a:xfrm>
            <a:off x="3924300" y="4495800"/>
            <a:ext cx="1143000" cy="0"/>
          </a:xfrm>
          <a:prstGeom prst="line">
            <a:avLst/>
          </a:prstGeom>
          <a:noFill/>
          <a:ln w="19050">
            <a:solidFill>
              <a:srgbClr val="CBD4DE"/>
            </a:solidFill>
            <a:prstDash val="solid"/>
          </a:ln>
        </p:spPr>
        <p:txBody>
          <a:bodyPr/>
          <a:lstStyle/>
          <a:p>
            <a:endParaRPr lang="es-MX"/>
          </a:p>
        </p:txBody>
      </p:sp>
      <p:sp>
        <p:nvSpPr>
          <p:cNvPr id="21" name="Rectángulo 20">
            <a:extLst>
              <a:ext uri="{FF2B5EF4-FFF2-40B4-BE49-F238E27FC236}">
                <a16:creationId xmlns:a16="http://schemas.microsoft.com/office/drawing/2014/main" id="{5885AC1E-343B-42F1-BE68-10D1167F71DF}"/>
              </a:ext>
            </a:extLst>
          </p:cNvPr>
          <p:cNvSpPr>
            <a:spLocks noGrp="1"/>
          </p:cNvSpPr>
          <p:nvPr/>
        </p:nvSpPr>
        <p:spPr>
          <a:xfrm>
            <a:off x="5314950" y="4343400"/>
            <a:ext cx="5334000" cy="381000"/>
          </a:xfrm>
          <a:prstGeom prst="rect">
            <a:avLst/>
          </a:prstGeom>
          <a:noFill/>
          <a:ln w="0">
            <a:noFill/>
            <a:prstDash val="solid"/>
          </a:ln>
        </p:spPr>
        <p:txBody>
          <a:bodyPr lIns="0" tIns="0" rIns="0" bIns="0" anchor="t">
            <a:normAutofit/>
          </a:bodyPr>
          <a:lstStyle/>
          <a:p>
            <a:pPr algn="l">
              <a:lnSpc>
                <a:spcPct val="100000"/>
              </a:lnSpc>
              <a:buNone/>
              <a:defRPr sz="1725" b="0">
                <a:solidFill>
                  <a:srgbClr val="101820"/>
                </a:solidFill>
                <a:latin typeface="Arial"/>
                <a:ea typeface="Arial"/>
                <a:cs typeface="Arial"/>
              </a:defRPr>
            </a:pPr>
            <a:r>
              <a:rPr sz="1725" b="0">
                <a:solidFill>
                  <a:srgbClr val="101820"/>
                </a:solidFill>
                <a:latin typeface="Arial"/>
                <a:ea typeface="Arial"/>
                <a:cs typeface="Arial"/>
              </a:rPr>
              <a:t>servicios y recursos compartidos</a:t>
            </a:r>
          </a:p>
        </p:txBody>
      </p:sp>
      <p:sp>
        <p:nvSpPr>
          <p:cNvPr id="22" name="Rectángulo 21">
            <a:extLst>
              <a:ext uri="{FF2B5EF4-FFF2-40B4-BE49-F238E27FC236}">
                <a16:creationId xmlns:a16="http://schemas.microsoft.com/office/drawing/2014/main" id="{E71ACCF9-0EDE-41E6-8E82-4CE31551ABF8}"/>
              </a:ext>
            </a:extLst>
          </p:cNvPr>
          <p:cNvSpPr>
            <a:spLocks noGrp="1"/>
          </p:cNvSpPr>
          <p:nvPr/>
        </p:nvSpPr>
        <p:spPr>
          <a:xfrm>
            <a:off x="838200" y="5334000"/>
            <a:ext cx="10210800" cy="762000"/>
          </a:xfrm>
          <a:prstGeom prst="rect">
            <a:avLst/>
          </a:prstGeom>
          <a:solidFill>
            <a:srgbClr val="123A61"/>
          </a:solidFill>
          <a:ln w="9525">
            <a:solidFill>
              <a:srgbClr val="2D6FB7"/>
            </a:solidFill>
            <a:prstDash val="solid"/>
          </a:ln>
        </p:spPr>
        <p:txBody>
          <a:bodyPr/>
          <a:lstStyle/>
          <a:p>
            <a:endParaRPr lang="es-MX"/>
          </a:p>
        </p:txBody>
      </p:sp>
      <p:sp>
        <p:nvSpPr>
          <p:cNvPr id="23" name="Rectángulo 22">
            <a:extLst>
              <a:ext uri="{FF2B5EF4-FFF2-40B4-BE49-F238E27FC236}">
                <a16:creationId xmlns:a16="http://schemas.microsoft.com/office/drawing/2014/main" id="{17351AAD-9C78-42DD-8B01-9CAD47A52CD8}"/>
              </a:ext>
            </a:extLst>
          </p:cNvPr>
          <p:cNvSpPr>
            <a:spLocks noGrp="1"/>
          </p:cNvSpPr>
          <p:nvPr/>
        </p:nvSpPr>
        <p:spPr>
          <a:xfrm>
            <a:off x="1143000" y="5514975"/>
            <a:ext cx="9601200" cy="400050"/>
          </a:xfrm>
          <a:prstGeom prst="rect">
            <a:avLst/>
          </a:prstGeom>
          <a:noFill/>
          <a:ln w="0">
            <a:noFill/>
            <a:prstDash val="solid"/>
          </a:ln>
        </p:spPr>
        <p:txBody>
          <a:bodyPr lIns="0" tIns="0" rIns="0" bIns="0" anchor="ctr">
            <a:normAutofit/>
          </a:bodyPr>
          <a:lstStyle/>
          <a:p>
            <a:pPr algn="ctr">
              <a:lnSpc>
                <a:spcPct val="100000"/>
              </a:lnSpc>
              <a:buNone/>
              <a:defRPr sz="2100" b="1">
                <a:solidFill>
                  <a:srgbClr val="F8FAFC"/>
                </a:solidFill>
                <a:latin typeface="Arial Black"/>
                <a:ea typeface="Arial Black"/>
                <a:cs typeface="Arial Black"/>
              </a:defRPr>
            </a:pPr>
            <a:r>
              <a:rPr sz="2100" b="1">
                <a:solidFill>
                  <a:srgbClr val="F8FAFC"/>
                </a:solidFill>
                <a:latin typeface="Arial Black"/>
                <a:ea typeface="Arial Black"/>
                <a:cs typeface="Arial Black"/>
              </a:rPr>
              <a:t>La categoría cambia; la misión permanece: abstraer, asignar y controlar.</a:t>
            </a:r>
          </a:p>
        </p:txBody>
      </p:sp>
    </p:spTree>
    <p:extLst>
      <p:ext uri="{BB962C8B-B14F-4D97-AF65-F5344CB8AC3E}">
        <p14:creationId xmlns:p14="http://schemas.microsoft.com/office/powerpoint/2010/main" val="15401395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4599</Words>
  <Application>Microsoft Office PowerPoint</Application>
  <DocSecurity>0</DocSecurity>
  <PresentationFormat>Panorámica</PresentationFormat>
  <Paragraphs>484</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Arial Black</vt:lpstr>
      <vt:lpstr>Bahnschrift</vt: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feratogro@gmail.com</cp:lastModifiedBy>
  <cp:revision>1</cp:revision>
  <dcterms:created xsi:type="dcterms:W3CDTF">2026-08-08T19:45:15Z</dcterms:created>
  <dcterms:modified xsi:type="dcterms:W3CDTF">2026-08-08T19:50:48Z</dcterms:modified>
</cp:coreProperties>
</file>